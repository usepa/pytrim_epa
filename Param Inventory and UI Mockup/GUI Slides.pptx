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5" r:id="rId3"/>
    <p:sldId id="263" r:id="rId4"/>
    <p:sldId id="257" r:id="rId5"/>
    <p:sldId id="258" r:id="rId6"/>
    <p:sldId id="264" r:id="rId7"/>
    <p:sldId id="262" r:id="rId8"/>
    <p:sldId id="260"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B5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0" d="100"/>
          <a:sy n="80" d="100"/>
        </p:scale>
        <p:origin x="1170"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09EB73-4524-4237-A9B3-679B93088036}" type="datetimeFigureOut">
              <a:rPr lang="en-US" smtClean="0"/>
              <a:t>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84F935-43B1-4E03-A1C4-1F3F620BF458}" type="slidenum">
              <a:rPr lang="en-US" smtClean="0"/>
              <a:t>‹#›</a:t>
            </a:fld>
            <a:endParaRPr lang="en-US"/>
          </a:p>
        </p:txBody>
      </p:sp>
    </p:spTree>
    <p:extLst>
      <p:ext uri="{BB962C8B-B14F-4D97-AF65-F5344CB8AC3E}">
        <p14:creationId xmlns:p14="http://schemas.microsoft.com/office/powerpoint/2010/main" val="78158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683938E-9FBF-411A-8BF6-5DB60069CE57}" type="datetime1">
              <a:rPr lang="en-US" smtClean="0"/>
              <a:t>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1944614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223860-C523-412E-8BAD-C211B3084C00}" type="datetime1">
              <a:rPr lang="en-US" smtClean="0"/>
              <a:t>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2205586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59EC95B-2056-4365-A405-A03E06DCBBD6}" type="datetime1">
              <a:rPr lang="en-US" smtClean="0"/>
              <a:t>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3562863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962FCFD-5CF8-4D9A-992E-C19AC4D0B074}" type="datetime1">
              <a:rPr lang="en-US" smtClean="0"/>
              <a:t>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553670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6BD2534-38B0-43AF-9AA0-A4916389C5E8}" type="datetime1">
              <a:rPr lang="en-US" smtClean="0"/>
              <a:t>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3860853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8EBCC36-E7C3-4368-B1B4-B813148DE94E}" type="datetime1">
              <a:rPr lang="en-US" smtClean="0"/>
              <a:t>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422037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517CEE-4051-46B8-93AA-B18612892246}" type="datetime1">
              <a:rPr lang="en-US" smtClean="0"/>
              <a:t>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3963100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31B6920-80ED-4919-9A03-B82D2002313C}" type="datetime1">
              <a:rPr lang="en-US" smtClean="0"/>
              <a:t>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1553952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A889AC-550D-47F1-AF38-372249D64C7E}" type="datetime1">
              <a:rPr lang="en-US" smtClean="0"/>
              <a:t>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1817162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1AD6FE-7424-44EF-A04A-5ADCD2CD1DF8}" type="datetime1">
              <a:rPr lang="en-US" smtClean="0"/>
              <a:t>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1976748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7379A8-891A-4E4A-A47D-19FC1701E54C}" type="datetime1">
              <a:rPr lang="en-US" smtClean="0"/>
              <a:t>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4412A-8D98-4B81-A395-D8E0010249E6}" type="slidenum">
              <a:rPr lang="en-US" smtClean="0"/>
              <a:t>‹#›</a:t>
            </a:fld>
            <a:endParaRPr lang="en-US"/>
          </a:p>
        </p:txBody>
      </p:sp>
    </p:spTree>
    <p:extLst>
      <p:ext uri="{BB962C8B-B14F-4D97-AF65-F5344CB8AC3E}">
        <p14:creationId xmlns:p14="http://schemas.microsoft.com/office/powerpoint/2010/main" val="1602315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92FA94-B5E4-4457-81EE-BA6055304822}" type="datetime1">
              <a:rPr lang="en-US" smtClean="0"/>
              <a:t>1/8/2020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84412A-8D98-4B81-A395-D8E0010249E6}" type="slidenum">
              <a:rPr lang="en-US" smtClean="0"/>
              <a:t>‹#›</a:t>
            </a:fld>
            <a:endParaRPr lang="en-US"/>
          </a:p>
        </p:txBody>
      </p:sp>
    </p:spTree>
    <p:extLst>
      <p:ext uri="{BB962C8B-B14F-4D97-AF65-F5344CB8AC3E}">
        <p14:creationId xmlns:p14="http://schemas.microsoft.com/office/powerpoint/2010/main" val="1055741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88816" y="698516"/>
            <a:ext cx="772134" cy="276999"/>
          </a:xfrm>
          <a:prstGeom prst="rect">
            <a:avLst/>
          </a:prstGeom>
          <a:noFill/>
        </p:spPr>
        <p:txBody>
          <a:bodyPr wrap="none" lIns="0" tIns="0" rIns="0" bIns="0" rtlCol="0">
            <a:spAutoFit/>
          </a:bodyPr>
          <a:lstStyle/>
          <a:p>
            <a:r>
              <a:rPr lang="en-US" dirty="0" smtClean="0"/>
              <a:t>Text box</a:t>
            </a:r>
            <a:endParaRPr lang="en-US" dirty="0"/>
          </a:p>
        </p:txBody>
      </p:sp>
      <p:sp>
        <p:nvSpPr>
          <p:cNvPr id="6" name="TextBox 5"/>
          <p:cNvSpPr txBox="1"/>
          <p:nvPr/>
        </p:nvSpPr>
        <p:spPr>
          <a:xfrm>
            <a:off x="2493079" y="1427674"/>
            <a:ext cx="1542795" cy="276999"/>
          </a:xfrm>
          <a:prstGeom prst="rect">
            <a:avLst/>
          </a:prstGeom>
          <a:noFill/>
        </p:spPr>
        <p:txBody>
          <a:bodyPr wrap="none" lIns="0" tIns="0" rIns="0" bIns="0" rtlCol="0">
            <a:spAutoFit/>
          </a:bodyPr>
          <a:lstStyle/>
          <a:p>
            <a:r>
              <a:rPr lang="en-US" dirty="0" smtClean="0"/>
              <a:t>Pull-down menu</a:t>
            </a:r>
            <a:endParaRPr lang="en-US" dirty="0"/>
          </a:p>
        </p:txBody>
      </p:sp>
      <p:sp>
        <p:nvSpPr>
          <p:cNvPr id="7" name="TextBox 6"/>
          <p:cNvSpPr txBox="1"/>
          <p:nvPr/>
        </p:nvSpPr>
        <p:spPr>
          <a:xfrm>
            <a:off x="2487309" y="2225402"/>
            <a:ext cx="1666109" cy="577081"/>
          </a:xfrm>
          <a:prstGeom prst="rect">
            <a:avLst/>
          </a:prstGeom>
          <a:noFill/>
        </p:spPr>
        <p:txBody>
          <a:bodyPr wrap="square" lIns="0" tIns="0" rIns="0" bIns="0" rtlCol="0">
            <a:spAutoFit/>
          </a:bodyPr>
          <a:lstStyle/>
          <a:p>
            <a:pPr>
              <a:lnSpc>
                <a:spcPts val="1500"/>
              </a:lnSpc>
            </a:pPr>
            <a:r>
              <a:rPr lang="en-US" dirty="0" smtClean="0"/>
              <a:t>Choice of date/time with calendar feature</a:t>
            </a:r>
            <a:endParaRPr lang="en-US" dirty="0"/>
          </a:p>
        </p:txBody>
      </p:sp>
      <p:sp>
        <p:nvSpPr>
          <p:cNvPr id="9" name="TextBox 8"/>
          <p:cNvSpPr txBox="1"/>
          <p:nvPr/>
        </p:nvSpPr>
        <p:spPr>
          <a:xfrm>
            <a:off x="2487309" y="5174929"/>
            <a:ext cx="954108" cy="276999"/>
          </a:xfrm>
          <a:prstGeom prst="rect">
            <a:avLst/>
          </a:prstGeom>
          <a:noFill/>
        </p:spPr>
        <p:txBody>
          <a:bodyPr wrap="none" lIns="0" tIns="0" rIns="0" bIns="0" rtlCol="0">
            <a:spAutoFit/>
          </a:bodyPr>
          <a:lstStyle/>
          <a:p>
            <a:pPr algn="r"/>
            <a:r>
              <a:rPr lang="en-US" dirty="0" smtClean="0"/>
              <a:t>Check box</a:t>
            </a:r>
            <a:endParaRPr lang="en-US" dirty="0"/>
          </a:p>
        </p:txBody>
      </p:sp>
      <p:sp>
        <p:nvSpPr>
          <p:cNvPr id="10" name="TextBox 9"/>
          <p:cNvSpPr txBox="1"/>
          <p:nvPr/>
        </p:nvSpPr>
        <p:spPr>
          <a:xfrm>
            <a:off x="2487309" y="5852719"/>
            <a:ext cx="2647268" cy="384721"/>
          </a:xfrm>
          <a:prstGeom prst="rect">
            <a:avLst/>
          </a:prstGeom>
          <a:noFill/>
        </p:spPr>
        <p:txBody>
          <a:bodyPr wrap="square" lIns="0" tIns="0" rIns="0" bIns="0" rtlCol="0">
            <a:spAutoFit/>
          </a:bodyPr>
          <a:lstStyle/>
          <a:p>
            <a:pPr>
              <a:lnSpc>
                <a:spcPts val="1500"/>
              </a:lnSpc>
            </a:pPr>
            <a:r>
              <a:rPr lang="en-US" dirty="0" smtClean="0"/>
              <a:t>Browse-to-file or –folder feature</a:t>
            </a:r>
          </a:p>
        </p:txBody>
      </p:sp>
      <p:sp>
        <p:nvSpPr>
          <p:cNvPr id="14" name="Rectangle 13"/>
          <p:cNvSpPr/>
          <p:nvPr/>
        </p:nvSpPr>
        <p:spPr>
          <a:xfrm>
            <a:off x="228600" y="696730"/>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p:cNvSpPr/>
          <p:nvPr/>
        </p:nvSpPr>
        <p:spPr>
          <a:xfrm>
            <a:off x="228600" y="1434641"/>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17"/>
          <p:cNvSpPr/>
          <p:nvPr/>
        </p:nvSpPr>
        <p:spPr>
          <a:xfrm>
            <a:off x="2039110" y="1434641"/>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Isosceles Triangle 16"/>
          <p:cNvSpPr/>
          <p:nvPr/>
        </p:nvSpPr>
        <p:spPr>
          <a:xfrm flipV="1">
            <a:off x="2077608" y="1542948"/>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p:cNvPicPr>
            <a:picLocks noChangeAspect="1"/>
          </p:cNvPicPr>
          <p:nvPr/>
        </p:nvPicPr>
        <p:blipFill>
          <a:blip r:embed="rId2"/>
          <a:stretch>
            <a:fillRect/>
          </a:stretch>
        </p:blipFill>
        <p:spPr>
          <a:xfrm>
            <a:off x="654958" y="2210938"/>
            <a:ext cx="1667615" cy="1732136"/>
          </a:xfrm>
          <a:prstGeom prst="rect">
            <a:avLst/>
          </a:prstGeom>
          <a:ln>
            <a:solidFill>
              <a:schemeClr val="tx1"/>
            </a:solidFill>
          </a:ln>
        </p:spPr>
      </p:pic>
      <p:cxnSp>
        <p:nvCxnSpPr>
          <p:cNvPr id="21" name="Straight Connector 20"/>
          <p:cNvCxnSpPr>
            <a:stCxn id="4" idx="1"/>
            <a:endCxn id="14" idx="3"/>
          </p:cNvCxnSpPr>
          <p:nvPr/>
        </p:nvCxnSpPr>
        <p:spPr>
          <a:xfrm flipH="1" flipV="1">
            <a:off x="2322574" y="833890"/>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flipH="1" flipV="1">
            <a:off x="2321067" y="1552833"/>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flipH="1" flipV="1">
            <a:off x="2321067" y="2369669"/>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31" name="Rectangle 30"/>
          <p:cNvSpPr/>
          <p:nvPr/>
        </p:nvSpPr>
        <p:spPr>
          <a:xfrm>
            <a:off x="2036970" y="5198961"/>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33" name="Rectangle 32"/>
          <p:cNvSpPr/>
          <p:nvPr/>
        </p:nvSpPr>
        <p:spPr>
          <a:xfrm>
            <a:off x="238633" y="5881767"/>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TextBox 33"/>
          <p:cNvSpPr txBox="1"/>
          <p:nvPr/>
        </p:nvSpPr>
        <p:spPr>
          <a:xfrm>
            <a:off x="2162592" y="5879088"/>
            <a:ext cx="170015"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cxnSp>
        <p:nvCxnSpPr>
          <p:cNvPr id="39" name="Straight Connector 38"/>
          <p:cNvCxnSpPr/>
          <p:nvPr/>
        </p:nvCxnSpPr>
        <p:spPr>
          <a:xfrm flipH="1" flipV="1">
            <a:off x="2332607" y="5313429"/>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p:cNvCxnSpPr/>
          <p:nvPr/>
        </p:nvCxnSpPr>
        <p:spPr>
          <a:xfrm flipH="1" flipV="1">
            <a:off x="2342764" y="601446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51" name="Rectangle 50"/>
          <p:cNvSpPr/>
          <p:nvPr/>
        </p:nvSpPr>
        <p:spPr>
          <a:xfrm>
            <a:off x="9963683" y="843116"/>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62" name="TextBox 61"/>
          <p:cNvSpPr txBox="1"/>
          <p:nvPr/>
        </p:nvSpPr>
        <p:spPr>
          <a:xfrm>
            <a:off x="2487309" y="4421897"/>
            <a:ext cx="2647268" cy="397545"/>
          </a:xfrm>
          <a:prstGeom prst="rect">
            <a:avLst/>
          </a:prstGeom>
          <a:noFill/>
        </p:spPr>
        <p:txBody>
          <a:bodyPr wrap="square" lIns="0" tIns="0" rIns="0" bIns="0" rtlCol="0">
            <a:spAutoFit/>
          </a:bodyPr>
          <a:lstStyle/>
          <a:p>
            <a:pPr>
              <a:lnSpc>
                <a:spcPts val="1500"/>
              </a:lnSpc>
            </a:pPr>
            <a:r>
              <a:rPr lang="en-US" dirty="0" smtClean="0"/>
              <a:t>Something auto-calculated based on user inputs</a:t>
            </a:r>
            <a:endParaRPr lang="en-US" dirty="0"/>
          </a:p>
        </p:txBody>
      </p:sp>
      <p:cxnSp>
        <p:nvCxnSpPr>
          <p:cNvPr id="63" name="Straight Connector 62"/>
          <p:cNvCxnSpPr/>
          <p:nvPr/>
        </p:nvCxnSpPr>
        <p:spPr>
          <a:xfrm flipH="1" flipV="1">
            <a:off x="2332607" y="4522246"/>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64" name="Rectangle 63"/>
          <p:cNvSpPr/>
          <p:nvPr/>
        </p:nvSpPr>
        <p:spPr>
          <a:xfrm>
            <a:off x="839096" y="4448648"/>
            <a:ext cx="1493511" cy="2743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 name="Down Arrow 65"/>
          <p:cNvSpPr/>
          <p:nvPr/>
        </p:nvSpPr>
        <p:spPr>
          <a:xfrm>
            <a:off x="9909717" y="1501647"/>
            <a:ext cx="274320" cy="330467"/>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Rectangle 1"/>
          <p:cNvSpPr/>
          <p:nvPr/>
        </p:nvSpPr>
        <p:spPr>
          <a:xfrm>
            <a:off x="5134577" y="-96523"/>
            <a:ext cx="1220207" cy="923330"/>
          </a:xfrm>
          <a:prstGeom prst="rect">
            <a:avLst/>
          </a:prstGeom>
          <a:noFill/>
        </p:spPr>
        <p:txBody>
          <a:bodyPr wrap="none" lIns="91440" tIns="45720" rIns="91440" bIns="45720">
            <a:spAutoFit/>
          </a:bodyPr>
          <a:lstStyle/>
          <a:p>
            <a:pPr algn="ctr"/>
            <a:r>
              <a:rPr lang="en-US" sz="5400" b="0" cap="none" spc="0" dirty="0" smtClean="0">
                <a:ln w="0"/>
                <a:solidFill>
                  <a:schemeClr val="tx1"/>
                </a:solidFill>
                <a:effectLst>
                  <a:outerShdw blurRad="38100" dist="19050" dir="2700000" algn="tl" rotWithShape="0">
                    <a:schemeClr val="dk1">
                      <a:alpha val="40000"/>
                    </a:schemeClr>
                  </a:outerShdw>
                </a:effectLst>
              </a:rPr>
              <a:t>KEY</a:t>
            </a:r>
            <a:endParaRPr lang="en-US" sz="5400" b="0" cap="none" spc="0" dirty="0">
              <a:ln w="0"/>
              <a:solidFill>
                <a:schemeClr val="tx1"/>
              </a:solidFill>
              <a:effectLst>
                <a:outerShdw blurRad="38100" dist="19050" dir="2700000" algn="tl" rotWithShape="0">
                  <a:schemeClr val="dk1">
                    <a:alpha val="40000"/>
                  </a:schemeClr>
                </a:outerShdw>
              </a:effectLst>
            </a:endParaRPr>
          </a:p>
        </p:txBody>
      </p:sp>
      <p:cxnSp>
        <p:nvCxnSpPr>
          <p:cNvPr id="67" name="Straight Connector 66"/>
          <p:cNvCxnSpPr/>
          <p:nvPr/>
        </p:nvCxnSpPr>
        <p:spPr>
          <a:xfrm flipH="1" flipV="1">
            <a:off x="9797441" y="90940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68" name="TextBox 67"/>
          <p:cNvSpPr txBox="1"/>
          <p:nvPr/>
        </p:nvSpPr>
        <p:spPr>
          <a:xfrm>
            <a:off x="8674441" y="770900"/>
            <a:ext cx="1123000" cy="276999"/>
          </a:xfrm>
          <a:prstGeom prst="rect">
            <a:avLst/>
          </a:prstGeom>
          <a:noFill/>
        </p:spPr>
        <p:txBody>
          <a:bodyPr wrap="none" lIns="0" tIns="0" rIns="0" bIns="0" rtlCol="0">
            <a:spAutoFit/>
          </a:bodyPr>
          <a:lstStyle/>
          <a:p>
            <a:pPr algn="r"/>
            <a:r>
              <a:rPr lang="en-US" dirty="0" smtClean="0"/>
              <a:t>Help button</a:t>
            </a:r>
            <a:endParaRPr lang="en-US" dirty="0"/>
          </a:p>
        </p:txBody>
      </p:sp>
      <p:cxnSp>
        <p:nvCxnSpPr>
          <p:cNvPr id="69" name="Straight Connector 68"/>
          <p:cNvCxnSpPr/>
          <p:nvPr/>
        </p:nvCxnSpPr>
        <p:spPr>
          <a:xfrm flipH="1" flipV="1">
            <a:off x="9797441" y="163702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70" name="TextBox 69"/>
          <p:cNvSpPr txBox="1"/>
          <p:nvPr/>
        </p:nvSpPr>
        <p:spPr>
          <a:xfrm>
            <a:off x="7143077" y="1498520"/>
            <a:ext cx="2654363" cy="577081"/>
          </a:xfrm>
          <a:prstGeom prst="rect">
            <a:avLst/>
          </a:prstGeom>
          <a:noFill/>
        </p:spPr>
        <p:txBody>
          <a:bodyPr wrap="square" lIns="0" tIns="0" rIns="0" bIns="0" rtlCol="0">
            <a:spAutoFit/>
          </a:bodyPr>
          <a:lstStyle/>
          <a:p>
            <a:pPr algn="r">
              <a:lnSpc>
                <a:spcPts val="1500"/>
              </a:lnSpc>
            </a:pPr>
            <a:r>
              <a:rPr lang="en-US" dirty="0" smtClean="0"/>
              <a:t>Parameter above the arrow affects the availability of the parameter below the arrow</a:t>
            </a:r>
            <a:endParaRPr lang="en-US" dirty="0"/>
          </a:p>
        </p:txBody>
      </p:sp>
      <p:cxnSp>
        <p:nvCxnSpPr>
          <p:cNvPr id="32" name="Straight Connector 31"/>
          <p:cNvCxnSpPr/>
          <p:nvPr/>
        </p:nvCxnSpPr>
        <p:spPr>
          <a:xfrm flipH="1" flipV="1">
            <a:off x="9797441" y="2664722"/>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35" name="TextBox 34"/>
          <p:cNvSpPr txBox="1"/>
          <p:nvPr/>
        </p:nvSpPr>
        <p:spPr>
          <a:xfrm>
            <a:off x="7139217" y="2318303"/>
            <a:ext cx="2654363" cy="782265"/>
          </a:xfrm>
          <a:prstGeom prst="rect">
            <a:avLst/>
          </a:prstGeom>
          <a:noFill/>
        </p:spPr>
        <p:txBody>
          <a:bodyPr wrap="square" lIns="0" tIns="0" rIns="0" bIns="0" rtlCol="0">
            <a:spAutoFit/>
          </a:bodyPr>
          <a:lstStyle/>
          <a:p>
            <a:pPr algn="r">
              <a:lnSpc>
                <a:spcPts val="1500"/>
              </a:lnSpc>
            </a:pPr>
            <a:r>
              <a:rPr lang="en-US" dirty="0" smtClean="0"/>
              <a:t>Button to move to the next screen (also auto-saves the scenario, or given the option)</a:t>
            </a:r>
            <a:endParaRPr lang="en-US" dirty="0"/>
          </a:p>
        </p:txBody>
      </p:sp>
      <p:sp>
        <p:nvSpPr>
          <p:cNvPr id="5" name="Action Button: Back or Previous 4">
            <a:hlinkClick r:id="" action="ppaction://hlinkshowjump?jump=previousslide" highlightClick="1"/>
          </p:cNvPr>
          <p:cNvSpPr/>
          <p:nvPr/>
        </p:nvSpPr>
        <p:spPr>
          <a:xfrm>
            <a:off x="9989634" y="3299901"/>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Action Button: Forward or Next 35">
            <a:hlinkClick r:id="" action="ppaction://hlinkshowjump?jump=nextslide" highlightClick="1"/>
          </p:cNvPr>
          <p:cNvSpPr/>
          <p:nvPr/>
        </p:nvSpPr>
        <p:spPr>
          <a:xfrm>
            <a:off x="9959823" y="2476941"/>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7" name="Straight Connector 36"/>
          <p:cNvCxnSpPr/>
          <p:nvPr/>
        </p:nvCxnSpPr>
        <p:spPr>
          <a:xfrm flipH="1" flipV="1">
            <a:off x="9793581" y="347790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38" name="TextBox 37"/>
          <p:cNvSpPr txBox="1"/>
          <p:nvPr/>
        </p:nvSpPr>
        <p:spPr>
          <a:xfrm>
            <a:off x="7139218" y="3301683"/>
            <a:ext cx="2654363" cy="397545"/>
          </a:xfrm>
          <a:prstGeom prst="rect">
            <a:avLst/>
          </a:prstGeom>
          <a:noFill/>
        </p:spPr>
        <p:txBody>
          <a:bodyPr wrap="square" lIns="0" tIns="0" rIns="0" bIns="0" rtlCol="0">
            <a:spAutoFit/>
          </a:bodyPr>
          <a:lstStyle/>
          <a:p>
            <a:pPr algn="r">
              <a:lnSpc>
                <a:spcPts val="1500"/>
              </a:lnSpc>
            </a:pPr>
            <a:r>
              <a:rPr lang="en-US" dirty="0" smtClean="0"/>
              <a:t>Button to move to the previous screen</a:t>
            </a:r>
            <a:endParaRPr lang="en-US" dirty="0"/>
          </a:p>
        </p:txBody>
      </p:sp>
      <p:pic>
        <p:nvPicPr>
          <p:cNvPr id="1026" name="Picture 2" descr="Image result for exit graphic GU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9634" y="4057554"/>
            <a:ext cx="404715" cy="404715"/>
          </a:xfrm>
          <a:prstGeom prst="rect">
            <a:avLst/>
          </a:prstGeom>
          <a:noFill/>
          <a:extLst>
            <a:ext uri="{909E8E84-426E-40DD-AFC4-6F175D3DCCD1}">
              <a14:hiddenFill xmlns:a14="http://schemas.microsoft.com/office/drawing/2010/main">
                <a:solidFill>
                  <a:srgbClr val="FFFFFF"/>
                </a:solidFill>
              </a14:hiddenFill>
            </a:ext>
          </a:extLst>
        </p:spPr>
      </p:pic>
      <p:cxnSp>
        <p:nvCxnSpPr>
          <p:cNvPr id="41" name="Straight Connector 40"/>
          <p:cNvCxnSpPr/>
          <p:nvPr/>
        </p:nvCxnSpPr>
        <p:spPr>
          <a:xfrm flipH="1" flipV="1">
            <a:off x="9793581" y="4322942"/>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42" name="TextBox 41"/>
          <p:cNvSpPr txBox="1"/>
          <p:nvPr/>
        </p:nvSpPr>
        <p:spPr>
          <a:xfrm>
            <a:off x="7139217" y="3981857"/>
            <a:ext cx="2654363" cy="769441"/>
          </a:xfrm>
          <a:prstGeom prst="rect">
            <a:avLst/>
          </a:prstGeom>
          <a:noFill/>
        </p:spPr>
        <p:txBody>
          <a:bodyPr wrap="square" lIns="0" tIns="0" rIns="0" bIns="0" rtlCol="0">
            <a:spAutoFit/>
          </a:bodyPr>
          <a:lstStyle/>
          <a:p>
            <a:pPr algn="r">
              <a:lnSpc>
                <a:spcPts val="1500"/>
              </a:lnSpc>
            </a:pPr>
            <a:r>
              <a:rPr lang="en-US" dirty="0" smtClean="0"/>
              <a:t>Button to close the Builder (also auto-saves </a:t>
            </a:r>
            <a:r>
              <a:rPr lang="en-US" dirty="0"/>
              <a:t>the </a:t>
            </a:r>
            <a:r>
              <a:rPr lang="en-US" dirty="0" smtClean="0"/>
              <a:t>scenario, </a:t>
            </a:r>
            <a:r>
              <a:rPr lang="en-US" dirty="0"/>
              <a:t>or given the option)</a:t>
            </a:r>
          </a:p>
        </p:txBody>
      </p:sp>
      <p:pic>
        <p:nvPicPr>
          <p:cNvPr id="1028" name="Picture 4" descr="Image result for save button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59823" y="4883327"/>
            <a:ext cx="434526" cy="434526"/>
          </a:xfrm>
          <a:prstGeom prst="rect">
            <a:avLst/>
          </a:prstGeom>
          <a:noFill/>
          <a:extLst>
            <a:ext uri="{909E8E84-426E-40DD-AFC4-6F175D3DCCD1}">
              <a14:hiddenFill xmlns:a14="http://schemas.microsoft.com/office/drawing/2010/main">
                <a:solidFill>
                  <a:srgbClr val="FFFFFF"/>
                </a:solidFill>
              </a14:hiddenFill>
            </a:ext>
          </a:extLst>
        </p:spPr>
      </p:pic>
      <p:cxnSp>
        <p:nvCxnSpPr>
          <p:cNvPr id="43" name="Straight Connector 42"/>
          <p:cNvCxnSpPr/>
          <p:nvPr/>
        </p:nvCxnSpPr>
        <p:spPr>
          <a:xfrm flipH="1" flipV="1">
            <a:off x="9793580" y="5075252"/>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44" name="TextBox 43"/>
          <p:cNvSpPr txBox="1"/>
          <p:nvPr/>
        </p:nvSpPr>
        <p:spPr>
          <a:xfrm>
            <a:off x="7139217" y="4995258"/>
            <a:ext cx="2654363" cy="205184"/>
          </a:xfrm>
          <a:prstGeom prst="rect">
            <a:avLst/>
          </a:prstGeom>
          <a:noFill/>
        </p:spPr>
        <p:txBody>
          <a:bodyPr wrap="square" lIns="0" tIns="0" rIns="0" bIns="0" rtlCol="0">
            <a:spAutoFit/>
          </a:bodyPr>
          <a:lstStyle/>
          <a:p>
            <a:pPr algn="r">
              <a:lnSpc>
                <a:spcPts val="1500"/>
              </a:lnSpc>
            </a:pPr>
            <a:r>
              <a:rPr lang="en-US" dirty="0" smtClean="0"/>
              <a:t>Button to save the scenario</a:t>
            </a:r>
            <a:endParaRPr lang="en-US" dirty="0"/>
          </a:p>
        </p:txBody>
      </p:sp>
    </p:spTree>
    <p:extLst>
      <p:ext uri="{BB962C8B-B14F-4D97-AF65-F5344CB8AC3E}">
        <p14:creationId xmlns:p14="http://schemas.microsoft.com/office/powerpoint/2010/main" val="282834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15234" y="-96523"/>
            <a:ext cx="2058897" cy="923330"/>
          </a:xfrm>
          <a:prstGeom prst="rect">
            <a:avLst/>
          </a:prstGeom>
          <a:noFill/>
        </p:spPr>
        <p:txBody>
          <a:bodyPr wrap="none" lIns="91440" tIns="45720" rIns="91440" bIns="45720">
            <a:spAutoFit/>
          </a:bodyPr>
          <a:lstStyle/>
          <a:p>
            <a:pPr algn="ctr"/>
            <a:r>
              <a:rPr lang="en-US" sz="5400" dirty="0" smtClean="0">
                <a:ln w="0"/>
                <a:effectLst>
                  <a:outerShdw blurRad="38100" dist="19050" dir="2700000" algn="tl" rotWithShape="0">
                    <a:schemeClr val="dk1">
                      <a:alpha val="40000"/>
                    </a:schemeClr>
                  </a:outerShdw>
                </a:effectLst>
              </a:rPr>
              <a:t>NOTES</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30" name="TextBox 29"/>
          <p:cNvSpPr txBox="1"/>
          <p:nvPr/>
        </p:nvSpPr>
        <p:spPr>
          <a:xfrm>
            <a:off x="98041" y="688307"/>
            <a:ext cx="11779634" cy="1384995"/>
          </a:xfrm>
          <a:prstGeom prst="rect">
            <a:avLst/>
          </a:prstGeom>
          <a:noFill/>
        </p:spPr>
        <p:txBody>
          <a:bodyPr wrap="square" lIns="0" tIns="0" rIns="0" bIns="0" rtlCol="0">
            <a:spAutoFit/>
          </a:bodyPr>
          <a:lstStyle/>
          <a:p>
            <a:r>
              <a:rPr lang="en-US" dirty="0" smtClean="0"/>
              <a:t>Time-varying input files are comma-delimited. They may begin with text descriptions and then be followed by the data fields, but if there are 5 data fields for example (delimited by 4 commas), those text descriptions must not contain 4 commas or the model will think it’s seeing data. The field(s) for parameter values in all time-varying input files must be preceded by three columns in this order with these field names: </a:t>
            </a:r>
            <a:r>
              <a:rPr lang="en-US" u="sng" dirty="0" smtClean="0"/>
              <a:t>Date</a:t>
            </a:r>
            <a:r>
              <a:rPr lang="en-US" dirty="0" smtClean="0"/>
              <a:t> (in mm/</a:t>
            </a:r>
            <a:r>
              <a:rPr lang="en-US" dirty="0" err="1" smtClean="0"/>
              <a:t>dd</a:t>
            </a:r>
            <a:r>
              <a:rPr lang="en-US" dirty="0" smtClean="0"/>
              <a:t>/</a:t>
            </a:r>
            <a:r>
              <a:rPr lang="en-US" dirty="0" err="1" smtClean="0"/>
              <a:t>yyyy</a:t>
            </a:r>
            <a:r>
              <a:rPr lang="en-US" dirty="0" smtClean="0"/>
              <a:t> format), </a:t>
            </a:r>
            <a:r>
              <a:rPr lang="en-US" u="sng" dirty="0" smtClean="0"/>
              <a:t>Hour</a:t>
            </a:r>
            <a:r>
              <a:rPr lang="en-US" dirty="0" smtClean="0"/>
              <a:t> (in </a:t>
            </a:r>
            <a:r>
              <a:rPr lang="en-US" dirty="0" err="1" smtClean="0"/>
              <a:t>hh:mm:ss</a:t>
            </a:r>
            <a:r>
              <a:rPr lang="en-US" dirty="0" smtClean="0"/>
              <a:t> format), and </a:t>
            </a:r>
            <a:r>
              <a:rPr lang="en-US" u="sng" dirty="0" smtClean="0"/>
              <a:t>Time Zone</a:t>
            </a:r>
            <a:r>
              <a:rPr lang="en-US" dirty="0" smtClean="0"/>
              <a:t>. </a:t>
            </a:r>
            <a:r>
              <a:rPr lang="en-US" dirty="0" smtClean="0">
                <a:solidFill>
                  <a:schemeClr val="accent2"/>
                </a:solidFill>
              </a:rPr>
              <a:t>It’s not clear to me how TRIM.FaTE has been able to use column names like ##Date and </a:t>
            </a:r>
            <a:r>
              <a:rPr lang="en-US" dirty="0" err="1" smtClean="0">
                <a:solidFill>
                  <a:schemeClr val="accent2"/>
                </a:solidFill>
              </a:rPr>
              <a:t>xHour</a:t>
            </a:r>
            <a:r>
              <a:rPr lang="en-US" dirty="0" smtClean="0">
                <a:solidFill>
                  <a:schemeClr val="accent2"/>
                </a:solidFill>
              </a:rPr>
              <a:t> in previous simulations?</a:t>
            </a:r>
            <a:endParaRPr lang="en-US" dirty="0">
              <a:solidFill>
                <a:schemeClr val="accent2"/>
              </a:solidFill>
            </a:endParaRPr>
          </a:p>
        </p:txBody>
      </p:sp>
    </p:spTree>
    <p:extLst>
      <p:ext uri="{BB962C8B-B14F-4D97-AF65-F5344CB8AC3E}">
        <p14:creationId xmlns:p14="http://schemas.microsoft.com/office/powerpoint/2010/main" val="872804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88816" y="698516"/>
            <a:ext cx="1934825" cy="276999"/>
          </a:xfrm>
          <a:prstGeom prst="rect">
            <a:avLst/>
          </a:prstGeom>
          <a:noFill/>
        </p:spPr>
        <p:txBody>
          <a:bodyPr wrap="none" lIns="0" tIns="0" rIns="0" bIns="0" rtlCol="0">
            <a:spAutoFit/>
          </a:bodyPr>
          <a:lstStyle/>
          <a:p>
            <a:r>
              <a:rPr lang="en-US" dirty="0" smtClean="0"/>
              <a:t>Short scenario name</a:t>
            </a:r>
            <a:endParaRPr lang="en-US" dirty="0"/>
          </a:p>
        </p:txBody>
      </p:sp>
      <p:sp>
        <p:nvSpPr>
          <p:cNvPr id="5" name="TextBox 4"/>
          <p:cNvSpPr txBox="1"/>
          <p:nvPr/>
        </p:nvSpPr>
        <p:spPr>
          <a:xfrm>
            <a:off x="2487309" y="1064275"/>
            <a:ext cx="1911357" cy="276999"/>
          </a:xfrm>
          <a:prstGeom prst="rect">
            <a:avLst/>
          </a:prstGeom>
          <a:noFill/>
        </p:spPr>
        <p:txBody>
          <a:bodyPr wrap="none" lIns="0" tIns="0" rIns="0" bIns="0" rtlCol="0">
            <a:spAutoFit/>
          </a:bodyPr>
          <a:lstStyle/>
          <a:p>
            <a:r>
              <a:rPr lang="en-US" dirty="0" smtClean="0"/>
              <a:t>Scenario description</a:t>
            </a:r>
            <a:endParaRPr lang="en-US" dirty="0"/>
          </a:p>
        </p:txBody>
      </p:sp>
      <p:sp>
        <p:nvSpPr>
          <p:cNvPr id="6" name="TextBox 5"/>
          <p:cNvSpPr txBox="1"/>
          <p:nvPr/>
        </p:nvSpPr>
        <p:spPr>
          <a:xfrm>
            <a:off x="2493079" y="2223741"/>
            <a:ext cx="963149" cy="276999"/>
          </a:xfrm>
          <a:prstGeom prst="rect">
            <a:avLst/>
          </a:prstGeom>
          <a:noFill/>
        </p:spPr>
        <p:txBody>
          <a:bodyPr wrap="none" lIns="0" tIns="0" rIns="0" bIns="0" rtlCol="0">
            <a:spAutoFit/>
          </a:bodyPr>
          <a:lstStyle/>
          <a:p>
            <a:r>
              <a:rPr lang="en-US" dirty="0" smtClean="0"/>
              <a:t>Time zone</a:t>
            </a:r>
            <a:endParaRPr lang="en-US" dirty="0"/>
          </a:p>
        </p:txBody>
      </p:sp>
      <p:sp>
        <p:nvSpPr>
          <p:cNvPr id="7" name="TextBox 6"/>
          <p:cNvSpPr txBox="1"/>
          <p:nvPr/>
        </p:nvSpPr>
        <p:spPr>
          <a:xfrm>
            <a:off x="2487309" y="2623434"/>
            <a:ext cx="2066143" cy="276999"/>
          </a:xfrm>
          <a:prstGeom prst="rect">
            <a:avLst/>
          </a:prstGeom>
          <a:noFill/>
        </p:spPr>
        <p:txBody>
          <a:bodyPr wrap="none" lIns="0" tIns="0" rIns="0" bIns="0" rtlCol="0">
            <a:spAutoFit/>
          </a:bodyPr>
          <a:lstStyle/>
          <a:p>
            <a:r>
              <a:rPr lang="en-US" dirty="0" smtClean="0"/>
              <a:t>First day of simulation</a:t>
            </a:r>
            <a:endParaRPr lang="en-US" dirty="0"/>
          </a:p>
        </p:txBody>
      </p:sp>
      <p:sp>
        <p:nvSpPr>
          <p:cNvPr id="8" name="TextBox 7"/>
          <p:cNvSpPr txBox="1"/>
          <p:nvPr/>
        </p:nvSpPr>
        <p:spPr>
          <a:xfrm>
            <a:off x="2487309" y="4532782"/>
            <a:ext cx="2039661" cy="276999"/>
          </a:xfrm>
          <a:prstGeom prst="rect">
            <a:avLst/>
          </a:prstGeom>
          <a:noFill/>
        </p:spPr>
        <p:txBody>
          <a:bodyPr wrap="none" lIns="0" tIns="0" rIns="0" bIns="0" rtlCol="0">
            <a:spAutoFit/>
          </a:bodyPr>
          <a:lstStyle/>
          <a:p>
            <a:r>
              <a:rPr lang="en-US" dirty="0" smtClean="0"/>
              <a:t>Last day of simulation</a:t>
            </a:r>
            <a:endParaRPr lang="en-US" dirty="0"/>
          </a:p>
        </p:txBody>
      </p:sp>
      <p:sp>
        <p:nvSpPr>
          <p:cNvPr id="9" name="TextBox 8"/>
          <p:cNvSpPr txBox="1"/>
          <p:nvPr/>
        </p:nvSpPr>
        <p:spPr>
          <a:xfrm>
            <a:off x="7259701" y="694051"/>
            <a:ext cx="2253181" cy="276999"/>
          </a:xfrm>
          <a:prstGeom prst="rect">
            <a:avLst/>
          </a:prstGeom>
          <a:noFill/>
        </p:spPr>
        <p:txBody>
          <a:bodyPr wrap="none" lIns="0" tIns="0" rIns="0" bIns="0" rtlCol="0">
            <a:spAutoFit/>
          </a:bodyPr>
          <a:lstStyle/>
          <a:p>
            <a:pPr algn="r"/>
            <a:r>
              <a:rPr lang="en-US" dirty="0" smtClean="0"/>
              <a:t>Use steady-state mode?</a:t>
            </a:r>
            <a:endParaRPr lang="en-US" dirty="0"/>
          </a:p>
        </p:txBody>
      </p:sp>
      <p:sp>
        <p:nvSpPr>
          <p:cNvPr id="10" name="TextBox 9"/>
          <p:cNvSpPr txBox="1"/>
          <p:nvPr/>
        </p:nvSpPr>
        <p:spPr>
          <a:xfrm>
            <a:off x="8072295" y="1208132"/>
            <a:ext cx="1440587" cy="276999"/>
          </a:xfrm>
          <a:prstGeom prst="rect">
            <a:avLst/>
          </a:prstGeom>
          <a:noFill/>
        </p:spPr>
        <p:txBody>
          <a:bodyPr wrap="none" lIns="0" tIns="0" rIns="0" bIns="0" rtlCol="0">
            <a:spAutoFit/>
          </a:bodyPr>
          <a:lstStyle/>
          <a:p>
            <a:pPr algn="r"/>
            <a:r>
              <a:rPr lang="en-US" dirty="0" smtClean="0"/>
              <a:t>Setup directory</a:t>
            </a:r>
          </a:p>
        </p:txBody>
      </p:sp>
      <p:sp>
        <p:nvSpPr>
          <p:cNvPr id="11" name="TextBox 10"/>
          <p:cNvSpPr txBox="1"/>
          <p:nvPr/>
        </p:nvSpPr>
        <p:spPr>
          <a:xfrm>
            <a:off x="7941233" y="1721323"/>
            <a:ext cx="1571649" cy="276999"/>
          </a:xfrm>
          <a:prstGeom prst="rect">
            <a:avLst/>
          </a:prstGeom>
          <a:noFill/>
        </p:spPr>
        <p:txBody>
          <a:bodyPr wrap="none" lIns="0" tIns="0" rIns="0" bIns="0" rtlCol="0">
            <a:spAutoFit/>
          </a:bodyPr>
          <a:lstStyle/>
          <a:p>
            <a:pPr algn="r"/>
            <a:r>
              <a:rPr lang="en-US" dirty="0" smtClean="0"/>
              <a:t>Output directory</a:t>
            </a:r>
          </a:p>
        </p:txBody>
      </p:sp>
      <p:sp>
        <p:nvSpPr>
          <p:cNvPr id="12" name="TextBox 11"/>
          <p:cNvSpPr txBox="1"/>
          <p:nvPr/>
        </p:nvSpPr>
        <p:spPr>
          <a:xfrm>
            <a:off x="6385631" y="2183650"/>
            <a:ext cx="3127251" cy="397545"/>
          </a:xfrm>
          <a:prstGeom prst="rect">
            <a:avLst/>
          </a:prstGeom>
          <a:noFill/>
        </p:spPr>
        <p:txBody>
          <a:bodyPr wrap="square" lIns="0" tIns="0" rIns="0" bIns="0" rtlCol="0">
            <a:spAutoFit/>
          </a:bodyPr>
          <a:lstStyle/>
          <a:p>
            <a:pPr algn="r">
              <a:lnSpc>
                <a:spcPts val="1500"/>
              </a:lnSpc>
            </a:pPr>
            <a:r>
              <a:rPr lang="en-US" dirty="0" smtClean="0"/>
              <a:t>Fraction of initial environmental concentrations to include</a:t>
            </a:r>
          </a:p>
        </p:txBody>
      </p:sp>
      <p:sp>
        <p:nvSpPr>
          <p:cNvPr id="13" name="TextBox 12"/>
          <p:cNvSpPr txBox="1"/>
          <p:nvPr/>
        </p:nvSpPr>
        <p:spPr>
          <a:xfrm>
            <a:off x="6208772" y="2728000"/>
            <a:ext cx="3304110" cy="276999"/>
          </a:xfrm>
          <a:prstGeom prst="rect">
            <a:avLst/>
          </a:prstGeom>
          <a:noFill/>
        </p:spPr>
        <p:txBody>
          <a:bodyPr wrap="none" lIns="0" tIns="0" rIns="0" bIns="0" rtlCol="0">
            <a:spAutoFit/>
          </a:bodyPr>
          <a:lstStyle/>
          <a:p>
            <a:pPr algn="r"/>
            <a:r>
              <a:rPr lang="en-US" dirty="0" smtClean="0"/>
              <a:t>Enable air boundary contributions?</a:t>
            </a:r>
          </a:p>
        </p:txBody>
      </p:sp>
      <p:sp>
        <p:nvSpPr>
          <p:cNvPr id="14" name="Rectangle 13"/>
          <p:cNvSpPr/>
          <p:nvPr/>
        </p:nvSpPr>
        <p:spPr>
          <a:xfrm>
            <a:off x="228600" y="696730"/>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p:cNvSpPr/>
          <p:nvPr/>
        </p:nvSpPr>
        <p:spPr>
          <a:xfrm>
            <a:off x="228600" y="1118926"/>
            <a:ext cx="2093974" cy="10058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p:cNvSpPr/>
          <p:nvPr/>
        </p:nvSpPr>
        <p:spPr>
          <a:xfrm>
            <a:off x="228600" y="2230708"/>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17"/>
          <p:cNvSpPr/>
          <p:nvPr/>
        </p:nvSpPr>
        <p:spPr>
          <a:xfrm>
            <a:off x="2039110" y="2230708"/>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Isosceles Triangle 16"/>
          <p:cNvSpPr/>
          <p:nvPr/>
        </p:nvSpPr>
        <p:spPr>
          <a:xfrm flipV="1">
            <a:off x="2077608" y="2339015"/>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p:cNvPicPr>
            <a:picLocks noChangeAspect="1"/>
          </p:cNvPicPr>
          <p:nvPr/>
        </p:nvPicPr>
        <p:blipFill>
          <a:blip r:embed="rId2"/>
          <a:stretch>
            <a:fillRect/>
          </a:stretch>
        </p:blipFill>
        <p:spPr>
          <a:xfrm>
            <a:off x="654958" y="2608970"/>
            <a:ext cx="1667615" cy="1732136"/>
          </a:xfrm>
          <a:prstGeom prst="rect">
            <a:avLst/>
          </a:prstGeom>
          <a:ln>
            <a:solidFill>
              <a:schemeClr val="tx1"/>
            </a:solidFill>
          </a:ln>
        </p:spPr>
      </p:pic>
      <p:cxnSp>
        <p:nvCxnSpPr>
          <p:cNvPr id="21" name="Straight Connector 20"/>
          <p:cNvCxnSpPr>
            <a:stCxn id="4" idx="1"/>
            <a:endCxn id="14" idx="3"/>
          </p:cNvCxnSpPr>
          <p:nvPr/>
        </p:nvCxnSpPr>
        <p:spPr>
          <a:xfrm flipH="1" flipV="1">
            <a:off x="2322574" y="833890"/>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a:stCxn id="5" idx="1"/>
          </p:cNvCxnSpPr>
          <p:nvPr/>
        </p:nvCxnSpPr>
        <p:spPr>
          <a:xfrm flipH="1">
            <a:off x="2322573" y="1202775"/>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flipH="1" flipV="1">
            <a:off x="2321067" y="2348900"/>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flipH="1" flipV="1">
            <a:off x="2321067" y="2767701"/>
            <a:ext cx="166242" cy="3126"/>
          </a:xfrm>
          <a:prstGeom prst="line">
            <a:avLst/>
          </a:prstGeom>
        </p:spPr>
        <p:style>
          <a:lnRef idx="1">
            <a:schemeClr val="dk1"/>
          </a:lnRef>
          <a:fillRef idx="0">
            <a:schemeClr val="dk1"/>
          </a:fillRef>
          <a:effectRef idx="0">
            <a:schemeClr val="dk1"/>
          </a:effectRef>
          <a:fontRef idx="minor">
            <a:schemeClr val="tx1"/>
          </a:fontRef>
        </p:style>
      </p:cxnSp>
      <p:pic>
        <p:nvPicPr>
          <p:cNvPr id="28" name="Picture 27"/>
          <p:cNvPicPr>
            <a:picLocks noChangeAspect="1"/>
          </p:cNvPicPr>
          <p:nvPr/>
        </p:nvPicPr>
        <p:blipFill>
          <a:blip r:embed="rId2"/>
          <a:stretch>
            <a:fillRect/>
          </a:stretch>
        </p:blipFill>
        <p:spPr>
          <a:xfrm>
            <a:off x="653452" y="4531093"/>
            <a:ext cx="1667615" cy="1732136"/>
          </a:xfrm>
          <a:prstGeom prst="rect">
            <a:avLst/>
          </a:prstGeom>
          <a:ln>
            <a:solidFill>
              <a:schemeClr val="tx1"/>
            </a:solidFill>
          </a:ln>
        </p:spPr>
      </p:pic>
      <p:cxnSp>
        <p:nvCxnSpPr>
          <p:cNvPr id="29" name="Straight Connector 28"/>
          <p:cNvCxnSpPr/>
          <p:nvPr/>
        </p:nvCxnSpPr>
        <p:spPr>
          <a:xfrm flipH="1" flipV="1">
            <a:off x="2321067" y="467128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31" name="Rectangle 30"/>
          <p:cNvSpPr/>
          <p:nvPr/>
        </p:nvSpPr>
        <p:spPr>
          <a:xfrm>
            <a:off x="9682863" y="696730"/>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33" name="Rectangle 32"/>
          <p:cNvSpPr/>
          <p:nvPr/>
        </p:nvSpPr>
        <p:spPr>
          <a:xfrm>
            <a:off x="9682863" y="1210366"/>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TextBox 33"/>
          <p:cNvSpPr txBox="1"/>
          <p:nvPr/>
        </p:nvSpPr>
        <p:spPr>
          <a:xfrm>
            <a:off x="9683006" y="1207687"/>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35" name="Rectangle 34"/>
          <p:cNvSpPr/>
          <p:nvPr/>
        </p:nvSpPr>
        <p:spPr>
          <a:xfrm>
            <a:off x="9682863" y="1721323"/>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TextBox 35"/>
          <p:cNvSpPr txBox="1"/>
          <p:nvPr/>
        </p:nvSpPr>
        <p:spPr>
          <a:xfrm>
            <a:off x="9683006" y="1718644"/>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37" name="Rectangle 36"/>
          <p:cNvSpPr/>
          <p:nvPr/>
        </p:nvSpPr>
        <p:spPr>
          <a:xfrm>
            <a:off x="9682863" y="2216206"/>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Rectangle 37"/>
          <p:cNvSpPr/>
          <p:nvPr/>
        </p:nvSpPr>
        <p:spPr>
          <a:xfrm>
            <a:off x="9682863" y="2728000"/>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cxnSp>
        <p:nvCxnSpPr>
          <p:cNvPr id="39" name="Straight Connector 38"/>
          <p:cNvCxnSpPr/>
          <p:nvPr/>
        </p:nvCxnSpPr>
        <p:spPr>
          <a:xfrm flipH="1" flipV="1">
            <a:off x="9506978" y="819500"/>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p:cNvCxnSpPr/>
          <p:nvPr/>
        </p:nvCxnSpPr>
        <p:spPr>
          <a:xfrm flipH="1" flipV="1">
            <a:off x="9512882" y="1346186"/>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p:nvPr/>
        </p:nvCxnSpPr>
        <p:spPr>
          <a:xfrm flipH="1" flipV="1">
            <a:off x="9512882" y="1875538"/>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flipH="1" flipV="1">
            <a:off x="9512882" y="2308328"/>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p:nvPr/>
        </p:nvCxnSpPr>
        <p:spPr>
          <a:xfrm flipH="1" flipV="1">
            <a:off x="9512882" y="2857186"/>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45" name="Rectangle 44"/>
          <p:cNvSpPr/>
          <p:nvPr/>
        </p:nvSpPr>
        <p:spPr>
          <a:xfrm>
            <a:off x="3346611" y="-95130"/>
            <a:ext cx="5537413" cy="923330"/>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Scenario Definition</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a:t>1</a:t>
            </a:r>
          </a:p>
        </p:txBody>
      </p:sp>
      <p:sp>
        <p:nvSpPr>
          <p:cNvPr id="48" name="TextBox 47"/>
          <p:cNvSpPr txBox="1"/>
          <p:nvPr/>
        </p:nvSpPr>
        <p:spPr>
          <a:xfrm>
            <a:off x="7261166" y="3202908"/>
            <a:ext cx="2249847" cy="276999"/>
          </a:xfrm>
          <a:prstGeom prst="rect">
            <a:avLst/>
          </a:prstGeom>
          <a:noFill/>
        </p:spPr>
        <p:txBody>
          <a:bodyPr wrap="none" lIns="0" tIns="0" rIns="0" bIns="0" rtlCol="0">
            <a:spAutoFit/>
          </a:bodyPr>
          <a:lstStyle/>
          <a:p>
            <a:pPr algn="r"/>
            <a:r>
              <a:rPr lang="en-US" dirty="0" smtClean="0"/>
              <a:t>Simulation time step (h)</a:t>
            </a:r>
            <a:endParaRPr lang="en-US" dirty="0"/>
          </a:p>
        </p:txBody>
      </p:sp>
      <p:cxnSp>
        <p:nvCxnSpPr>
          <p:cNvPr id="49" name="Straight Connector 48"/>
          <p:cNvCxnSpPr/>
          <p:nvPr/>
        </p:nvCxnSpPr>
        <p:spPr>
          <a:xfrm flipH="1" flipV="1">
            <a:off x="9512882" y="3327219"/>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50" name="Rectangle 49"/>
          <p:cNvSpPr/>
          <p:nvPr/>
        </p:nvSpPr>
        <p:spPr>
          <a:xfrm>
            <a:off x="9682863" y="3197672"/>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p:cNvSpPr/>
          <p:nvPr/>
        </p:nvSpPr>
        <p:spPr>
          <a:xfrm>
            <a:off x="4423494" y="75398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52" name="Rectangle 51"/>
          <p:cNvSpPr/>
          <p:nvPr/>
        </p:nvSpPr>
        <p:spPr>
          <a:xfrm>
            <a:off x="4387063" y="113486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53" name="Rectangle 52"/>
          <p:cNvSpPr/>
          <p:nvPr/>
        </p:nvSpPr>
        <p:spPr>
          <a:xfrm>
            <a:off x="3459820" y="230832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54" name="Rectangle 53"/>
          <p:cNvSpPr/>
          <p:nvPr/>
        </p:nvSpPr>
        <p:spPr>
          <a:xfrm>
            <a:off x="4553379" y="268911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55" name="Rectangle 54"/>
          <p:cNvSpPr/>
          <p:nvPr/>
        </p:nvSpPr>
        <p:spPr>
          <a:xfrm>
            <a:off x="4526970" y="460577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56" name="Rectangle 55"/>
          <p:cNvSpPr/>
          <p:nvPr/>
        </p:nvSpPr>
        <p:spPr>
          <a:xfrm>
            <a:off x="7089573" y="753090"/>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57" name="Rectangle 56"/>
          <p:cNvSpPr/>
          <p:nvPr/>
        </p:nvSpPr>
        <p:spPr>
          <a:xfrm>
            <a:off x="7893493" y="1268456"/>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58" name="Rectangle 57"/>
          <p:cNvSpPr/>
          <p:nvPr/>
        </p:nvSpPr>
        <p:spPr>
          <a:xfrm>
            <a:off x="7775123" y="178432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59" name="Rectangle 58"/>
          <p:cNvSpPr/>
          <p:nvPr/>
        </p:nvSpPr>
        <p:spPr>
          <a:xfrm>
            <a:off x="6345316" y="2186480"/>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60" name="Rectangle 59"/>
          <p:cNvSpPr/>
          <p:nvPr/>
        </p:nvSpPr>
        <p:spPr>
          <a:xfrm>
            <a:off x="6040513" y="279234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61" name="Rectangle 60"/>
          <p:cNvSpPr/>
          <p:nvPr/>
        </p:nvSpPr>
        <p:spPr>
          <a:xfrm>
            <a:off x="7089316" y="327845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62" name="TextBox 61"/>
          <p:cNvSpPr txBox="1"/>
          <p:nvPr/>
        </p:nvSpPr>
        <p:spPr>
          <a:xfrm>
            <a:off x="2487309" y="6326002"/>
            <a:ext cx="2647268" cy="397545"/>
          </a:xfrm>
          <a:prstGeom prst="rect">
            <a:avLst/>
          </a:prstGeom>
          <a:noFill/>
        </p:spPr>
        <p:txBody>
          <a:bodyPr wrap="square" lIns="0" tIns="0" rIns="0" bIns="0" rtlCol="0">
            <a:spAutoFit/>
          </a:bodyPr>
          <a:lstStyle/>
          <a:p>
            <a:pPr>
              <a:lnSpc>
                <a:spcPts val="1500"/>
              </a:lnSpc>
            </a:pPr>
            <a:r>
              <a:rPr lang="en-US" dirty="0" smtClean="0"/>
              <a:t>Length of simulation, based on above inputs</a:t>
            </a:r>
            <a:endParaRPr lang="en-US" dirty="0"/>
          </a:p>
        </p:txBody>
      </p:sp>
      <p:cxnSp>
        <p:nvCxnSpPr>
          <p:cNvPr id="63" name="Straight Connector 62"/>
          <p:cNvCxnSpPr/>
          <p:nvPr/>
        </p:nvCxnSpPr>
        <p:spPr>
          <a:xfrm flipH="1" flipV="1">
            <a:off x="2332607" y="642635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64" name="Rectangle 63"/>
          <p:cNvSpPr/>
          <p:nvPr/>
        </p:nvSpPr>
        <p:spPr>
          <a:xfrm>
            <a:off x="839096" y="6352753"/>
            <a:ext cx="1493511" cy="2743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 name="Rounded Rectangle 64"/>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Action Button: Forward or Next 65">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Action Button: Back or Previous 66">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8" name="Picture 4" descr="Image result for save button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Image result for exit graphic GU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8124015" y="6074345"/>
            <a:ext cx="4042611" cy="7386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dirty="0" smtClean="0">
                <a:latin typeface="Arial Narrow" panose="020B0606020202030204" pitchFamily="34" charset="0"/>
              </a:rPr>
              <a:t>As noted in the Excel file, some of these could be chucked into a screen of parameters either typically not used or whose settings are typically not changed…</a:t>
            </a:r>
            <a:endParaRPr lang="en-US" sz="1400" dirty="0">
              <a:latin typeface="Arial Narrow" panose="020B0606020202030204" pitchFamily="34" charset="0"/>
            </a:endParaRPr>
          </a:p>
        </p:txBody>
      </p:sp>
    </p:spTree>
    <p:extLst>
      <p:ext uri="{BB962C8B-B14F-4D97-AF65-F5344CB8AC3E}">
        <p14:creationId xmlns:p14="http://schemas.microsoft.com/office/powerpoint/2010/main" val="1097231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00154" y="689700"/>
            <a:ext cx="2600007" cy="276999"/>
          </a:xfrm>
          <a:prstGeom prst="rect">
            <a:avLst/>
          </a:prstGeom>
          <a:noFill/>
        </p:spPr>
        <p:txBody>
          <a:bodyPr wrap="none" lIns="0" tIns="0" rIns="0" bIns="0" rtlCol="0">
            <a:spAutoFit/>
          </a:bodyPr>
          <a:lstStyle/>
          <a:p>
            <a:r>
              <a:rPr lang="en-US" dirty="0" smtClean="0"/>
              <a:t>Export all time step results?</a:t>
            </a:r>
            <a:endParaRPr lang="en-US" dirty="0"/>
          </a:p>
        </p:txBody>
      </p:sp>
      <p:sp>
        <p:nvSpPr>
          <p:cNvPr id="6" name="TextBox 5"/>
          <p:cNvSpPr txBox="1"/>
          <p:nvPr/>
        </p:nvSpPr>
        <p:spPr>
          <a:xfrm>
            <a:off x="2496529" y="1151366"/>
            <a:ext cx="2647268" cy="384721"/>
          </a:xfrm>
          <a:prstGeom prst="rect">
            <a:avLst/>
          </a:prstGeom>
          <a:noFill/>
        </p:spPr>
        <p:txBody>
          <a:bodyPr wrap="square" lIns="0" tIns="0" rIns="0" bIns="0" rtlCol="0">
            <a:spAutoFit/>
          </a:bodyPr>
          <a:lstStyle/>
          <a:p>
            <a:pPr>
              <a:lnSpc>
                <a:spcPts val="1500"/>
              </a:lnSpc>
            </a:pPr>
            <a:r>
              <a:rPr lang="en-US" dirty="0" smtClean="0"/>
              <a:t>Output time step (hours) for database output</a:t>
            </a:r>
            <a:endParaRPr lang="en-US" dirty="0"/>
          </a:p>
        </p:txBody>
      </p:sp>
      <p:sp>
        <p:nvSpPr>
          <p:cNvPr id="7" name="TextBox 6"/>
          <p:cNvSpPr txBox="1"/>
          <p:nvPr/>
        </p:nvSpPr>
        <p:spPr>
          <a:xfrm>
            <a:off x="2493093" y="1711747"/>
            <a:ext cx="2640018" cy="384721"/>
          </a:xfrm>
          <a:prstGeom prst="rect">
            <a:avLst/>
          </a:prstGeom>
          <a:noFill/>
        </p:spPr>
        <p:txBody>
          <a:bodyPr wrap="square" lIns="0" tIns="0" rIns="0" bIns="0" rtlCol="0">
            <a:spAutoFit/>
          </a:bodyPr>
          <a:lstStyle/>
          <a:p>
            <a:pPr>
              <a:lnSpc>
                <a:spcPts val="1500"/>
              </a:lnSpc>
            </a:pPr>
            <a:r>
              <a:rPr lang="en-US" dirty="0" smtClean="0"/>
              <a:t>Export scenario information to HTML files?</a:t>
            </a:r>
            <a:endParaRPr lang="en-US" dirty="0"/>
          </a:p>
        </p:txBody>
      </p:sp>
      <p:sp>
        <p:nvSpPr>
          <p:cNvPr id="8" name="TextBox 7"/>
          <p:cNvSpPr txBox="1"/>
          <p:nvPr/>
        </p:nvSpPr>
        <p:spPr>
          <a:xfrm>
            <a:off x="2511375" y="2270140"/>
            <a:ext cx="2640018" cy="276999"/>
          </a:xfrm>
          <a:prstGeom prst="rect">
            <a:avLst/>
          </a:prstGeom>
          <a:noFill/>
        </p:spPr>
        <p:txBody>
          <a:bodyPr wrap="none" lIns="0" tIns="0" rIns="0" bIns="0" rtlCol="0">
            <a:spAutoFit/>
          </a:bodyPr>
          <a:lstStyle/>
          <a:p>
            <a:r>
              <a:rPr lang="en-US" dirty="0" smtClean="0"/>
              <a:t>Date/time for HTML exports</a:t>
            </a:r>
            <a:endParaRPr lang="en-US" dirty="0"/>
          </a:p>
        </p:txBody>
      </p:sp>
      <p:sp>
        <p:nvSpPr>
          <p:cNvPr id="9" name="TextBox 8"/>
          <p:cNvSpPr txBox="1"/>
          <p:nvPr/>
        </p:nvSpPr>
        <p:spPr>
          <a:xfrm>
            <a:off x="2449901" y="4838017"/>
            <a:ext cx="2650021" cy="276999"/>
          </a:xfrm>
          <a:prstGeom prst="rect">
            <a:avLst/>
          </a:prstGeom>
          <a:noFill/>
        </p:spPr>
        <p:txBody>
          <a:bodyPr wrap="none" lIns="0" tIns="0" rIns="0" bIns="0" rtlCol="0">
            <a:spAutoFit/>
          </a:bodyPr>
          <a:lstStyle/>
          <a:p>
            <a:r>
              <a:rPr lang="en-US" dirty="0" smtClean="0"/>
              <a:t>Custom average the results?</a:t>
            </a:r>
            <a:endParaRPr lang="en-US" dirty="0"/>
          </a:p>
        </p:txBody>
      </p:sp>
      <p:sp>
        <p:nvSpPr>
          <p:cNvPr id="10" name="TextBox 9"/>
          <p:cNvSpPr txBox="1"/>
          <p:nvPr/>
        </p:nvSpPr>
        <p:spPr>
          <a:xfrm>
            <a:off x="2438361" y="5314203"/>
            <a:ext cx="2767029" cy="397545"/>
          </a:xfrm>
          <a:prstGeom prst="rect">
            <a:avLst/>
          </a:prstGeom>
          <a:noFill/>
        </p:spPr>
        <p:txBody>
          <a:bodyPr wrap="square" lIns="0" tIns="0" rIns="0" bIns="0" rtlCol="0">
            <a:spAutoFit/>
          </a:bodyPr>
          <a:lstStyle/>
          <a:p>
            <a:pPr>
              <a:lnSpc>
                <a:spcPts val="1500"/>
              </a:lnSpc>
            </a:pPr>
            <a:r>
              <a:rPr lang="en-US" dirty="0" smtClean="0"/>
              <a:t>Custom averaging interval for the results</a:t>
            </a:r>
          </a:p>
        </p:txBody>
      </p:sp>
      <p:sp>
        <p:nvSpPr>
          <p:cNvPr id="11" name="TextBox 10"/>
          <p:cNvSpPr txBox="1"/>
          <p:nvPr/>
        </p:nvSpPr>
        <p:spPr>
          <a:xfrm>
            <a:off x="2431395" y="5888603"/>
            <a:ext cx="2767030" cy="397545"/>
          </a:xfrm>
          <a:prstGeom prst="rect">
            <a:avLst/>
          </a:prstGeom>
          <a:noFill/>
        </p:spPr>
        <p:txBody>
          <a:bodyPr wrap="square" lIns="0" tIns="0" rIns="0" bIns="0" rtlCol="0">
            <a:spAutoFit/>
          </a:bodyPr>
          <a:lstStyle/>
          <a:p>
            <a:pPr>
              <a:lnSpc>
                <a:spcPts val="1500"/>
              </a:lnSpc>
            </a:pPr>
            <a:r>
              <a:rPr lang="en-US" dirty="0" smtClean="0"/>
              <a:t>Export time-averaged results to database?</a:t>
            </a:r>
          </a:p>
        </p:txBody>
      </p:sp>
      <p:sp>
        <p:nvSpPr>
          <p:cNvPr id="12" name="TextBox 11"/>
          <p:cNvSpPr txBox="1"/>
          <p:nvPr/>
        </p:nvSpPr>
        <p:spPr>
          <a:xfrm>
            <a:off x="6942523" y="719483"/>
            <a:ext cx="2572586" cy="276999"/>
          </a:xfrm>
          <a:prstGeom prst="rect">
            <a:avLst/>
          </a:prstGeom>
          <a:noFill/>
        </p:spPr>
        <p:txBody>
          <a:bodyPr wrap="square" lIns="0" tIns="0" rIns="0" bIns="0" rtlCol="0">
            <a:spAutoFit/>
          </a:bodyPr>
          <a:lstStyle/>
          <a:p>
            <a:pPr algn="r"/>
            <a:r>
              <a:rPr lang="en-US" dirty="0" smtClean="0"/>
              <a:t>Significant digits for results</a:t>
            </a:r>
          </a:p>
        </p:txBody>
      </p:sp>
      <p:sp>
        <p:nvSpPr>
          <p:cNvPr id="13" name="TextBox 12"/>
          <p:cNvSpPr txBox="1"/>
          <p:nvPr/>
        </p:nvSpPr>
        <p:spPr>
          <a:xfrm>
            <a:off x="6744340" y="1173048"/>
            <a:ext cx="2767030" cy="384721"/>
          </a:xfrm>
          <a:prstGeom prst="rect">
            <a:avLst/>
          </a:prstGeom>
          <a:noFill/>
        </p:spPr>
        <p:txBody>
          <a:bodyPr wrap="square" lIns="0" tIns="0" rIns="0" bIns="0" rtlCol="0">
            <a:spAutoFit/>
          </a:bodyPr>
          <a:lstStyle/>
          <a:p>
            <a:pPr algn="r">
              <a:lnSpc>
                <a:spcPts val="1500"/>
              </a:lnSpc>
            </a:pPr>
            <a:r>
              <a:rPr lang="en-US" dirty="0" smtClean="0"/>
              <a:t>Display time steps as the first results field?</a:t>
            </a:r>
          </a:p>
        </p:txBody>
      </p:sp>
      <p:cxnSp>
        <p:nvCxnSpPr>
          <p:cNvPr id="25" name="Straight Connector 24"/>
          <p:cNvCxnSpPr>
            <a:stCxn id="5" idx="1"/>
          </p:cNvCxnSpPr>
          <p:nvPr/>
        </p:nvCxnSpPr>
        <p:spPr>
          <a:xfrm flipH="1">
            <a:off x="2335418" y="828200"/>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flipH="1" flipV="1">
            <a:off x="2341827" y="1251715"/>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flipH="1" flipV="1">
            <a:off x="2323321" y="1780479"/>
            <a:ext cx="166242" cy="3126"/>
          </a:xfrm>
          <a:prstGeom prst="line">
            <a:avLst/>
          </a:prstGeom>
        </p:spPr>
        <p:style>
          <a:lnRef idx="1">
            <a:schemeClr val="dk1"/>
          </a:lnRef>
          <a:fillRef idx="0">
            <a:schemeClr val="dk1"/>
          </a:fillRef>
          <a:effectRef idx="0">
            <a:schemeClr val="dk1"/>
          </a:effectRef>
          <a:fontRef idx="minor">
            <a:schemeClr val="tx1"/>
          </a:fontRef>
        </p:style>
      </p:cxnSp>
      <p:pic>
        <p:nvPicPr>
          <p:cNvPr id="28" name="Picture 27"/>
          <p:cNvPicPr>
            <a:picLocks noChangeAspect="1"/>
          </p:cNvPicPr>
          <p:nvPr/>
        </p:nvPicPr>
        <p:blipFill>
          <a:blip r:embed="rId2"/>
          <a:stretch>
            <a:fillRect/>
          </a:stretch>
        </p:blipFill>
        <p:spPr>
          <a:xfrm>
            <a:off x="665516" y="2324609"/>
            <a:ext cx="1667615" cy="1732136"/>
          </a:xfrm>
          <a:prstGeom prst="rect">
            <a:avLst/>
          </a:prstGeom>
          <a:ln>
            <a:solidFill>
              <a:schemeClr val="tx1"/>
            </a:solidFill>
          </a:ln>
        </p:spPr>
      </p:pic>
      <p:cxnSp>
        <p:nvCxnSpPr>
          <p:cNvPr id="29" name="Straight Connector 28"/>
          <p:cNvCxnSpPr/>
          <p:nvPr/>
        </p:nvCxnSpPr>
        <p:spPr>
          <a:xfrm flipH="1" flipV="1">
            <a:off x="2341827" y="240108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31" name="Rectangle 30"/>
          <p:cNvSpPr/>
          <p:nvPr/>
        </p:nvSpPr>
        <p:spPr>
          <a:xfrm>
            <a:off x="1998656" y="4839356"/>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37" name="Rectangle 36"/>
          <p:cNvSpPr/>
          <p:nvPr/>
        </p:nvSpPr>
        <p:spPr>
          <a:xfrm>
            <a:off x="9688411" y="722162"/>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Rectangle 37"/>
          <p:cNvSpPr/>
          <p:nvPr/>
        </p:nvSpPr>
        <p:spPr>
          <a:xfrm>
            <a:off x="9681351" y="1173048"/>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cxnSp>
        <p:nvCxnSpPr>
          <p:cNvPr id="39" name="Straight Connector 38"/>
          <p:cNvCxnSpPr/>
          <p:nvPr/>
        </p:nvCxnSpPr>
        <p:spPr>
          <a:xfrm flipH="1" flipV="1">
            <a:off x="2283659" y="4979383"/>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p:cNvCxnSpPr/>
          <p:nvPr/>
        </p:nvCxnSpPr>
        <p:spPr>
          <a:xfrm flipH="1" flipV="1">
            <a:off x="2275996" y="5436992"/>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p:nvPr/>
        </p:nvCxnSpPr>
        <p:spPr>
          <a:xfrm flipH="1" flipV="1">
            <a:off x="2265153" y="6003427"/>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flipH="1" flipV="1">
            <a:off x="9515109" y="844161"/>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p:nvPr/>
        </p:nvCxnSpPr>
        <p:spPr>
          <a:xfrm flipH="1" flipV="1">
            <a:off x="9511370" y="1290929"/>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45" name="Rectangle 44"/>
          <p:cNvSpPr/>
          <p:nvPr/>
        </p:nvSpPr>
        <p:spPr>
          <a:xfrm>
            <a:off x="3907380" y="-95130"/>
            <a:ext cx="4415888" cy="923330"/>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Export Settings</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a:t>2</a:t>
            </a:r>
          </a:p>
        </p:txBody>
      </p:sp>
      <p:sp>
        <p:nvSpPr>
          <p:cNvPr id="47" name="Rounded Rectangle 46"/>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049034" y="704416"/>
            <a:ext cx="284097" cy="274320"/>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rgbClr val="FF0000"/>
                </a:solidFill>
                <a:sym typeface="Wingdings" panose="05000000000000000000" pitchFamily="2" charset="2"/>
              </a:rPr>
              <a:t></a:t>
            </a:r>
            <a:endParaRPr lang="en-US" dirty="0">
              <a:solidFill>
                <a:srgbClr val="FF0000"/>
              </a:solidFill>
            </a:endParaRPr>
          </a:p>
        </p:txBody>
      </p:sp>
      <p:sp>
        <p:nvSpPr>
          <p:cNvPr id="49" name="Rectangle 48"/>
          <p:cNvSpPr/>
          <p:nvPr/>
        </p:nvSpPr>
        <p:spPr>
          <a:xfrm>
            <a:off x="1710258" y="1178117"/>
            <a:ext cx="631569" cy="274320"/>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rgbClr val="FF0000"/>
              </a:solidFill>
            </a:endParaRPr>
          </a:p>
        </p:txBody>
      </p:sp>
      <p:sp>
        <p:nvSpPr>
          <p:cNvPr id="50" name="Rectangle 49"/>
          <p:cNvSpPr/>
          <p:nvPr/>
        </p:nvSpPr>
        <p:spPr>
          <a:xfrm>
            <a:off x="2039224" y="1705153"/>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51" name="Rectangle 50"/>
          <p:cNvSpPr/>
          <p:nvPr/>
        </p:nvSpPr>
        <p:spPr>
          <a:xfrm>
            <a:off x="1640550" y="5309390"/>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Rectangle 51"/>
          <p:cNvSpPr/>
          <p:nvPr/>
        </p:nvSpPr>
        <p:spPr>
          <a:xfrm>
            <a:off x="1993353" y="5869393"/>
            <a:ext cx="284097" cy="274320"/>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olidFill>
                  <a:srgbClr val="FF0000"/>
                </a:solidFill>
                <a:sym typeface="Wingdings" panose="05000000000000000000" pitchFamily="2" charset="2"/>
              </a:rPr>
              <a:t></a:t>
            </a:r>
            <a:endParaRPr lang="en-US" dirty="0">
              <a:solidFill>
                <a:srgbClr val="FF0000"/>
              </a:solidFill>
            </a:endParaRPr>
          </a:p>
        </p:txBody>
      </p:sp>
      <p:sp>
        <p:nvSpPr>
          <p:cNvPr id="53" name="TextBox 52"/>
          <p:cNvSpPr txBox="1"/>
          <p:nvPr/>
        </p:nvSpPr>
        <p:spPr>
          <a:xfrm>
            <a:off x="6744340" y="1728975"/>
            <a:ext cx="2767030" cy="397545"/>
          </a:xfrm>
          <a:prstGeom prst="rect">
            <a:avLst/>
          </a:prstGeom>
          <a:noFill/>
        </p:spPr>
        <p:txBody>
          <a:bodyPr wrap="square" lIns="0" tIns="0" rIns="0" bIns="0" rtlCol="0">
            <a:spAutoFit/>
          </a:bodyPr>
          <a:lstStyle/>
          <a:p>
            <a:pPr algn="r">
              <a:lnSpc>
                <a:spcPts val="1500"/>
              </a:lnSpc>
            </a:pPr>
            <a:r>
              <a:rPr lang="en-US" dirty="0" smtClean="0"/>
              <a:t>Export outdoor environment definitions?</a:t>
            </a:r>
          </a:p>
        </p:txBody>
      </p:sp>
      <p:cxnSp>
        <p:nvCxnSpPr>
          <p:cNvPr id="54" name="Straight Connector 53"/>
          <p:cNvCxnSpPr/>
          <p:nvPr/>
        </p:nvCxnSpPr>
        <p:spPr>
          <a:xfrm flipH="1" flipV="1">
            <a:off x="9511370" y="1864348"/>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55" name="Rectangle 54"/>
          <p:cNvSpPr/>
          <p:nvPr/>
        </p:nvSpPr>
        <p:spPr>
          <a:xfrm>
            <a:off x="9677612" y="1734335"/>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56" name="TextBox 55"/>
          <p:cNvSpPr txBox="1"/>
          <p:nvPr/>
        </p:nvSpPr>
        <p:spPr>
          <a:xfrm>
            <a:off x="6744340" y="2249193"/>
            <a:ext cx="2767030" cy="205184"/>
          </a:xfrm>
          <a:prstGeom prst="rect">
            <a:avLst/>
          </a:prstGeom>
          <a:noFill/>
        </p:spPr>
        <p:txBody>
          <a:bodyPr wrap="square" lIns="0" tIns="0" rIns="0" bIns="0" rtlCol="0">
            <a:spAutoFit/>
          </a:bodyPr>
          <a:lstStyle/>
          <a:p>
            <a:pPr algn="r">
              <a:lnSpc>
                <a:spcPts val="1500"/>
              </a:lnSpc>
            </a:pPr>
            <a:r>
              <a:rPr lang="en-US" dirty="0" smtClean="0"/>
              <a:t>Export scenario properties?</a:t>
            </a:r>
          </a:p>
        </p:txBody>
      </p:sp>
      <p:cxnSp>
        <p:nvCxnSpPr>
          <p:cNvPr id="57" name="Straight Connector 56"/>
          <p:cNvCxnSpPr/>
          <p:nvPr/>
        </p:nvCxnSpPr>
        <p:spPr>
          <a:xfrm flipH="1" flipV="1">
            <a:off x="9511370" y="2320122"/>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58" name="Rectangle 57"/>
          <p:cNvSpPr/>
          <p:nvPr/>
        </p:nvSpPr>
        <p:spPr>
          <a:xfrm>
            <a:off x="9677612" y="2190109"/>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59" name="TextBox 58"/>
          <p:cNvSpPr txBox="1"/>
          <p:nvPr/>
        </p:nvSpPr>
        <p:spPr>
          <a:xfrm>
            <a:off x="6744340" y="2667497"/>
            <a:ext cx="2767030" cy="205184"/>
          </a:xfrm>
          <a:prstGeom prst="rect">
            <a:avLst/>
          </a:prstGeom>
          <a:noFill/>
        </p:spPr>
        <p:txBody>
          <a:bodyPr wrap="square" lIns="0" tIns="0" rIns="0" bIns="0" rtlCol="0">
            <a:spAutoFit/>
          </a:bodyPr>
          <a:lstStyle/>
          <a:p>
            <a:pPr algn="r">
              <a:lnSpc>
                <a:spcPts val="1500"/>
              </a:lnSpc>
            </a:pPr>
            <a:r>
              <a:rPr lang="en-US" dirty="0" smtClean="0"/>
              <a:t>Export concentration results?</a:t>
            </a:r>
          </a:p>
        </p:txBody>
      </p:sp>
      <p:cxnSp>
        <p:nvCxnSpPr>
          <p:cNvPr id="60" name="Straight Connector 59"/>
          <p:cNvCxnSpPr/>
          <p:nvPr/>
        </p:nvCxnSpPr>
        <p:spPr>
          <a:xfrm flipH="1" flipV="1">
            <a:off x="9511370" y="2738426"/>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61" name="Rectangle 60"/>
          <p:cNvSpPr/>
          <p:nvPr/>
        </p:nvSpPr>
        <p:spPr>
          <a:xfrm>
            <a:off x="9677612" y="2608413"/>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65" name="TextBox 64"/>
          <p:cNvSpPr txBox="1"/>
          <p:nvPr/>
        </p:nvSpPr>
        <p:spPr>
          <a:xfrm>
            <a:off x="6744340" y="3085784"/>
            <a:ext cx="2767030" cy="192360"/>
          </a:xfrm>
          <a:prstGeom prst="rect">
            <a:avLst/>
          </a:prstGeom>
          <a:noFill/>
        </p:spPr>
        <p:txBody>
          <a:bodyPr wrap="square" lIns="0" tIns="0" rIns="0" bIns="0" rtlCol="0">
            <a:spAutoFit/>
          </a:bodyPr>
          <a:lstStyle/>
          <a:p>
            <a:pPr algn="r">
              <a:lnSpc>
                <a:spcPts val="1500"/>
              </a:lnSpc>
            </a:pPr>
            <a:r>
              <a:rPr lang="en-US" dirty="0" smtClean="0"/>
              <a:t>Export deposition results?</a:t>
            </a:r>
          </a:p>
        </p:txBody>
      </p:sp>
      <p:cxnSp>
        <p:nvCxnSpPr>
          <p:cNvPr id="66" name="Straight Connector 65"/>
          <p:cNvCxnSpPr/>
          <p:nvPr/>
        </p:nvCxnSpPr>
        <p:spPr>
          <a:xfrm flipH="1" flipV="1">
            <a:off x="9511370" y="3156713"/>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67" name="Rectangle 66"/>
          <p:cNvSpPr/>
          <p:nvPr/>
        </p:nvSpPr>
        <p:spPr>
          <a:xfrm>
            <a:off x="9677612" y="3026700"/>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68" name="TextBox 67"/>
          <p:cNvSpPr txBox="1"/>
          <p:nvPr/>
        </p:nvSpPr>
        <p:spPr>
          <a:xfrm>
            <a:off x="6744340" y="3383209"/>
            <a:ext cx="2767030" cy="384721"/>
          </a:xfrm>
          <a:prstGeom prst="rect">
            <a:avLst/>
          </a:prstGeom>
          <a:noFill/>
        </p:spPr>
        <p:txBody>
          <a:bodyPr wrap="square" lIns="0" tIns="0" rIns="0" bIns="0" rtlCol="0">
            <a:spAutoFit/>
          </a:bodyPr>
          <a:lstStyle/>
          <a:p>
            <a:pPr algn="r">
              <a:lnSpc>
                <a:spcPts val="1500"/>
              </a:lnSpc>
            </a:pPr>
            <a:r>
              <a:rPr lang="en-US" dirty="0" smtClean="0"/>
              <a:t>Export chemical mass results?</a:t>
            </a:r>
          </a:p>
        </p:txBody>
      </p:sp>
      <p:cxnSp>
        <p:nvCxnSpPr>
          <p:cNvPr id="69" name="Straight Connector 68"/>
          <p:cNvCxnSpPr/>
          <p:nvPr/>
        </p:nvCxnSpPr>
        <p:spPr>
          <a:xfrm flipH="1" flipV="1">
            <a:off x="9511370" y="353998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70" name="Rectangle 69"/>
          <p:cNvSpPr/>
          <p:nvPr/>
        </p:nvSpPr>
        <p:spPr>
          <a:xfrm>
            <a:off x="9677612" y="3419961"/>
            <a:ext cx="284097" cy="2643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71" name="Rectangle 70"/>
          <p:cNvSpPr/>
          <p:nvPr/>
        </p:nvSpPr>
        <p:spPr>
          <a:xfrm>
            <a:off x="5090204" y="75132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2" name="Rectangle 71"/>
          <p:cNvSpPr/>
          <p:nvPr/>
        </p:nvSpPr>
        <p:spPr>
          <a:xfrm>
            <a:off x="5158090" y="114997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3" name="Rectangle 72"/>
          <p:cNvSpPr/>
          <p:nvPr/>
        </p:nvSpPr>
        <p:spPr>
          <a:xfrm>
            <a:off x="5097169" y="1703710"/>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4" name="Rectangle 73"/>
          <p:cNvSpPr/>
          <p:nvPr/>
        </p:nvSpPr>
        <p:spPr>
          <a:xfrm>
            <a:off x="5158090" y="233582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5" name="Rectangle 74"/>
          <p:cNvSpPr/>
          <p:nvPr/>
        </p:nvSpPr>
        <p:spPr>
          <a:xfrm>
            <a:off x="5085629" y="490369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6" name="Rectangle 75"/>
          <p:cNvSpPr/>
          <p:nvPr/>
        </p:nvSpPr>
        <p:spPr>
          <a:xfrm>
            <a:off x="5183116" y="533293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7" name="Rectangle 76"/>
          <p:cNvSpPr/>
          <p:nvPr/>
        </p:nvSpPr>
        <p:spPr>
          <a:xfrm>
            <a:off x="5122195" y="588351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8" name="Rectangle 77"/>
          <p:cNvSpPr/>
          <p:nvPr/>
        </p:nvSpPr>
        <p:spPr>
          <a:xfrm>
            <a:off x="6825465" y="78516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9" name="Rectangle 78"/>
          <p:cNvSpPr/>
          <p:nvPr/>
        </p:nvSpPr>
        <p:spPr>
          <a:xfrm>
            <a:off x="6629549" y="115938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80" name="Rectangle 79"/>
          <p:cNvSpPr/>
          <p:nvPr/>
        </p:nvSpPr>
        <p:spPr>
          <a:xfrm>
            <a:off x="6659076" y="172832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81" name="Rectangle 80"/>
          <p:cNvSpPr/>
          <p:nvPr/>
        </p:nvSpPr>
        <p:spPr>
          <a:xfrm>
            <a:off x="6742270" y="2257130"/>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82" name="Rectangle 81"/>
          <p:cNvSpPr/>
          <p:nvPr/>
        </p:nvSpPr>
        <p:spPr>
          <a:xfrm>
            <a:off x="6601800" y="2667480"/>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83" name="Rectangle 82"/>
          <p:cNvSpPr/>
          <p:nvPr/>
        </p:nvSpPr>
        <p:spPr>
          <a:xfrm>
            <a:off x="6908659" y="307966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84" name="Rectangle 83"/>
          <p:cNvSpPr/>
          <p:nvPr/>
        </p:nvSpPr>
        <p:spPr>
          <a:xfrm>
            <a:off x="7299832" y="338320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2" name="Down Arrow 21"/>
          <p:cNvSpPr/>
          <p:nvPr/>
        </p:nvSpPr>
        <p:spPr>
          <a:xfrm>
            <a:off x="2053922" y="1984288"/>
            <a:ext cx="274320" cy="330467"/>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Down Arrow 84"/>
          <p:cNvSpPr/>
          <p:nvPr/>
        </p:nvSpPr>
        <p:spPr>
          <a:xfrm>
            <a:off x="2077903" y="975086"/>
            <a:ext cx="274320" cy="20303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6" name="Down Arrow 85"/>
          <p:cNvSpPr/>
          <p:nvPr/>
        </p:nvSpPr>
        <p:spPr>
          <a:xfrm>
            <a:off x="2019735" y="5113676"/>
            <a:ext cx="274320" cy="195714"/>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7" name="Down Arrow 86"/>
          <p:cNvSpPr/>
          <p:nvPr/>
        </p:nvSpPr>
        <p:spPr>
          <a:xfrm>
            <a:off x="2001504" y="5588674"/>
            <a:ext cx="274320" cy="277594"/>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8" name="TextBox 87"/>
          <p:cNvSpPr txBox="1"/>
          <p:nvPr/>
        </p:nvSpPr>
        <p:spPr>
          <a:xfrm>
            <a:off x="2449901" y="4163496"/>
            <a:ext cx="2647268" cy="589905"/>
          </a:xfrm>
          <a:prstGeom prst="rect">
            <a:avLst/>
          </a:prstGeom>
          <a:noFill/>
        </p:spPr>
        <p:txBody>
          <a:bodyPr wrap="square" lIns="0" tIns="0" rIns="0" bIns="0" rtlCol="0">
            <a:spAutoFit/>
          </a:bodyPr>
          <a:lstStyle/>
          <a:p>
            <a:pPr>
              <a:lnSpc>
                <a:spcPts val="1500"/>
              </a:lnSpc>
            </a:pPr>
            <a:r>
              <a:rPr lang="en-US" dirty="0" smtClean="0"/>
              <a:t>Length of time before end of simulation when HTML will export</a:t>
            </a:r>
            <a:endParaRPr lang="en-US" dirty="0"/>
          </a:p>
        </p:txBody>
      </p:sp>
      <p:cxnSp>
        <p:nvCxnSpPr>
          <p:cNvPr id="89" name="Straight Connector 88"/>
          <p:cNvCxnSpPr/>
          <p:nvPr/>
        </p:nvCxnSpPr>
        <p:spPr>
          <a:xfrm flipH="1" flipV="1">
            <a:off x="2295199" y="426384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90" name="Rectangle 89"/>
          <p:cNvSpPr/>
          <p:nvPr/>
        </p:nvSpPr>
        <p:spPr>
          <a:xfrm>
            <a:off x="957432" y="4190247"/>
            <a:ext cx="1337768" cy="2743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 name="Action Button: Forward or Next 90">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 name="Action Button: Back or Previous 91">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93" name="Picture 4" descr="Image result for save button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descr="Image result for exit graphic GU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
        <p:nvSpPr>
          <p:cNvPr id="95" name="TextBox 94"/>
          <p:cNvSpPr txBox="1"/>
          <p:nvPr/>
        </p:nvSpPr>
        <p:spPr>
          <a:xfrm>
            <a:off x="8124015" y="6074345"/>
            <a:ext cx="4042611" cy="7386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dirty="0" smtClean="0">
                <a:latin typeface="Arial Narrow" panose="020B0606020202030204" pitchFamily="34" charset="0"/>
              </a:rPr>
              <a:t>As noted in the Excel file, some of these could be chucked into a screen of parameters either typically not used or whose settings are typically not changed…</a:t>
            </a:r>
            <a:endParaRPr lang="en-US" sz="1400" dirty="0">
              <a:latin typeface="Arial Narrow" panose="020B0606020202030204" pitchFamily="34" charset="0"/>
            </a:endParaRPr>
          </a:p>
        </p:txBody>
      </p:sp>
      <p:sp>
        <p:nvSpPr>
          <p:cNvPr id="96" name="TextBox 95"/>
          <p:cNvSpPr txBox="1"/>
          <p:nvPr/>
        </p:nvSpPr>
        <p:spPr>
          <a:xfrm>
            <a:off x="17918" y="32008"/>
            <a:ext cx="1472771" cy="164349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dirty="0" smtClean="0">
                <a:latin typeface="Arial Narrow" panose="020B0606020202030204" pitchFamily="34" charset="0"/>
              </a:rPr>
              <a:t>Red objects here indicate that the feature probably does not currently work in TRIM.FaTE anyway – if true, then exclude these</a:t>
            </a:r>
            <a:endParaRPr lang="en-US" sz="1400" dirty="0">
              <a:latin typeface="Arial Narrow" panose="020B0606020202030204" pitchFamily="34" charset="0"/>
            </a:endParaRPr>
          </a:p>
        </p:txBody>
      </p:sp>
    </p:spTree>
    <p:extLst>
      <p:ext uri="{BB962C8B-B14F-4D97-AF65-F5344CB8AC3E}">
        <p14:creationId xmlns:p14="http://schemas.microsoft.com/office/powerpoint/2010/main" val="3016654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2703146" y="-95130"/>
            <a:ext cx="6824369" cy="923330"/>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Meteorological Settings</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smtClean="0"/>
              <a:t>3a</a:t>
            </a:r>
            <a:endParaRPr lang="en-US" dirty="0"/>
          </a:p>
        </p:txBody>
      </p:sp>
      <p:sp>
        <p:nvSpPr>
          <p:cNvPr id="88" name="TextBox 87"/>
          <p:cNvSpPr txBox="1"/>
          <p:nvPr/>
        </p:nvSpPr>
        <p:spPr>
          <a:xfrm>
            <a:off x="2498047" y="1147790"/>
            <a:ext cx="2248180" cy="276999"/>
          </a:xfrm>
          <a:prstGeom prst="rect">
            <a:avLst/>
          </a:prstGeom>
          <a:noFill/>
        </p:spPr>
        <p:txBody>
          <a:bodyPr wrap="none" lIns="0" tIns="0" rIns="0" bIns="0" rtlCol="0">
            <a:spAutoFit/>
          </a:bodyPr>
          <a:lstStyle/>
          <a:p>
            <a:r>
              <a:rPr lang="en-US" dirty="0" smtClean="0"/>
              <a:t>Use time-varying value?</a:t>
            </a:r>
            <a:endParaRPr lang="en-US" dirty="0"/>
          </a:p>
        </p:txBody>
      </p:sp>
      <p:sp>
        <p:nvSpPr>
          <p:cNvPr id="89" name="TextBox 88"/>
          <p:cNvSpPr txBox="1"/>
          <p:nvPr/>
        </p:nvSpPr>
        <p:spPr>
          <a:xfrm>
            <a:off x="2508069" y="1593282"/>
            <a:ext cx="2647268" cy="192360"/>
          </a:xfrm>
          <a:prstGeom prst="rect">
            <a:avLst/>
          </a:prstGeom>
          <a:noFill/>
        </p:spPr>
        <p:txBody>
          <a:bodyPr wrap="square" lIns="0" tIns="0" rIns="0" bIns="0" rtlCol="0">
            <a:spAutoFit/>
          </a:bodyPr>
          <a:lstStyle/>
          <a:p>
            <a:pPr>
              <a:lnSpc>
                <a:spcPts val="1500"/>
              </a:lnSpc>
            </a:pPr>
            <a:r>
              <a:rPr lang="en-US" dirty="0" smtClean="0"/>
              <a:t>File for time-varying values</a:t>
            </a:r>
            <a:endParaRPr lang="en-US" dirty="0"/>
          </a:p>
        </p:txBody>
      </p:sp>
      <p:cxnSp>
        <p:nvCxnSpPr>
          <p:cNvPr id="90" name="Straight Connector 89"/>
          <p:cNvCxnSpPr>
            <a:stCxn id="88" idx="1"/>
          </p:cNvCxnSpPr>
          <p:nvPr/>
        </p:nvCxnSpPr>
        <p:spPr>
          <a:xfrm flipH="1">
            <a:off x="2333311" y="1286290"/>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91" name="Straight Connector 90"/>
          <p:cNvCxnSpPr/>
          <p:nvPr/>
        </p:nvCxnSpPr>
        <p:spPr>
          <a:xfrm flipH="1" flipV="1">
            <a:off x="2331805" y="1681713"/>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92" name="Rectangle 91"/>
          <p:cNvSpPr/>
          <p:nvPr/>
        </p:nvSpPr>
        <p:spPr>
          <a:xfrm>
            <a:off x="2049034" y="1152472"/>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94" name="Rectangle 93"/>
          <p:cNvSpPr/>
          <p:nvPr/>
        </p:nvSpPr>
        <p:spPr>
          <a:xfrm>
            <a:off x="4724444" y="119938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95" name="Rectangle 94"/>
          <p:cNvSpPr/>
          <p:nvPr/>
        </p:nvSpPr>
        <p:spPr>
          <a:xfrm>
            <a:off x="5013310" y="158686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96" name="Down Arrow 95"/>
          <p:cNvSpPr/>
          <p:nvPr/>
        </p:nvSpPr>
        <p:spPr>
          <a:xfrm>
            <a:off x="2077903" y="1423142"/>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7" name="TextBox 96"/>
          <p:cNvSpPr txBox="1"/>
          <p:nvPr/>
        </p:nvSpPr>
        <p:spPr>
          <a:xfrm>
            <a:off x="2508069" y="856288"/>
            <a:ext cx="3229410" cy="276999"/>
          </a:xfrm>
          <a:prstGeom prst="rect">
            <a:avLst/>
          </a:prstGeom>
          <a:noFill/>
        </p:spPr>
        <p:txBody>
          <a:bodyPr wrap="none" lIns="0" tIns="0" rIns="0" bIns="0" rtlCol="0">
            <a:spAutoFit/>
          </a:bodyPr>
          <a:lstStyle/>
          <a:p>
            <a:r>
              <a:rPr lang="en-US" b="1" u="sng" dirty="0" smtClean="0"/>
              <a:t>Set Ambient Air Temperature (K)</a:t>
            </a:r>
            <a:endParaRPr lang="en-US" b="1" u="sng" dirty="0"/>
          </a:p>
        </p:txBody>
      </p:sp>
      <p:sp>
        <p:nvSpPr>
          <p:cNvPr id="98" name="Rectangle 97"/>
          <p:cNvSpPr/>
          <p:nvPr/>
        </p:nvSpPr>
        <p:spPr>
          <a:xfrm>
            <a:off x="247853" y="1538985"/>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 name="TextBox 98"/>
          <p:cNvSpPr txBox="1"/>
          <p:nvPr/>
        </p:nvSpPr>
        <p:spPr>
          <a:xfrm>
            <a:off x="2177380" y="1536306"/>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100" name="TextBox 99"/>
          <p:cNvSpPr txBox="1"/>
          <p:nvPr/>
        </p:nvSpPr>
        <p:spPr>
          <a:xfrm>
            <a:off x="2508069" y="1979919"/>
            <a:ext cx="2647268" cy="192360"/>
          </a:xfrm>
          <a:prstGeom prst="rect">
            <a:avLst/>
          </a:prstGeom>
          <a:noFill/>
        </p:spPr>
        <p:txBody>
          <a:bodyPr wrap="square" lIns="0" tIns="0" rIns="0" bIns="0" rtlCol="0">
            <a:spAutoFit/>
          </a:bodyPr>
          <a:lstStyle/>
          <a:p>
            <a:pPr>
              <a:lnSpc>
                <a:spcPts val="1500"/>
              </a:lnSpc>
            </a:pPr>
            <a:r>
              <a:rPr lang="en-US" dirty="0" smtClean="0"/>
              <a:t>Field name for values</a:t>
            </a:r>
            <a:endParaRPr lang="en-US" dirty="0"/>
          </a:p>
        </p:txBody>
      </p:sp>
      <p:sp>
        <p:nvSpPr>
          <p:cNvPr id="101" name="Rectangle 100"/>
          <p:cNvSpPr/>
          <p:nvPr/>
        </p:nvSpPr>
        <p:spPr>
          <a:xfrm>
            <a:off x="4486634" y="198582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02" name="Rectangle 101"/>
          <p:cNvSpPr/>
          <p:nvPr/>
        </p:nvSpPr>
        <p:spPr>
          <a:xfrm>
            <a:off x="247853" y="1917796"/>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 name="Rectangle 102"/>
          <p:cNvSpPr/>
          <p:nvPr/>
        </p:nvSpPr>
        <p:spPr>
          <a:xfrm>
            <a:off x="2086839" y="1917796"/>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 name="Isosceles Triangle 103"/>
          <p:cNvSpPr/>
          <p:nvPr/>
        </p:nvSpPr>
        <p:spPr>
          <a:xfrm flipV="1">
            <a:off x="2125337" y="2026103"/>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5" name="Straight Connector 104"/>
          <p:cNvCxnSpPr/>
          <p:nvPr/>
        </p:nvCxnSpPr>
        <p:spPr>
          <a:xfrm flipH="1" flipV="1">
            <a:off x="2368796" y="2035988"/>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107" name="Straight Connector 106"/>
          <p:cNvCxnSpPr/>
          <p:nvPr/>
        </p:nvCxnSpPr>
        <p:spPr>
          <a:xfrm flipH="1" flipV="1">
            <a:off x="2364818" y="241619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08" name="Rectangle 107"/>
          <p:cNvSpPr/>
          <p:nvPr/>
        </p:nvSpPr>
        <p:spPr>
          <a:xfrm>
            <a:off x="1733249" y="2309334"/>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 name="TextBox 108"/>
          <p:cNvSpPr txBox="1"/>
          <p:nvPr/>
        </p:nvSpPr>
        <p:spPr>
          <a:xfrm>
            <a:off x="2508069" y="2343902"/>
            <a:ext cx="2647268" cy="205184"/>
          </a:xfrm>
          <a:prstGeom prst="rect">
            <a:avLst/>
          </a:prstGeom>
          <a:noFill/>
        </p:spPr>
        <p:txBody>
          <a:bodyPr wrap="square" lIns="0" tIns="0" rIns="0" bIns="0" rtlCol="0">
            <a:spAutoFit/>
          </a:bodyPr>
          <a:lstStyle/>
          <a:p>
            <a:pPr>
              <a:lnSpc>
                <a:spcPts val="1500"/>
              </a:lnSpc>
            </a:pPr>
            <a:r>
              <a:rPr lang="en-US" dirty="0" smtClean="0"/>
              <a:t>Static value</a:t>
            </a:r>
            <a:endParaRPr lang="en-US" dirty="0"/>
          </a:p>
        </p:txBody>
      </p:sp>
      <p:sp>
        <p:nvSpPr>
          <p:cNvPr id="110" name="Rectangle 109"/>
          <p:cNvSpPr/>
          <p:nvPr/>
        </p:nvSpPr>
        <p:spPr>
          <a:xfrm>
            <a:off x="3593615" y="234796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56" name="Down Arrow 155"/>
          <p:cNvSpPr/>
          <p:nvPr/>
        </p:nvSpPr>
        <p:spPr>
          <a:xfrm>
            <a:off x="2077903" y="1811967"/>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7" name="TextBox 156"/>
          <p:cNvSpPr txBox="1"/>
          <p:nvPr/>
        </p:nvSpPr>
        <p:spPr>
          <a:xfrm>
            <a:off x="2498047" y="2961773"/>
            <a:ext cx="2248180" cy="276999"/>
          </a:xfrm>
          <a:prstGeom prst="rect">
            <a:avLst/>
          </a:prstGeom>
          <a:noFill/>
        </p:spPr>
        <p:txBody>
          <a:bodyPr wrap="none" lIns="0" tIns="0" rIns="0" bIns="0" rtlCol="0">
            <a:spAutoFit/>
          </a:bodyPr>
          <a:lstStyle/>
          <a:p>
            <a:r>
              <a:rPr lang="en-US" dirty="0" smtClean="0"/>
              <a:t>Use time-varying value?</a:t>
            </a:r>
            <a:endParaRPr lang="en-US" dirty="0"/>
          </a:p>
        </p:txBody>
      </p:sp>
      <p:sp>
        <p:nvSpPr>
          <p:cNvPr id="158" name="TextBox 157"/>
          <p:cNvSpPr txBox="1"/>
          <p:nvPr/>
        </p:nvSpPr>
        <p:spPr>
          <a:xfrm>
            <a:off x="2508069" y="3407265"/>
            <a:ext cx="2647268" cy="192360"/>
          </a:xfrm>
          <a:prstGeom prst="rect">
            <a:avLst/>
          </a:prstGeom>
          <a:noFill/>
        </p:spPr>
        <p:txBody>
          <a:bodyPr wrap="square" lIns="0" tIns="0" rIns="0" bIns="0" rtlCol="0">
            <a:spAutoFit/>
          </a:bodyPr>
          <a:lstStyle/>
          <a:p>
            <a:pPr>
              <a:lnSpc>
                <a:spcPts val="1500"/>
              </a:lnSpc>
            </a:pPr>
            <a:r>
              <a:rPr lang="en-US" dirty="0" smtClean="0"/>
              <a:t>File for time-varying values</a:t>
            </a:r>
            <a:endParaRPr lang="en-US" dirty="0"/>
          </a:p>
        </p:txBody>
      </p:sp>
      <p:cxnSp>
        <p:nvCxnSpPr>
          <p:cNvPr id="159" name="Straight Connector 158"/>
          <p:cNvCxnSpPr>
            <a:stCxn id="157" idx="1"/>
          </p:cNvCxnSpPr>
          <p:nvPr/>
        </p:nvCxnSpPr>
        <p:spPr>
          <a:xfrm flipH="1">
            <a:off x="2333311" y="3100273"/>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flipH="1" flipV="1">
            <a:off x="2331805" y="3495696"/>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61" name="Rectangle 160"/>
          <p:cNvSpPr/>
          <p:nvPr/>
        </p:nvSpPr>
        <p:spPr>
          <a:xfrm>
            <a:off x="2049034" y="2966455"/>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162" name="Rectangle 161"/>
          <p:cNvSpPr/>
          <p:nvPr/>
        </p:nvSpPr>
        <p:spPr>
          <a:xfrm>
            <a:off x="4724444" y="3013367"/>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63" name="Rectangle 162"/>
          <p:cNvSpPr/>
          <p:nvPr/>
        </p:nvSpPr>
        <p:spPr>
          <a:xfrm>
            <a:off x="5013310" y="3400847"/>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64" name="Down Arrow 163"/>
          <p:cNvSpPr/>
          <p:nvPr/>
        </p:nvSpPr>
        <p:spPr>
          <a:xfrm>
            <a:off x="2077903" y="3237125"/>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5" name="TextBox 164"/>
          <p:cNvSpPr txBox="1"/>
          <p:nvPr/>
        </p:nvSpPr>
        <p:spPr>
          <a:xfrm>
            <a:off x="2498047" y="2626329"/>
            <a:ext cx="3117713" cy="276999"/>
          </a:xfrm>
          <a:prstGeom prst="rect">
            <a:avLst/>
          </a:prstGeom>
          <a:noFill/>
        </p:spPr>
        <p:txBody>
          <a:bodyPr wrap="none" lIns="0" tIns="0" rIns="0" bIns="0" rtlCol="0">
            <a:spAutoFit/>
          </a:bodyPr>
          <a:lstStyle/>
          <a:p>
            <a:r>
              <a:rPr lang="en-US" b="1" u="sng" dirty="0" smtClean="0"/>
              <a:t>Set Horizontal Wind Speed (m/s)</a:t>
            </a:r>
            <a:endParaRPr lang="en-US" b="1" u="sng" dirty="0"/>
          </a:p>
        </p:txBody>
      </p:sp>
      <p:sp>
        <p:nvSpPr>
          <p:cNvPr id="166" name="Rectangle 165"/>
          <p:cNvSpPr/>
          <p:nvPr/>
        </p:nvSpPr>
        <p:spPr>
          <a:xfrm>
            <a:off x="247853" y="3352968"/>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 name="TextBox 166"/>
          <p:cNvSpPr txBox="1"/>
          <p:nvPr/>
        </p:nvSpPr>
        <p:spPr>
          <a:xfrm>
            <a:off x="2177380" y="3350289"/>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168" name="TextBox 167"/>
          <p:cNvSpPr txBox="1"/>
          <p:nvPr/>
        </p:nvSpPr>
        <p:spPr>
          <a:xfrm>
            <a:off x="2508069" y="3793902"/>
            <a:ext cx="2647268" cy="192360"/>
          </a:xfrm>
          <a:prstGeom prst="rect">
            <a:avLst/>
          </a:prstGeom>
          <a:noFill/>
        </p:spPr>
        <p:txBody>
          <a:bodyPr wrap="square" lIns="0" tIns="0" rIns="0" bIns="0" rtlCol="0">
            <a:spAutoFit/>
          </a:bodyPr>
          <a:lstStyle/>
          <a:p>
            <a:pPr>
              <a:lnSpc>
                <a:spcPts val="1500"/>
              </a:lnSpc>
            </a:pPr>
            <a:r>
              <a:rPr lang="en-US" dirty="0" smtClean="0"/>
              <a:t>Field name for values</a:t>
            </a:r>
            <a:endParaRPr lang="en-US" dirty="0"/>
          </a:p>
        </p:txBody>
      </p:sp>
      <p:sp>
        <p:nvSpPr>
          <p:cNvPr id="169" name="Rectangle 168"/>
          <p:cNvSpPr/>
          <p:nvPr/>
        </p:nvSpPr>
        <p:spPr>
          <a:xfrm>
            <a:off x="4486634" y="379981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70" name="Rectangle 169"/>
          <p:cNvSpPr/>
          <p:nvPr/>
        </p:nvSpPr>
        <p:spPr>
          <a:xfrm>
            <a:off x="247853" y="3731779"/>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 name="Rectangle 170"/>
          <p:cNvSpPr/>
          <p:nvPr/>
        </p:nvSpPr>
        <p:spPr>
          <a:xfrm>
            <a:off x="2086839" y="3731779"/>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 name="Isosceles Triangle 171"/>
          <p:cNvSpPr/>
          <p:nvPr/>
        </p:nvSpPr>
        <p:spPr>
          <a:xfrm flipV="1">
            <a:off x="2125337" y="3840086"/>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73" name="Straight Connector 172"/>
          <p:cNvCxnSpPr/>
          <p:nvPr/>
        </p:nvCxnSpPr>
        <p:spPr>
          <a:xfrm flipH="1" flipV="1">
            <a:off x="2368796" y="3849971"/>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174" name="Straight Connector 173"/>
          <p:cNvCxnSpPr/>
          <p:nvPr/>
        </p:nvCxnSpPr>
        <p:spPr>
          <a:xfrm flipH="1" flipV="1">
            <a:off x="2364818" y="423017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75" name="Rectangle 174"/>
          <p:cNvSpPr/>
          <p:nvPr/>
        </p:nvSpPr>
        <p:spPr>
          <a:xfrm>
            <a:off x="1733249" y="4123317"/>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6" name="TextBox 175"/>
          <p:cNvSpPr txBox="1"/>
          <p:nvPr/>
        </p:nvSpPr>
        <p:spPr>
          <a:xfrm>
            <a:off x="2508069" y="4157885"/>
            <a:ext cx="2647268" cy="205184"/>
          </a:xfrm>
          <a:prstGeom prst="rect">
            <a:avLst/>
          </a:prstGeom>
          <a:noFill/>
        </p:spPr>
        <p:txBody>
          <a:bodyPr wrap="square" lIns="0" tIns="0" rIns="0" bIns="0" rtlCol="0">
            <a:spAutoFit/>
          </a:bodyPr>
          <a:lstStyle/>
          <a:p>
            <a:pPr>
              <a:lnSpc>
                <a:spcPts val="1500"/>
              </a:lnSpc>
            </a:pPr>
            <a:r>
              <a:rPr lang="en-US" dirty="0" smtClean="0"/>
              <a:t>Static value</a:t>
            </a:r>
            <a:endParaRPr lang="en-US" dirty="0"/>
          </a:p>
        </p:txBody>
      </p:sp>
      <p:sp>
        <p:nvSpPr>
          <p:cNvPr id="177" name="Rectangle 176"/>
          <p:cNvSpPr/>
          <p:nvPr/>
        </p:nvSpPr>
        <p:spPr>
          <a:xfrm>
            <a:off x="3593615" y="416194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78" name="Down Arrow 177"/>
          <p:cNvSpPr/>
          <p:nvPr/>
        </p:nvSpPr>
        <p:spPr>
          <a:xfrm>
            <a:off x="2077903" y="3625950"/>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9" name="TextBox 178"/>
          <p:cNvSpPr txBox="1"/>
          <p:nvPr/>
        </p:nvSpPr>
        <p:spPr>
          <a:xfrm>
            <a:off x="2498047" y="4776633"/>
            <a:ext cx="2248180" cy="276999"/>
          </a:xfrm>
          <a:prstGeom prst="rect">
            <a:avLst/>
          </a:prstGeom>
          <a:noFill/>
        </p:spPr>
        <p:txBody>
          <a:bodyPr wrap="none" lIns="0" tIns="0" rIns="0" bIns="0" rtlCol="0">
            <a:spAutoFit/>
          </a:bodyPr>
          <a:lstStyle/>
          <a:p>
            <a:r>
              <a:rPr lang="en-US" dirty="0" smtClean="0"/>
              <a:t>Use time-varying value?</a:t>
            </a:r>
            <a:endParaRPr lang="en-US" dirty="0"/>
          </a:p>
        </p:txBody>
      </p:sp>
      <p:sp>
        <p:nvSpPr>
          <p:cNvPr id="180" name="TextBox 179"/>
          <p:cNvSpPr txBox="1"/>
          <p:nvPr/>
        </p:nvSpPr>
        <p:spPr>
          <a:xfrm>
            <a:off x="2508069" y="5222125"/>
            <a:ext cx="2647268" cy="192360"/>
          </a:xfrm>
          <a:prstGeom prst="rect">
            <a:avLst/>
          </a:prstGeom>
          <a:noFill/>
        </p:spPr>
        <p:txBody>
          <a:bodyPr wrap="square" lIns="0" tIns="0" rIns="0" bIns="0" rtlCol="0">
            <a:spAutoFit/>
          </a:bodyPr>
          <a:lstStyle/>
          <a:p>
            <a:pPr>
              <a:lnSpc>
                <a:spcPts val="1500"/>
              </a:lnSpc>
            </a:pPr>
            <a:r>
              <a:rPr lang="en-US" dirty="0" smtClean="0"/>
              <a:t>File for time-varying values</a:t>
            </a:r>
            <a:endParaRPr lang="en-US" dirty="0"/>
          </a:p>
        </p:txBody>
      </p:sp>
      <p:cxnSp>
        <p:nvCxnSpPr>
          <p:cNvPr id="181" name="Straight Connector 180"/>
          <p:cNvCxnSpPr>
            <a:stCxn id="179" idx="1"/>
          </p:cNvCxnSpPr>
          <p:nvPr/>
        </p:nvCxnSpPr>
        <p:spPr>
          <a:xfrm flipH="1">
            <a:off x="2333311" y="4915133"/>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82" name="Straight Connector 181"/>
          <p:cNvCxnSpPr/>
          <p:nvPr/>
        </p:nvCxnSpPr>
        <p:spPr>
          <a:xfrm flipH="1" flipV="1">
            <a:off x="2331805" y="5310556"/>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83" name="Rectangle 182"/>
          <p:cNvSpPr/>
          <p:nvPr/>
        </p:nvSpPr>
        <p:spPr>
          <a:xfrm>
            <a:off x="2049034" y="4781315"/>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184" name="Rectangle 183"/>
          <p:cNvSpPr/>
          <p:nvPr/>
        </p:nvSpPr>
        <p:spPr>
          <a:xfrm>
            <a:off x="4724444" y="4828227"/>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85" name="Rectangle 184"/>
          <p:cNvSpPr/>
          <p:nvPr/>
        </p:nvSpPr>
        <p:spPr>
          <a:xfrm>
            <a:off x="5013310" y="5215707"/>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86" name="Down Arrow 185"/>
          <p:cNvSpPr/>
          <p:nvPr/>
        </p:nvSpPr>
        <p:spPr>
          <a:xfrm>
            <a:off x="2077903" y="5051985"/>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7" name="TextBox 186"/>
          <p:cNvSpPr txBox="1"/>
          <p:nvPr/>
        </p:nvSpPr>
        <p:spPr>
          <a:xfrm>
            <a:off x="2498047" y="4438607"/>
            <a:ext cx="2434000" cy="276999"/>
          </a:xfrm>
          <a:prstGeom prst="rect">
            <a:avLst/>
          </a:prstGeom>
          <a:noFill/>
        </p:spPr>
        <p:txBody>
          <a:bodyPr wrap="none" lIns="0" tIns="0" rIns="0" bIns="0" rtlCol="0">
            <a:spAutoFit/>
          </a:bodyPr>
          <a:lstStyle/>
          <a:p>
            <a:r>
              <a:rPr lang="en-US" b="1" u="sng" dirty="0" smtClean="0"/>
              <a:t>Set Wind Direction (</a:t>
            </a:r>
            <a:r>
              <a:rPr lang="en-US" b="1" u="sng" dirty="0" err="1" smtClean="0"/>
              <a:t>deg</a:t>
            </a:r>
            <a:r>
              <a:rPr lang="en-US" b="1" u="sng" dirty="0" smtClean="0"/>
              <a:t>)</a:t>
            </a:r>
            <a:endParaRPr lang="en-US" b="1" u="sng" dirty="0"/>
          </a:p>
        </p:txBody>
      </p:sp>
      <p:sp>
        <p:nvSpPr>
          <p:cNvPr id="188" name="Rectangle 187"/>
          <p:cNvSpPr/>
          <p:nvPr/>
        </p:nvSpPr>
        <p:spPr>
          <a:xfrm>
            <a:off x="247853" y="5167828"/>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9" name="TextBox 188"/>
          <p:cNvSpPr txBox="1"/>
          <p:nvPr/>
        </p:nvSpPr>
        <p:spPr>
          <a:xfrm>
            <a:off x="2177380" y="5165149"/>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190" name="TextBox 189"/>
          <p:cNvSpPr txBox="1"/>
          <p:nvPr/>
        </p:nvSpPr>
        <p:spPr>
          <a:xfrm>
            <a:off x="2508069" y="5608762"/>
            <a:ext cx="2647268" cy="192360"/>
          </a:xfrm>
          <a:prstGeom prst="rect">
            <a:avLst/>
          </a:prstGeom>
          <a:noFill/>
        </p:spPr>
        <p:txBody>
          <a:bodyPr wrap="square" lIns="0" tIns="0" rIns="0" bIns="0" rtlCol="0">
            <a:spAutoFit/>
          </a:bodyPr>
          <a:lstStyle/>
          <a:p>
            <a:pPr>
              <a:lnSpc>
                <a:spcPts val="1500"/>
              </a:lnSpc>
            </a:pPr>
            <a:r>
              <a:rPr lang="en-US" dirty="0" smtClean="0"/>
              <a:t>Field name for values</a:t>
            </a:r>
            <a:endParaRPr lang="en-US" dirty="0"/>
          </a:p>
        </p:txBody>
      </p:sp>
      <p:sp>
        <p:nvSpPr>
          <p:cNvPr id="191" name="Rectangle 190"/>
          <p:cNvSpPr/>
          <p:nvPr/>
        </p:nvSpPr>
        <p:spPr>
          <a:xfrm>
            <a:off x="4486634" y="561467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2" name="Rectangle 191"/>
          <p:cNvSpPr/>
          <p:nvPr/>
        </p:nvSpPr>
        <p:spPr>
          <a:xfrm>
            <a:off x="247853" y="5546639"/>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3" name="Rectangle 192"/>
          <p:cNvSpPr/>
          <p:nvPr/>
        </p:nvSpPr>
        <p:spPr>
          <a:xfrm>
            <a:off x="2086839" y="5546639"/>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4" name="Isosceles Triangle 193"/>
          <p:cNvSpPr/>
          <p:nvPr/>
        </p:nvSpPr>
        <p:spPr>
          <a:xfrm flipV="1">
            <a:off x="2125337" y="5654946"/>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95" name="Straight Connector 194"/>
          <p:cNvCxnSpPr/>
          <p:nvPr/>
        </p:nvCxnSpPr>
        <p:spPr>
          <a:xfrm flipH="1" flipV="1">
            <a:off x="2368796" y="5664831"/>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196" name="Straight Connector 195"/>
          <p:cNvCxnSpPr/>
          <p:nvPr/>
        </p:nvCxnSpPr>
        <p:spPr>
          <a:xfrm flipH="1" flipV="1">
            <a:off x="2364818" y="604503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97" name="Rectangle 196"/>
          <p:cNvSpPr/>
          <p:nvPr/>
        </p:nvSpPr>
        <p:spPr>
          <a:xfrm>
            <a:off x="1733249" y="5938177"/>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8" name="TextBox 197"/>
          <p:cNvSpPr txBox="1"/>
          <p:nvPr/>
        </p:nvSpPr>
        <p:spPr>
          <a:xfrm>
            <a:off x="2508069" y="5972745"/>
            <a:ext cx="2647268" cy="205184"/>
          </a:xfrm>
          <a:prstGeom prst="rect">
            <a:avLst/>
          </a:prstGeom>
          <a:noFill/>
        </p:spPr>
        <p:txBody>
          <a:bodyPr wrap="square" lIns="0" tIns="0" rIns="0" bIns="0" rtlCol="0">
            <a:spAutoFit/>
          </a:bodyPr>
          <a:lstStyle/>
          <a:p>
            <a:pPr>
              <a:lnSpc>
                <a:spcPts val="1500"/>
              </a:lnSpc>
            </a:pPr>
            <a:r>
              <a:rPr lang="en-US" dirty="0" smtClean="0"/>
              <a:t>Static value</a:t>
            </a:r>
            <a:endParaRPr lang="en-US" dirty="0"/>
          </a:p>
        </p:txBody>
      </p:sp>
      <p:sp>
        <p:nvSpPr>
          <p:cNvPr id="199" name="Rectangle 198"/>
          <p:cNvSpPr/>
          <p:nvPr/>
        </p:nvSpPr>
        <p:spPr>
          <a:xfrm>
            <a:off x="3593615" y="597680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00" name="Down Arrow 199"/>
          <p:cNvSpPr/>
          <p:nvPr/>
        </p:nvSpPr>
        <p:spPr>
          <a:xfrm>
            <a:off x="2077903" y="5440810"/>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2" name="TextBox 281"/>
          <p:cNvSpPr txBox="1"/>
          <p:nvPr/>
        </p:nvSpPr>
        <p:spPr>
          <a:xfrm>
            <a:off x="7428653" y="1091929"/>
            <a:ext cx="2248180" cy="276999"/>
          </a:xfrm>
          <a:prstGeom prst="rect">
            <a:avLst/>
          </a:prstGeom>
          <a:noFill/>
        </p:spPr>
        <p:txBody>
          <a:bodyPr wrap="none" lIns="0" tIns="0" rIns="0" bIns="0" rtlCol="0">
            <a:spAutoFit/>
          </a:bodyPr>
          <a:lstStyle/>
          <a:p>
            <a:pPr algn="r"/>
            <a:r>
              <a:rPr lang="en-US" dirty="0" smtClean="0"/>
              <a:t>Use time-varying value?</a:t>
            </a:r>
            <a:endParaRPr lang="en-US" dirty="0"/>
          </a:p>
        </p:txBody>
      </p:sp>
      <p:sp>
        <p:nvSpPr>
          <p:cNvPr id="283" name="TextBox 282"/>
          <p:cNvSpPr txBox="1"/>
          <p:nvPr/>
        </p:nvSpPr>
        <p:spPr>
          <a:xfrm>
            <a:off x="7054627" y="1537421"/>
            <a:ext cx="2647268" cy="192360"/>
          </a:xfrm>
          <a:prstGeom prst="rect">
            <a:avLst/>
          </a:prstGeom>
          <a:noFill/>
        </p:spPr>
        <p:txBody>
          <a:bodyPr wrap="square" lIns="0" tIns="0" rIns="0" bIns="0" rtlCol="0">
            <a:spAutoFit/>
          </a:bodyPr>
          <a:lstStyle/>
          <a:p>
            <a:pPr algn="r">
              <a:lnSpc>
                <a:spcPts val="1500"/>
              </a:lnSpc>
            </a:pPr>
            <a:r>
              <a:rPr lang="en-US" dirty="0" smtClean="0"/>
              <a:t>File for time-varying values</a:t>
            </a:r>
            <a:endParaRPr lang="en-US" dirty="0"/>
          </a:p>
        </p:txBody>
      </p:sp>
      <p:cxnSp>
        <p:nvCxnSpPr>
          <p:cNvPr id="284" name="Straight Connector 283"/>
          <p:cNvCxnSpPr/>
          <p:nvPr/>
        </p:nvCxnSpPr>
        <p:spPr>
          <a:xfrm flipH="1">
            <a:off x="9691118" y="1226495"/>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285" name="Straight Connector 284"/>
          <p:cNvCxnSpPr/>
          <p:nvPr/>
        </p:nvCxnSpPr>
        <p:spPr>
          <a:xfrm flipH="1" flipV="1">
            <a:off x="9701895" y="163047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86" name="Rectangle 285"/>
          <p:cNvSpPr/>
          <p:nvPr/>
        </p:nvSpPr>
        <p:spPr>
          <a:xfrm>
            <a:off x="9877795" y="1080444"/>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287" name="Rectangle 286"/>
          <p:cNvSpPr/>
          <p:nvPr/>
        </p:nvSpPr>
        <p:spPr>
          <a:xfrm>
            <a:off x="7266801" y="1143146"/>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88" name="Rectangle 287"/>
          <p:cNvSpPr/>
          <p:nvPr/>
        </p:nvSpPr>
        <p:spPr>
          <a:xfrm>
            <a:off x="7005230" y="153822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89" name="Down Arrow 288"/>
          <p:cNvSpPr/>
          <p:nvPr/>
        </p:nvSpPr>
        <p:spPr>
          <a:xfrm>
            <a:off x="9897520" y="1351114"/>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0" name="TextBox 289"/>
          <p:cNvSpPr txBox="1"/>
          <p:nvPr/>
        </p:nvSpPr>
        <p:spPr>
          <a:xfrm>
            <a:off x="7628400" y="827319"/>
            <a:ext cx="2073773" cy="276999"/>
          </a:xfrm>
          <a:prstGeom prst="rect">
            <a:avLst/>
          </a:prstGeom>
          <a:noFill/>
        </p:spPr>
        <p:txBody>
          <a:bodyPr wrap="none" lIns="0" tIns="0" rIns="0" bIns="0" rtlCol="0">
            <a:spAutoFit/>
          </a:bodyPr>
          <a:lstStyle/>
          <a:p>
            <a:pPr algn="r"/>
            <a:r>
              <a:rPr lang="en-US" b="1" u="sng" dirty="0" smtClean="0"/>
              <a:t>Set Mixing Height (m)</a:t>
            </a:r>
            <a:endParaRPr lang="en-US" b="1" u="sng" dirty="0"/>
          </a:p>
        </p:txBody>
      </p:sp>
      <p:sp>
        <p:nvSpPr>
          <p:cNvPr id="291" name="Rectangle 290"/>
          <p:cNvSpPr/>
          <p:nvPr/>
        </p:nvSpPr>
        <p:spPr>
          <a:xfrm>
            <a:off x="9864598" y="1466957"/>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2" name="TextBox 291"/>
          <p:cNvSpPr txBox="1"/>
          <p:nvPr/>
        </p:nvSpPr>
        <p:spPr>
          <a:xfrm>
            <a:off x="9862579" y="1463926"/>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293" name="TextBox 292"/>
          <p:cNvSpPr txBox="1"/>
          <p:nvPr/>
        </p:nvSpPr>
        <p:spPr>
          <a:xfrm>
            <a:off x="7054627" y="1924058"/>
            <a:ext cx="2647268" cy="192360"/>
          </a:xfrm>
          <a:prstGeom prst="rect">
            <a:avLst/>
          </a:prstGeom>
          <a:noFill/>
        </p:spPr>
        <p:txBody>
          <a:bodyPr wrap="square" lIns="0" tIns="0" rIns="0" bIns="0" rtlCol="0">
            <a:spAutoFit/>
          </a:bodyPr>
          <a:lstStyle/>
          <a:p>
            <a:pPr algn="r">
              <a:lnSpc>
                <a:spcPts val="1500"/>
              </a:lnSpc>
            </a:pPr>
            <a:r>
              <a:rPr lang="en-US" dirty="0" smtClean="0"/>
              <a:t>Field name for values</a:t>
            </a:r>
            <a:endParaRPr lang="en-US" dirty="0"/>
          </a:p>
        </p:txBody>
      </p:sp>
      <p:sp>
        <p:nvSpPr>
          <p:cNvPr id="294" name="Rectangle 293"/>
          <p:cNvSpPr/>
          <p:nvPr/>
        </p:nvSpPr>
        <p:spPr>
          <a:xfrm>
            <a:off x="7527662" y="1920623"/>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95" name="Rectangle 294"/>
          <p:cNvSpPr/>
          <p:nvPr/>
        </p:nvSpPr>
        <p:spPr>
          <a:xfrm>
            <a:off x="9864598" y="1845768"/>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6" name="Rectangle 295"/>
          <p:cNvSpPr/>
          <p:nvPr/>
        </p:nvSpPr>
        <p:spPr>
          <a:xfrm>
            <a:off x="9865850" y="1845416"/>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7" name="Isosceles Triangle 296"/>
          <p:cNvSpPr/>
          <p:nvPr/>
        </p:nvSpPr>
        <p:spPr>
          <a:xfrm flipV="1">
            <a:off x="9904348" y="1953723"/>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98" name="Straight Connector 297"/>
          <p:cNvCxnSpPr/>
          <p:nvPr/>
        </p:nvCxnSpPr>
        <p:spPr>
          <a:xfrm flipH="1" flipV="1">
            <a:off x="9704637" y="1976381"/>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99" name="Straight Connector 298"/>
          <p:cNvCxnSpPr/>
          <p:nvPr/>
        </p:nvCxnSpPr>
        <p:spPr>
          <a:xfrm flipH="1" flipV="1">
            <a:off x="9718947" y="235658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300" name="Rectangle 299"/>
          <p:cNvSpPr/>
          <p:nvPr/>
        </p:nvSpPr>
        <p:spPr>
          <a:xfrm>
            <a:off x="9855854" y="2248531"/>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1" name="TextBox 300"/>
          <p:cNvSpPr txBox="1"/>
          <p:nvPr/>
        </p:nvSpPr>
        <p:spPr>
          <a:xfrm>
            <a:off x="7054627" y="2288041"/>
            <a:ext cx="2647268" cy="192360"/>
          </a:xfrm>
          <a:prstGeom prst="rect">
            <a:avLst/>
          </a:prstGeom>
          <a:noFill/>
        </p:spPr>
        <p:txBody>
          <a:bodyPr wrap="square" lIns="0" tIns="0" rIns="0" bIns="0" rtlCol="0">
            <a:spAutoFit/>
          </a:bodyPr>
          <a:lstStyle/>
          <a:p>
            <a:pPr algn="r">
              <a:lnSpc>
                <a:spcPts val="1500"/>
              </a:lnSpc>
            </a:pPr>
            <a:r>
              <a:rPr lang="en-US" dirty="0" smtClean="0"/>
              <a:t>Static value</a:t>
            </a:r>
            <a:endParaRPr lang="en-US" dirty="0"/>
          </a:p>
        </p:txBody>
      </p:sp>
      <p:sp>
        <p:nvSpPr>
          <p:cNvPr id="302" name="Rectangle 301"/>
          <p:cNvSpPr/>
          <p:nvPr/>
        </p:nvSpPr>
        <p:spPr>
          <a:xfrm>
            <a:off x="8464607" y="227304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303" name="Down Arrow 302"/>
          <p:cNvSpPr/>
          <p:nvPr/>
        </p:nvSpPr>
        <p:spPr>
          <a:xfrm>
            <a:off x="9897520" y="1739939"/>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4" name="TextBox 303"/>
          <p:cNvSpPr txBox="1"/>
          <p:nvPr/>
        </p:nvSpPr>
        <p:spPr>
          <a:xfrm>
            <a:off x="7428653" y="2905912"/>
            <a:ext cx="2248180" cy="276999"/>
          </a:xfrm>
          <a:prstGeom prst="rect">
            <a:avLst/>
          </a:prstGeom>
          <a:noFill/>
        </p:spPr>
        <p:txBody>
          <a:bodyPr wrap="none" lIns="0" tIns="0" rIns="0" bIns="0" rtlCol="0">
            <a:spAutoFit/>
          </a:bodyPr>
          <a:lstStyle/>
          <a:p>
            <a:pPr algn="r"/>
            <a:r>
              <a:rPr lang="en-US" dirty="0" smtClean="0"/>
              <a:t>Use time-varying value?</a:t>
            </a:r>
            <a:endParaRPr lang="en-US" dirty="0"/>
          </a:p>
        </p:txBody>
      </p:sp>
      <p:sp>
        <p:nvSpPr>
          <p:cNvPr id="305" name="TextBox 304"/>
          <p:cNvSpPr txBox="1"/>
          <p:nvPr/>
        </p:nvSpPr>
        <p:spPr>
          <a:xfrm>
            <a:off x="7054627" y="3351404"/>
            <a:ext cx="2647268" cy="192360"/>
          </a:xfrm>
          <a:prstGeom prst="rect">
            <a:avLst/>
          </a:prstGeom>
          <a:noFill/>
        </p:spPr>
        <p:txBody>
          <a:bodyPr wrap="square" lIns="0" tIns="0" rIns="0" bIns="0" rtlCol="0">
            <a:spAutoFit/>
          </a:bodyPr>
          <a:lstStyle/>
          <a:p>
            <a:pPr algn="r">
              <a:lnSpc>
                <a:spcPts val="1500"/>
              </a:lnSpc>
            </a:pPr>
            <a:r>
              <a:rPr lang="en-US" dirty="0" smtClean="0"/>
              <a:t>File for time-varying values</a:t>
            </a:r>
            <a:endParaRPr lang="en-US" dirty="0"/>
          </a:p>
        </p:txBody>
      </p:sp>
      <p:cxnSp>
        <p:nvCxnSpPr>
          <p:cNvPr id="306" name="Straight Connector 305"/>
          <p:cNvCxnSpPr/>
          <p:nvPr/>
        </p:nvCxnSpPr>
        <p:spPr>
          <a:xfrm flipH="1">
            <a:off x="9714872" y="3040666"/>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307" name="Straight Connector 306"/>
          <p:cNvCxnSpPr/>
          <p:nvPr/>
        </p:nvCxnSpPr>
        <p:spPr>
          <a:xfrm flipH="1" flipV="1">
            <a:off x="9713366" y="3436089"/>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308" name="Rectangle 307"/>
          <p:cNvSpPr/>
          <p:nvPr/>
        </p:nvSpPr>
        <p:spPr>
          <a:xfrm>
            <a:off x="9868651" y="2894427"/>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309" name="Rectangle 308"/>
          <p:cNvSpPr/>
          <p:nvPr/>
        </p:nvSpPr>
        <p:spPr>
          <a:xfrm>
            <a:off x="7266801" y="295712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310" name="Rectangle 309"/>
          <p:cNvSpPr/>
          <p:nvPr/>
        </p:nvSpPr>
        <p:spPr>
          <a:xfrm>
            <a:off x="7022174" y="336525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311" name="Down Arrow 310"/>
          <p:cNvSpPr/>
          <p:nvPr/>
        </p:nvSpPr>
        <p:spPr>
          <a:xfrm>
            <a:off x="9897520" y="3183385"/>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2" name="TextBox 311"/>
          <p:cNvSpPr txBox="1"/>
          <p:nvPr/>
        </p:nvSpPr>
        <p:spPr>
          <a:xfrm>
            <a:off x="6260703" y="2569990"/>
            <a:ext cx="3473643" cy="276999"/>
          </a:xfrm>
          <a:prstGeom prst="rect">
            <a:avLst/>
          </a:prstGeom>
          <a:noFill/>
        </p:spPr>
        <p:txBody>
          <a:bodyPr wrap="none" lIns="0" tIns="0" rIns="0" bIns="0" rtlCol="0">
            <a:spAutoFit/>
          </a:bodyPr>
          <a:lstStyle/>
          <a:p>
            <a:pPr algn="r"/>
            <a:r>
              <a:rPr lang="en-US" b="1" u="sng" dirty="0" smtClean="0"/>
              <a:t>Set Daytime Indicator (yes=1, no=0)</a:t>
            </a:r>
            <a:endParaRPr lang="en-US" b="1" u="sng" dirty="0"/>
          </a:p>
        </p:txBody>
      </p:sp>
      <p:sp>
        <p:nvSpPr>
          <p:cNvPr id="315" name="TextBox 314"/>
          <p:cNvSpPr txBox="1"/>
          <p:nvPr/>
        </p:nvSpPr>
        <p:spPr>
          <a:xfrm>
            <a:off x="7054627" y="3738041"/>
            <a:ext cx="2647268" cy="192360"/>
          </a:xfrm>
          <a:prstGeom prst="rect">
            <a:avLst/>
          </a:prstGeom>
          <a:noFill/>
        </p:spPr>
        <p:txBody>
          <a:bodyPr wrap="square" lIns="0" tIns="0" rIns="0" bIns="0" rtlCol="0">
            <a:spAutoFit/>
          </a:bodyPr>
          <a:lstStyle/>
          <a:p>
            <a:pPr algn="r">
              <a:lnSpc>
                <a:spcPts val="1500"/>
              </a:lnSpc>
            </a:pPr>
            <a:r>
              <a:rPr lang="en-US" dirty="0" smtClean="0"/>
              <a:t>Field name for values</a:t>
            </a:r>
            <a:endParaRPr lang="en-US" dirty="0"/>
          </a:p>
        </p:txBody>
      </p:sp>
      <p:sp>
        <p:nvSpPr>
          <p:cNvPr id="316" name="Rectangle 315"/>
          <p:cNvSpPr/>
          <p:nvPr/>
        </p:nvSpPr>
        <p:spPr>
          <a:xfrm>
            <a:off x="7511562" y="3744203"/>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cxnSp>
        <p:nvCxnSpPr>
          <p:cNvPr id="320" name="Straight Connector 319"/>
          <p:cNvCxnSpPr/>
          <p:nvPr/>
        </p:nvCxnSpPr>
        <p:spPr>
          <a:xfrm flipH="1" flipV="1">
            <a:off x="9732069" y="3790364"/>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321" name="Straight Connector 320"/>
          <p:cNvCxnSpPr/>
          <p:nvPr/>
        </p:nvCxnSpPr>
        <p:spPr>
          <a:xfrm flipH="1" flipV="1">
            <a:off x="9711553" y="4168823"/>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323" name="TextBox 322"/>
          <p:cNvSpPr txBox="1"/>
          <p:nvPr/>
        </p:nvSpPr>
        <p:spPr>
          <a:xfrm>
            <a:off x="7054627" y="4102024"/>
            <a:ext cx="2647268" cy="192360"/>
          </a:xfrm>
          <a:prstGeom prst="rect">
            <a:avLst/>
          </a:prstGeom>
          <a:noFill/>
        </p:spPr>
        <p:txBody>
          <a:bodyPr wrap="square" lIns="0" tIns="0" rIns="0" bIns="0" rtlCol="0">
            <a:spAutoFit/>
          </a:bodyPr>
          <a:lstStyle/>
          <a:p>
            <a:pPr algn="r">
              <a:lnSpc>
                <a:spcPts val="1500"/>
              </a:lnSpc>
            </a:pPr>
            <a:r>
              <a:rPr lang="en-US" dirty="0" smtClean="0"/>
              <a:t>Static value</a:t>
            </a:r>
            <a:endParaRPr lang="en-US" dirty="0"/>
          </a:p>
        </p:txBody>
      </p:sp>
      <p:sp>
        <p:nvSpPr>
          <p:cNvPr id="324" name="Rectangle 323"/>
          <p:cNvSpPr/>
          <p:nvPr/>
        </p:nvSpPr>
        <p:spPr>
          <a:xfrm>
            <a:off x="8465562" y="4109430"/>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325" name="Down Arrow 324"/>
          <p:cNvSpPr/>
          <p:nvPr/>
        </p:nvSpPr>
        <p:spPr>
          <a:xfrm>
            <a:off x="9897520" y="3563066"/>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6" name="Rectangle 325"/>
          <p:cNvSpPr/>
          <p:nvPr/>
        </p:nvSpPr>
        <p:spPr>
          <a:xfrm>
            <a:off x="9871323" y="3296679"/>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 name="TextBox 326"/>
          <p:cNvSpPr txBox="1"/>
          <p:nvPr/>
        </p:nvSpPr>
        <p:spPr>
          <a:xfrm>
            <a:off x="9869304" y="3302792"/>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328" name="Rectangle 327"/>
          <p:cNvSpPr/>
          <p:nvPr/>
        </p:nvSpPr>
        <p:spPr>
          <a:xfrm>
            <a:off x="9871323" y="3675490"/>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 name="Rectangle 328"/>
          <p:cNvSpPr/>
          <p:nvPr/>
        </p:nvSpPr>
        <p:spPr>
          <a:xfrm>
            <a:off x="9872575" y="3675138"/>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 name="Isosceles Triangle 329"/>
          <p:cNvSpPr/>
          <p:nvPr/>
        </p:nvSpPr>
        <p:spPr>
          <a:xfrm flipV="1">
            <a:off x="9911073" y="3783445"/>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1" name="Rectangle 330"/>
          <p:cNvSpPr/>
          <p:nvPr/>
        </p:nvSpPr>
        <p:spPr>
          <a:xfrm>
            <a:off x="9862579" y="4078253"/>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 name="Rounded Rectangle 114"/>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ction Button: Forward or Next 115">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 name="Action Button: Back or Previous 116">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18" name="Picture 4" descr="Image result for save button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2" descr="Image result for exit graphic GU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
        <p:nvSpPr>
          <p:cNvPr id="120" name="TextBox 119"/>
          <p:cNvSpPr txBox="1"/>
          <p:nvPr/>
        </p:nvSpPr>
        <p:spPr>
          <a:xfrm>
            <a:off x="8125606" y="5846216"/>
            <a:ext cx="4042611" cy="95410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dirty="0" smtClean="0">
                <a:latin typeface="Arial Narrow" panose="020B0606020202030204" pitchFamily="34" charset="0"/>
              </a:rPr>
              <a:t>The met screens could come a little later if wanted, but must be before soil and water properties. Also, can ask the user if all met data are in one file, to avoid asking for the file 6 different times…</a:t>
            </a:r>
            <a:endParaRPr lang="en-US" sz="1400" dirty="0">
              <a:latin typeface="Arial Narrow" panose="020B0606020202030204" pitchFamily="34" charset="0"/>
            </a:endParaRPr>
          </a:p>
        </p:txBody>
      </p:sp>
    </p:spTree>
    <p:extLst>
      <p:ext uri="{BB962C8B-B14F-4D97-AF65-F5344CB8AC3E}">
        <p14:creationId xmlns:p14="http://schemas.microsoft.com/office/powerpoint/2010/main" val="3019653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2703147" y="-95130"/>
            <a:ext cx="6824369" cy="923330"/>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Meteorological Settings</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smtClean="0"/>
              <a:t>3b</a:t>
            </a:r>
            <a:endParaRPr lang="en-US" dirty="0"/>
          </a:p>
        </p:txBody>
      </p:sp>
      <p:sp>
        <p:nvSpPr>
          <p:cNvPr id="47" name="Rounded Rectangle 46"/>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TextBox 223"/>
          <p:cNvSpPr txBox="1"/>
          <p:nvPr/>
        </p:nvSpPr>
        <p:spPr>
          <a:xfrm>
            <a:off x="2491939" y="1148899"/>
            <a:ext cx="2248180" cy="276999"/>
          </a:xfrm>
          <a:prstGeom prst="rect">
            <a:avLst/>
          </a:prstGeom>
          <a:noFill/>
        </p:spPr>
        <p:txBody>
          <a:bodyPr wrap="none" lIns="0" tIns="0" rIns="0" bIns="0" rtlCol="0">
            <a:spAutoFit/>
          </a:bodyPr>
          <a:lstStyle/>
          <a:p>
            <a:r>
              <a:rPr lang="en-US" dirty="0" smtClean="0"/>
              <a:t>Use time-varying value?</a:t>
            </a:r>
            <a:endParaRPr lang="en-US" dirty="0"/>
          </a:p>
        </p:txBody>
      </p:sp>
      <p:sp>
        <p:nvSpPr>
          <p:cNvPr id="225" name="TextBox 224"/>
          <p:cNvSpPr txBox="1"/>
          <p:nvPr/>
        </p:nvSpPr>
        <p:spPr>
          <a:xfrm>
            <a:off x="2491939" y="1647262"/>
            <a:ext cx="2647268" cy="205184"/>
          </a:xfrm>
          <a:prstGeom prst="rect">
            <a:avLst/>
          </a:prstGeom>
          <a:noFill/>
        </p:spPr>
        <p:txBody>
          <a:bodyPr wrap="square" lIns="0" tIns="0" rIns="0" bIns="0" rtlCol="0">
            <a:spAutoFit/>
          </a:bodyPr>
          <a:lstStyle/>
          <a:p>
            <a:pPr>
              <a:lnSpc>
                <a:spcPts val="1500"/>
              </a:lnSpc>
            </a:pPr>
            <a:r>
              <a:rPr lang="en-US" dirty="0" smtClean="0"/>
              <a:t>File for time-varying values</a:t>
            </a:r>
            <a:endParaRPr lang="en-US" dirty="0"/>
          </a:p>
        </p:txBody>
      </p:sp>
      <p:cxnSp>
        <p:nvCxnSpPr>
          <p:cNvPr id="226" name="Straight Connector 225"/>
          <p:cNvCxnSpPr/>
          <p:nvPr/>
        </p:nvCxnSpPr>
        <p:spPr>
          <a:xfrm flipH="1">
            <a:off x="2330111" y="1287399"/>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227" name="Straight Connector 226"/>
          <p:cNvCxnSpPr/>
          <p:nvPr/>
        </p:nvCxnSpPr>
        <p:spPr>
          <a:xfrm flipH="1" flipV="1">
            <a:off x="2334147" y="171259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28" name="Rectangle 227"/>
          <p:cNvSpPr/>
          <p:nvPr/>
        </p:nvSpPr>
        <p:spPr>
          <a:xfrm>
            <a:off x="2016945" y="1159149"/>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229" name="Rectangle 228"/>
          <p:cNvSpPr/>
          <p:nvPr/>
        </p:nvSpPr>
        <p:spPr>
          <a:xfrm>
            <a:off x="4719829" y="121458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30" name="Rectangle 229"/>
          <p:cNvSpPr/>
          <p:nvPr/>
        </p:nvSpPr>
        <p:spPr>
          <a:xfrm>
            <a:off x="5046868" y="1663910"/>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31" name="Down Arrow 230"/>
          <p:cNvSpPr/>
          <p:nvPr/>
        </p:nvSpPr>
        <p:spPr>
          <a:xfrm>
            <a:off x="2007801" y="1433469"/>
            <a:ext cx="274320" cy="159097"/>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2" name="TextBox 231"/>
          <p:cNvSpPr txBox="1"/>
          <p:nvPr/>
        </p:nvSpPr>
        <p:spPr>
          <a:xfrm>
            <a:off x="2427786" y="848711"/>
            <a:ext cx="3096361" cy="276999"/>
          </a:xfrm>
          <a:prstGeom prst="rect">
            <a:avLst/>
          </a:prstGeom>
          <a:noFill/>
        </p:spPr>
        <p:txBody>
          <a:bodyPr wrap="none" lIns="0" tIns="0" rIns="0" bIns="0" rtlCol="0">
            <a:spAutoFit/>
          </a:bodyPr>
          <a:lstStyle/>
          <a:p>
            <a:pPr algn="r"/>
            <a:r>
              <a:rPr lang="en-US" b="1" u="sng" dirty="0" smtClean="0"/>
              <a:t>Set Precipitation and Movement</a:t>
            </a:r>
            <a:endParaRPr lang="en-US" b="1" u="sng" dirty="0"/>
          </a:p>
        </p:txBody>
      </p:sp>
      <p:sp>
        <p:nvSpPr>
          <p:cNvPr id="233" name="Rectangle 232"/>
          <p:cNvSpPr/>
          <p:nvPr/>
        </p:nvSpPr>
        <p:spPr>
          <a:xfrm>
            <a:off x="214348" y="1602596"/>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4" name="TextBox 233"/>
          <p:cNvSpPr txBox="1"/>
          <p:nvPr/>
        </p:nvSpPr>
        <p:spPr>
          <a:xfrm>
            <a:off x="2168149" y="1601384"/>
            <a:ext cx="149317"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235" name="TextBox 234"/>
          <p:cNvSpPr txBox="1"/>
          <p:nvPr/>
        </p:nvSpPr>
        <p:spPr>
          <a:xfrm>
            <a:off x="2482795" y="2054570"/>
            <a:ext cx="2647268" cy="397545"/>
          </a:xfrm>
          <a:prstGeom prst="rect">
            <a:avLst/>
          </a:prstGeom>
          <a:noFill/>
        </p:spPr>
        <p:txBody>
          <a:bodyPr wrap="square" lIns="0" tIns="0" rIns="0" bIns="0" rtlCol="0">
            <a:spAutoFit/>
          </a:bodyPr>
          <a:lstStyle/>
          <a:p>
            <a:pPr>
              <a:lnSpc>
                <a:spcPts val="1500"/>
              </a:lnSpc>
            </a:pPr>
            <a:r>
              <a:rPr lang="en-US" dirty="0" smtClean="0"/>
              <a:t>Field name for values of precipitation rate</a:t>
            </a:r>
            <a:endParaRPr lang="en-US" dirty="0"/>
          </a:p>
        </p:txBody>
      </p:sp>
      <p:sp>
        <p:nvSpPr>
          <p:cNvPr id="236" name="Rectangle 235"/>
          <p:cNvSpPr/>
          <p:nvPr/>
        </p:nvSpPr>
        <p:spPr>
          <a:xfrm>
            <a:off x="4761623" y="2066226"/>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37" name="Rectangle 236"/>
          <p:cNvSpPr/>
          <p:nvPr/>
        </p:nvSpPr>
        <p:spPr>
          <a:xfrm>
            <a:off x="221878" y="2036971"/>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8" name="Rectangle 237"/>
          <p:cNvSpPr/>
          <p:nvPr/>
        </p:nvSpPr>
        <p:spPr>
          <a:xfrm>
            <a:off x="2029518" y="2038916"/>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9" name="Isosceles Triangle 238"/>
          <p:cNvSpPr/>
          <p:nvPr/>
        </p:nvSpPr>
        <p:spPr>
          <a:xfrm flipV="1">
            <a:off x="2068016" y="2147223"/>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0" name="Straight Connector 239"/>
          <p:cNvCxnSpPr/>
          <p:nvPr/>
        </p:nvCxnSpPr>
        <p:spPr>
          <a:xfrm flipH="1" flipV="1">
            <a:off x="2318708" y="2129410"/>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41" name="Straight Connector 240"/>
          <p:cNvCxnSpPr/>
          <p:nvPr/>
        </p:nvCxnSpPr>
        <p:spPr>
          <a:xfrm flipH="1" flipV="1">
            <a:off x="2316553" y="307721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42" name="Rectangle 241"/>
          <p:cNvSpPr/>
          <p:nvPr/>
        </p:nvSpPr>
        <p:spPr>
          <a:xfrm>
            <a:off x="1689422" y="2975654"/>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3" name="TextBox 242"/>
          <p:cNvSpPr txBox="1"/>
          <p:nvPr/>
        </p:nvSpPr>
        <p:spPr>
          <a:xfrm>
            <a:off x="2482795" y="3004493"/>
            <a:ext cx="2647268" cy="397545"/>
          </a:xfrm>
          <a:prstGeom prst="rect">
            <a:avLst/>
          </a:prstGeom>
          <a:noFill/>
        </p:spPr>
        <p:txBody>
          <a:bodyPr wrap="square" lIns="0" tIns="0" rIns="0" bIns="0" rtlCol="0">
            <a:spAutoFit/>
          </a:bodyPr>
          <a:lstStyle/>
          <a:p>
            <a:pPr>
              <a:lnSpc>
                <a:spcPts val="1500"/>
              </a:lnSpc>
            </a:pPr>
            <a:r>
              <a:rPr lang="en-US" dirty="0" smtClean="0"/>
              <a:t>Static value for precipitation rate (m/d)</a:t>
            </a:r>
            <a:endParaRPr lang="en-US" dirty="0"/>
          </a:p>
        </p:txBody>
      </p:sp>
      <p:sp>
        <p:nvSpPr>
          <p:cNvPr id="244" name="Rectangle 243"/>
          <p:cNvSpPr/>
          <p:nvPr/>
        </p:nvSpPr>
        <p:spPr>
          <a:xfrm>
            <a:off x="5115698" y="3026213"/>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45" name="Down Arrow 244"/>
          <p:cNvSpPr/>
          <p:nvPr/>
        </p:nvSpPr>
        <p:spPr>
          <a:xfrm>
            <a:off x="2007801" y="1876916"/>
            <a:ext cx="274320" cy="154027"/>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6" name="TextBox 245"/>
          <p:cNvSpPr txBox="1"/>
          <p:nvPr/>
        </p:nvSpPr>
        <p:spPr>
          <a:xfrm>
            <a:off x="2491939" y="2523118"/>
            <a:ext cx="2647268" cy="397545"/>
          </a:xfrm>
          <a:prstGeom prst="rect">
            <a:avLst/>
          </a:prstGeom>
          <a:noFill/>
        </p:spPr>
        <p:txBody>
          <a:bodyPr wrap="square" lIns="0" tIns="0" rIns="0" bIns="0" rtlCol="0">
            <a:spAutoFit/>
          </a:bodyPr>
          <a:lstStyle/>
          <a:p>
            <a:pPr>
              <a:lnSpc>
                <a:spcPts val="1500"/>
              </a:lnSpc>
            </a:pPr>
            <a:r>
              <a:rPr lang="en-US" dirty="0" smtClean="0"/>
              <a:t>Field name for values of cumulative precipitation</a:t>
            </a:r>
            <a:endParaRPr lang="en-US" dirty="0"/>
          </a:p>
        </p:txBody>
      </p:sp>
      <p:sp>
        <p:nvSpPr>
          <p:cNvPr id="247" name="Rectangle 246"/>
          <p:cNvSpPr/>
          <p:nvPr/>
        </p:nvSpPr>
        <p:spPr>
          <a:xfrm>
            <a:off x="4759087" y="251327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48" name="Rectangle 247"/>
          <p:cNvSpPr/>
          <p:nvPr/>
        </p:nvSpPr>
        <p:spPr>
          <a:xfrm>
            <a:off x="216185" y="2514460"/>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9" name="Rectangle 248"/>
          <p:cNvSpPr/>
          <p:nvPr/>
        </p:nvSpPr>
        <p:spPr>
          <a:xfrm>
            <a:off x="2032969" y="2516405"/>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0" name="Isosceles Triangle 249"/>
          <p:cNvSpPr/>
          <p:nvPr/>
        </p:nvSpPr>
        <p:spPr>
          <a:xfrm flipV="1">
            <a:off x="2071467" y="2624712"/>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51" name="Straight Connector 250"/>
          <p:cNvCxnSpPr/>
          <p:nvPr/>
        </p:nvCxnSpPr>
        <p:spPr>
          <a:xfrm flipH="1" flipV="1">
            <a:off x="2331303" y="2606899"/>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52" name="Straight Connector 251"/>
          <p:cNvCxnSpPr/>
          <p:nvPr/>
        </p:nvCxnSpPr>
        <p:spPr>
          <a:xfrm flipH="1" flipV="1">
            <a:off x="2316553" y="3558157"/>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53" name="Rectangle 252"/>
          <p:cNvSpPr/>
          <p:nvPr/>
        </p:nvSpPr>
        <p:spPr>
          <a:xfrm>
            <a:off x="1689422" y="3456596"/>
            <a:ext cx="631569" cy="2743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4" name="TextBox 253"/>
          <p:cNvSpPr txBox="1"/>
          <p:nvPr/>
        </p:nvSpPr>
        <p:spPr>
          <a:xfrm>
            <a:off x="2500389" y="3485868"/>
            <a:ext cx="2647268" cy="782265"/>
          </a:xfrm>
          <a:prstGeom prst="rect">
            <a:avLst/>
          </a:prstGeom>
          <a:noFill/>
        </p:spPr>
        <p:txBody>
          <a:bodyPr wrap="square" lIns="0" tIns="0" rIns="0" bIns="0" rtlCol="0">
            <a:spAutoFit/>
          </a:bodyPr>
          <a:lstStyle/>
          <a:p>
            <a:pPr>
              <a:lnSpc>
                <a:spcPts val="1500"/>
              </a:lnSpc>
            </a:pPr>
            <a:r>
              <a:rPr lang="en-US" dirty="0" smtClean="0"/>
              <a:t>Static value for cumulative precipitation (m), based on above input of static precipitation rate</a:t>
            </a:r>
            <a:endParaRPr lang="en-US" dirty="0"/>
          </a:p>
        </p:txBody>
      </p:sp>
      <p:cxnSp>
        <p:nvCxnSpPr>
          <p:cNvPr id="256" name="Straight Connector 255"/>
          <p:cNvCxnSpPr/>
          <p:nvPr/>
        </p:nvCxnSpPr>
        <p:spPr>
          <a:xfrm flipH="1" flipV="1">
            <a:off x="2325697" y="441291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57" name="Rectangle 256"/>
          <p:cNvSpPr/>
          <p:nvPr/>
        </p:nvSpPr>
        <p:spPr>
          <a:xfrm>
            <a:off x="1689422" y="4311349"/>
            <a:ext cx="631569" cy="2743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8" name="TextBox 257"/>
          <p:cNvSpPr txBox="1"/>
          <p:nvPr/>
        </p:nvSpPr>
        <p:spPr>
          <a:xfrm>
            <a:off x="2482795" y="4309592"/>
            <a:ext cx="2799292" cy="397545"/>
          </a:xfrm>
          <a:prstGeom prst="rect">
            <a:avLst/>
          </a:prstGeom>
          <a:noFill/>
        </p:spPr>
        <p:txBody>
          <a:bodyPr wrap="square" lIns="0" tIns="0" rIns="0" bIns="0" rtlCol="0">
            <a:spAutoFit/>
          </a:bodyPr>
          <a:lstStyle/>
          <a:p>
            <a:pPr>
              <a:lnSpc>
                <a:spcPts val="1500"/>
              </a:lnSpc>
            </a:pPr>
            <a:r>
              <a:rPr lang="en-US" dirty="0" smtClean="0"/>
              <a:t>Average annual precipitation (m/y), based on above inputs</a:t>
            </a:r>
            <a:endParaRPr lang="en-US" dirty="0"/>
          </a:p>
        </p:txBody>
      </p:sp>
      <p:sp>
        <p:nvSpPr>
          <p:cNvPr id="123" name="Down Arrow 122"/>
          <p:cNvSpPr/>
          <p:nvPr/>
        </p:nvSpPr>
        <p:spPr>
          <a:xfrm>
            <a:off x="2004555" y="2321348"/>
            <a:ext cx="274320" cy="17602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58" name="Straight Connector 57"/>
          <p:cNvCxnSpPr/>
          <p:nvPr/>
        </p:nvCxnSpPr>
        <p:spPr>
          <a:xfrm flipH="1" flipV="1">
            <a:off x="9982912" y="1796047"/>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59" name="Rectangle 58"/>
          <p:cNvSpPr/>
          <p:nvPr/>
        </p:nvSpPr>
        <p:spPr>
          <a:xfrm>
            <a:off x="10151309" y="1694486"/>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 name="TextBox 59"/>
          <p:cNvSpPr txBox="1"/>
          <p:nvPr/>
        </p:nvSpPr>
        <p:spPr>
          <a:xfrm>
            <a:off x="7328632" y="1717042"/>
            <a:ext cx="2647268" cy="384721"/>
          </a:xfrm>
          <a:prstGeom prst="rect">
            <a:avLst/>
          </a:prstGeom>
          <a:noFill/>
        </p:spPr>
        <p:txBody>
          <a:bodyPr wrap="square" lIns="0" tIns="0" rIns="0" bIns="0" rtlCol="0">
            <a:spAutoFit/>
          </a:bodyPr>
          <a:lstStyle/>
          <a:p>
            <a:pPr algn="r">
              <a:lnSpc>
                <a:spcPts val="1500"/>
              </a:lnSpc>
            </a:pPr>
            <a:r>
              <a:rPr lang="en-US" dirty="0" smtClean="0"/>
              <a:t>Coniferous Forest: Static value</a:t>
            </a:r>
            <a:endParaRPr lang="en-US" dirty="0"/>
          </a:p>
        </p:txBody>
      </p:sp>
      <p:sp>
        <p:nvSpPr>
          <p:cNvPr id="61" name="Rectangle 60"/>
          <p:cNvSpPr/>
          <p:nvPr/>
        </p:nvSpPr>
        <p:spPr>
          <a:xfrm>
            <a:off x="7501322" y="1712093"/>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62" name="TextBox 61"/>
          <p:cNvSpPr txBox="1"/>
          <p:nvPr/>
        </p:nvSpPr>
        <p:spPr>
          <a:xfrm>
            <a:off x="6724650" y="1194792"/>
            <a:ext cx="3258262" cy="397545"/>
          </a:xfrm>
          <a:prstGeom prst="rect">
            <a:avLst/>
          </a:prstGeom>
          <a:noFill/>
        </p:spPr>
        <p:txBody>
          <a:bodyPr wrap="square" lIns="0" tIns="0" rIns="0" bIns="0" rtlCol="0">
            <a:spAutoFit/>
          </a:bodyPr>
          <a:lstStyle/>
          <a:p>
            <a:pPr algn="r">
              <a:lnSpc>
                <a:spcPts val="1500"/>
              </a:lnSpc>
            </a:pPr>
            <a:r>
              <a:rPr lang="en-US" dirty="0" smtClean="0"/>
              <a:t>Coniferous Forest: Model calculates?</a:t>
            </a:r>
            <a:endParaRPr lang="en-US" dirty="0"/>
          </a:p>
        </p:txBody>
      </p:sp>
      <p:cxnSp>
        <p:nvCxnSpPr>
          <p:cNvPr id="63" name="Straight Connector 62"/>
          <p:cNvCxnSpPr/>
          <p:nvPr/>
        </p:nvCxnSpPr>
        <p:spPr>
          <a:xfrm flipH="1">
            <a:off x="9971527" y="1340008"/>
            <a:ext cx="164736" cy="0"/>
          </a:xfrm>
          <a:prstGeom prst="line">
            <a:avLst/>
          </a:prstGeom>
        </p:spPr>
        <p:style>
          <a:lnRef idx="1">
            <a:schemeClr val="dk1"/>
          </a:lnRef>
          <a:fillRef idx="0">
            <a:schemeClr val="dk1"/>
          </a:fillRef>
          <a:effectRef idx="0">
            <a:schemeClr val="dk1"/>
          </a:effectRef>
          <a:fontRef idx="minor">
            <a:schemeClr val="tx1"/>
          </a:fontRef>
        </p:style>
      </p:cxnSp>
      <p:sp>
        <p:nvSpPr>
          <p:cNvPr id="64" name="Rectangle 63"/>
          <p:cNvSpPr/>
          <p:nvPr/>
        </p:nvSpPr>
        <p:spPr>
          <a:xfrm>
            <a:off x="10144896" y="1212730"/>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65" name="Rectangle 64"/>
          <p:cNvSpPr/>
          <p:nvPr/>
        </p:nvSpPr>
        <p:spPr>
          <a:xfrm>
            <a:off x="7432697" y="1167197"/>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66" name="Down Arrow 65"/>
          <p:cNvSpPr/>
          <p:nvPr/>
        </p:nvSpPr>
        <p:spPr>
          <a:xfrm>
            <a:off x="10133849" y="1497499"/>
            <a:ext cx="274320" cy="19326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TextBox 84"/>
          <p:cNvSpPr txBox="1"/>
          <p:nvPr/>
        </p:nvSpPr>
        <p:spPr>
          <a:xfrm>
            <a:off x="2510907" y="4769159"/>
            <a:ext cx="2702350" cy="577081"/>
          </a:xfrm>
          <a:prstGeom prst="rect">
            <a:avLst/>
          </a:prstGeom>
          <a:noFill/>
        </p:spPr>
        <p:txBody>
          <a:bodyPr wrap="square" lIns="0" tIns="0" rIns="0" bIns="0" rtlCol="0">
            <a:spAutoFit/>
          </a:bodyPr>
          <a:lstStyle/>
          <a:p>
            <a:pPr>
              <a:lnSpc>
                <a:spcPts val="1500"/>
              </a:lnSpc>
            </a:pPr>
            <a:r>
              <a:rPr lang="en-US" dirty="0" smtClean="0"/>
              <a:t>Use spatially varying groundwater seepage fractions?</a:t>
            </a:r>
            <a:endParaRPr lang="en-US" dirty="0"/>
          </a:p>
        </p:txBody>
      </p:sp>
      <p:cxnSp>
        <p:nvCxnSpPr>
          <p:cNvPr id="86" name="Straight Connector 85"/>
          <p:cNvCxnSpPr/>
          <p:nvPr/>
        </p:nvCxnSpPr>
        <p:spPr>
          <a:xfrm flipH="1">
            <a:off x="2349079" y="4907659"/>
            <a:ext cx="164736" cy="0"/>
          </a:xfrm>
          <a:prstGeom prst="line">
            <a:avLst/>
          </a:prstGeom>
        </p:spPr>
        <p:style>
          <a:lnRef idx="1">
            <a:schemeClr val="dk1"/>
          </a:lnRef>
          <a:fillRef idx="0">
            <a:schemeClr val="dk1"/>
          </a:fillRef>
          <a:effectRef idx="0">
            <a:schemeClr val="dk1"/>
          </a:effectRef>
          <a:fontRef idx="minor">
            <a:schemeClr val="tx1"/>
          </a:fontRef>
        </p:style>
      </p:cxnSp>
      <p:sp>
        <p:nvSpPr>
          <p:cNvPr id="87" name="Rectangle 86"/>
          <p:cNvSpPr/>
          <p:nvPr/>
        </p:nvSpPr>
        <p:spPr>
          <a:xfrm>
            <a:off x="2035913" y="4779409"/>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88" name="Rectangle 87"/>
          <p:cNvSpPr/>
          <p:nvPr/>
        </p:nvSpPr>
        <p:spPr>
          <a:xfrm>
            <a:off x="4424499" y="477834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89" name="Down Arrow 88"/>
          <p:cNvSpPr/>
          <p:nvPr/>
        </p:nvSpPr>
        <p:spPr>
          <a:xfrm>
            <a:off x="2026769" y="5053729"/>
            <a:ext cx="274320" cy="325693"/>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90" name="Straight Connector 89"/>
          <p:cNvCxnSpPr/>
          <p:nvPr/>
        </p:nvCxnSpPr>
        <p:spPr>
          <a:xfrm flipH="1" flipV="1">
            <a:off x="2344665" y="548098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91" name="Rectangle 90"/>
          <p:cNvSpPr/>
          <p:nvPr/>
        </p:nvSpPr>
        <p:spPr>
          <a:xfrm>
            <a:off x="1717534" y="5379423"/>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 name="TextBox 91"/>
          <p:cNvSpPr txBox="1"/>
          <p:nvPr/>
        </p:nvSpPr>
        <p:spPr>
          <a:xfrm>
            <a:off x="2510907" y="5408262"/>
            <a:ext cx="2647268" cy="397545"/>
          </a:xfrm>
          <a:prstGeom prst="rect">
            <a:avLst/>
          </a:prstGeom>
          <a:noFill/>
        </p:spPr>
        <p:txBody>
          <a:bodyPr wrap="square" lIns="0" tIns="0" rIns="0" bIns="0" rtlCol="0">
            <a:spAutoFit/>
          </a:bodyPr>
          <a:lstStyle/>
          <a:p>
            <a:pPr>
              <a:lnSpc>
                <a:spcPts val="1500"/>
              </a:lnSpc>
            </a:pPr>
            <a:r>
              <a:rPr lang="en-US" dirty="0" smtClean="0"/>
              <a:t>Scenario-wide groundwater seepage fraction</a:t>
            </a:r>
            <a:endParaRPr lang="en-US" dirty="0"/>
          </a:p>
        </p:txBody>
      </p:sp>
      <p:sp>
        <p:nvSpPr>
          <p:cNvPr id="93" name="Rectangle 92"/>
          <p:cNvSpPr/>
          <p:nvPr/>
        </p:nvSpPr>
        <p:spPr>
          <a:xfrm>
            <a:off x="5143810" y="542998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94" name="TextBox 93"/>
          <p:cNvSpPr txBox="1"/>
          <p:nvPr/>
        </p:nvSpPr>
        <p:spPr>
          <a:xfrm>
            <a:off x="2510907" y="5844048"/>
            <a:ext cx="2702350" cy="384721"/>
          </a:xfrm>
          <a:prstGeom prst="rect">
            <a:avLst/>
          </a:prstGeom>
          <a:noFill/>
        </p:spPr>
        <p:txBody>
          <a:bodyPr wrap="square" lIns="0" tIns="0" rIns="0" bIns="0" rtlCol="0">
            <a:spAutoFit/>
          </a:bodyPr>
          <a:lstStyle/>
          <a:p>
            <a:pPr>
              <a:lnSpc>
                <a:spcPts val="1500"/>
              </a:lnSpc>
            </a:pPr>
            <a:r>
              <a:rPr lang="en-US" dirty="0" smtClean="0"/>
              <a:t>Use spatially varying runoff fractions?</a:t>
            </a:r>
            <a:endParaRPr lang="en-US" dirty="0"/>
          </a:p>
        </p:txBody>
      </p:sp>
      <p:cxnSp>
        <p:nvCxnSpPr>
          <p:cNvPr id="95" name="Straight Connector 94"/>
          <p:cNvCxnSpPr/>
          <p:nvPr/>
        </p:nvCxnSpPr>
        <p:spPr>
          <a:xfrm flipH="1">
            <a:off x="2349079" y="5982548"/>
            <a:ext cx="164736" cy="0"/>
          </a:xfrm>
          <a:prstGeom prst="line">
            <a:avLst/>
          </a:prstGeom>
        </p:spPr>
        <p:style>
          <a:lnRef idx="1">
            <a:schemeClr val="dk1"/>
          </a:lnRef>
          <a:fillRef idx="0">
            <a:schemeClr val="dk1"/>
          </a:fillRef>
          <a:effectRef idx="0">
            <a:schemeClr val="dk1"/>
          </a:effectRef>
          <a:fontRef idx="minor">
            <a:schemeClr val="tx1"/>
          </a:fontRef>
        </p:style>
      </p:cxnSp>
      <p:sp>
        <p:nvSpPr>
          <p:cNvPr id="96" name="Rectangle 95"/>
          <p:cNvSpPr/>
          <p:nvPr/>
        </p:nvSpPr>
        <p:spPr>
          <a:xfrm>
            <a:off x="2035913" y="5854298"/>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97" name="Rectangle 96"/>
          <p:cNvSpPr/>
          <p:nvPr/>
        </p:nvSpPr>
        <p:spPr>
          <a:xfrm>
            <a:off x="5056012" y="5833676"/>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98" name="Down Arrow 97"/>
          <p:cNvSpPr/>
          <p:nvPr/>
        </p:nvSpPr>
        <p:spPr>
          <a:xfrm>
            <a:off x="2026769" y="6128619"/>
            <a:ext cx="274320" cy="135194"/>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99" name="Straight Connector 98"/>
          <p:cNvCxnSpPr/>
          <p:nvPr/>
        </p:nvCxnSpPr>
        <p:spPr>
          <a:xfrm flipH="1" flipV="1">
            <a:off x="2344665" y="6365373"/>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00" name="Rectangle 99"/>
          <p:cNvSpPr/>
          <p:nvPr/>
        </p:nvSpPr>
        <p:spPr>
          <a:xfrm>
            <a:off x="1717534" y="6263812"/>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 name="TextBox 100"/>
          <p:cNvSpPr txBox="1"/>
          <p:nvPr/>
        </p:nvSpPr>
        <p:spPr>
          <a:xfrm>
            <a:off x="2510907" y="6292651"/>
            <a:ext cx="2647268" cy="397545"/>
          </a:xfrm>
          <a:prstGeom prst="rect">
            <a:avLst/>
          </a:prstGeom>
          <a:noFill/>
        </p:spPr>
        <p:txBody>
          <a:bodyPr wrap="square" lIns="0" tIns="0" rIns="0" bIns="0" rtlCol="0">
            <a:spAutoFit/>
          </a:bodyPr>
          <a:lstStyle/>
          <a:p>
            <a:pPr>
              <a:lnSpc>
                <a:spcPts val="1500"/>
              </a:lnSpc>
            </a:pPr>
            <a:r>
              <a:rPr lang="en-US" dirty="0" smtClean="0"/>
              <a:t>Scenario-wide runoff fraction</a:t>
            </a:r>
            <a:endParaRPr lang="en-US" dirty="0"/>
          </a:p>
        </p:txBody>
      </p:sp>
      <p:sp>
        <p:nvSpPr>
          <p:cNvPr id="102" name="Rectangle 101"/>
          <p:cNvSpPr/>
          <p:nvPr/>
        </p:nvSpPr>
        <p:spPr>
          <a:xfrm>
            <a:off x="4492583" y="629265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cxnSp>
        <p:nvCxnSpPr>
          <p:cNvPr id="103" name="Straight Connector 102"/>
          <p:cNvCxnSpPr/>
          <p:nvPr/>
        </p:nvCxnSpPr>
        <p:spPr>
          <a:xfrm flipH="1" flipV="1">
            <a:off x="9982912" y="284530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04" name="Rectangle 103"/>
          <p:cNvSpPr/>
          <p:nvPr/>
        </p:nvSpPr>
        <p:spPr>
          <a:xfrm>
            <a:off x="10151309" y="2743744"/>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 name="TextBox 104"/>
          <p:cNvSpPr txBox="1"/>
          <p:nvPr/>
        </p:nvSpPr>
        <p:spPr>
          <a:xfrm>
            <a:off x="7328632" y="2766300"/>
            <a:ext cx="2647268" cy="384721"/>
          </a:xfrm>
          <a:prstGeom prst="rect">
            <a:avLst/>
          </a:prstGeom>
          <a:noFill/>
        </p:spPr>
        <p:txBody>
          <a:bodyPr wrap="square" lIns="0" tIns="0" rIns="0" bIns="0" rtlCol="0">
            <a:spAutoFit/>
          </a:bodyPr>
          <a:lstStyle/>
          <a:p>
            <a:pPr algn="r">
              <a:lnSpc>
                <a:spcPts val="1500"/>
              </a:lnSpc>
            </a:pPr>
            <a:r>
              <a:rPr lang="en-US" dirty="0" smtClean="0"/>
              <a:t>Deciduous Forest: Static value</a:t>
            </a:r>
            <a:endParaRPr lang="en-US" dirty="0"/>
          </a:p>
        </p:txBody>
      </p:sp>
      <p:sp>
        <p:nvSpPr>
          <p:cNvPr id="106" name="Rectangle 105"/>
          <p:cNvSpPr/>
          <p:nvPr/>
        </p:nvSpPr>
        <p:spPr>
          <a:xfrm>
            <a:off x="7501322" y="276135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07" name="TextBox 106"/>
          <p:cNvSpPr txBox="1"/>
          <p:nvPr/>
        </p:nvSpPr>
        <p:spPr>
          <a:xfrm>
            <a:off x="7286598" y="2244050"/>
            <a:ext cx="2696314" cy="384721"/>
          </a:xfrm>
          <a:prstGeom prst="rect">
            <a:avLst/>
          </a:prstGeom>
          <a:noFill/>
        </p:spPr>
        <p:txBody>
          <a:bodyPr wrap="square" lIns="0" tIns="0" rIns="0" bIns="0" rtlCol="0">
            <a:spAutoFit/>
          </a:bodyPr>
          <a:lstStyle/>
          <a:p>
            <a:pPr algn="r">
              <a:lnSpc>
                <a:spcPts val="1500"/>
              </a:lnSpc>
            </a:pPr>
            <a:r>
              <a:rPr lang="en-US" dirty="0" smtClean="0"/>
              <a:t>Deciduous Forest: Model calculates?</a:t>
            </a:r>
            <a:endParaRPr lang="en-US" dirty="0"/>
          </a:p>
        </p:txBody>
      </p:sp>
      <p:cxnSp>
        <p:nvCxnSpPr>
          <p:cNvPr id="108" name="Straight Connector 107"/>
          <p:cNvCxnSpPr/>
          <p:nvPr/>
        </p:nvCxnSpPr>
        <p:spPr>
          <a:xfrm flipH="1">
            <a:off x="9971527" y="2389266"/>
            <a:ext cx="164736" cy="0"/>
          </a:xfrm>
          <a:prstGeom prst="line">
            <a:avLst/>
          </a:prstGeom>
        </p:spPr>
        <p:style>
          <a:lnRef idx="1">
            <a:schemeClr val="dk1"/>
          </a:lnRef>
          <a:fillRef idx="0">
            <a:schemeClr val="dk1"/>
          </a:fillRef>
          <a:effectRef idx="0">
            <a:schemeClr val="dk1"/>
          </a:effectRef>
          <a:fontRef idx="minor">
            <a:schemeClr val="tx1"/>
          </a:fontRef>
        </p:style>
      </p:cxnSp>
      <p:sp>
        <p:nvSpPr>
          <p:cNvPr id="109" name="Rectangle 108"/>
          <p:cNvSpPr/>
          <p:nvPr/>
        </p:nvSpPr>
        <p:spPr>
          <a:xfrm>
            <a:off x="10144896" y="2261988"/>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110" name="Rectangle 109"/>
          <p:cNvSpPr/>
          <p:nvPr/>
        </p:nvSpPr>
        <p:spPr>
          <a:xfrm>
            <a:off x="7432697" y="221645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11" name="Down Arrow 110"/>
          <p:cNvSpPr/>
          <p:nvPr/>
        </p:nvSpPr>
        <p:spPr>
          <a:xfrm>
            <a:off x="10133849" y="2546757"/>
            <a:ext cx="274320" cy="19482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12" name="Straight Connector 111"/>
          <p:cNvCxnSpPr/>
          <p:nvPr/>
        </p:nvCxnSpPr>
        <p:spPr>
          <a:xfrm flipH="1" flipV="1">
            <a:off x="9978539" y="3887969"/>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13" name="Rectangle 112"/>
          <p:cNvSpPr/>
          <p:nvPr/>
        </p:nvSpPr>
        <p:spPr>
          <a:xfrm>
            <a:off x="10146936" y="3786408"/>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 name="TextBox 113"/>
          <p:cNvSpPr txBox="1"/>
          <p:nvPr/>
        </p:nvSpPr>
        <p:spPr>
          <a:xfrm>
            <a:off x="7324259" y="3808964"/>
            <a:ext cx="2647268" cy="192360"/>
          </a:xfrm>
          <a:prstGeom prst="rect">
            <a:avLst/>
          </a:prstGeom>
          <a:noFill/>
        </p:spPr>
        <p:txBody>
          <a:bodyPr wrap="square" lIns="0" tIns="0" rIns="0" bIns="0" rtlCol="0">
            <a:spAutoFit/>
          </a:bodyPr>
          <a:lstStyle/>
          <a:p>
            <a:pPr algn="r">
              <a:lnSpc>
                <a:spcPts val="1500"/>
              </a:lnSpc>
            </a:pPr>
            <a:r>
              <a:rPr lang="en-US" dirty="0" smtClean="0"/>
              <a:t>Grasses/Herbs: Static value</a:t>
            </a:r>
            <a:endParaRPr lang="en-US" dirty="0"/>
          </a:p>
        </p:txBody>
      </p:sp>
      <p:sp>
        <p:nvSpPr>
          <p:cNvPr id="115" name="Rectangle 114"/>
          <p:cNvSpPr/>
          <p:nvPr/>
        </p:nvSpPr>
        <p:spPr>
          <a:xfrm>
            <a:off x="7242603" y="379737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16" name="TextBox 115"/>
          <p:cNvSpPr txBox="1"/>
          <p:nvPr/>
        </p:nvSpPr>
        <p:spPr>
          <a:xfrm>
            <a:off x="7282225" y="3296239"/>
            <a:ext cx="2696314" cy="384721"/>
          </a:xfrm>
          <a:prstGeom prst="rect">
            <a:avLst/>
          </a:prstGeom>
          <a:noFill/>
        </p:spPr>
        <p:txBody>
          <a:bodyPr wrap="square" lIns="0" tIns="0" rIns="0" bIns="0" rtlCol="0">
            <a:spAutoFit/>
          </a:bodyPr>
          <a:lstStyle/>
          <a:p>
            <a:pPr algn="r">
              <a:lnSpc>
                <a:spcPts val="1500"/>
              </a:lnSpc>
            </a:pPr>
            <a:r>
              <a:rPr lang="en-US" dirty="0" smtClean="0"/>
              <a:t>Grasses/Herbs: Model calculates?</a:t>
            </a:r>
            <a:endParaRPr lang="en-US" dirty="0"/>
          </a:p>
        </p:txBody>
      </p:sp>
      <p:cxnSp>
        <p:nvCxnSpPr>
          <p:cNvPr id="117" name="Straight Connector 116"/>
          <p:cNvCxnSpPr/>
          <p:nvPr/>
        </p:nvCxnSpPr>
        <p:spPr>
          <a:xfrm flipH="1">
            <a:off x="9967154" y="3441455"/>
            <a:ext cx="164736" cy="0"/>
          </a:xfrm>
          <a:prstGeom prst="line">
            <a:avLst/>
          </a:prstGeom>
        </p:spPr>
        <p:style>
          <a:lnRef idx="1">
            <a:schemeClr val="dk1"/>
          </a:lnRef>
          <a:fillRef idx="0">
            <a:schemeClr val="dk1"/>
          </a:fillRef>
          <a:effectRef idx="0">
            <a:schemeClr val="dk1"/>
          </a:effectRef>
          <a:fontRef idx="minor">
            <a:schemeClr val="tx1"/>
          </a:fontRef>
        </p:style>
      </p:cxnSp>
      <p:sp>
        <p:nvSpPr>
          <p:cNvPr id="118" name="Rectangle 117"/>
          <p:cNvSpPr/>
          <p:nvPr/>
        </p:nvSpPr>
        <p:spPr>
          <a:xfrm>
            <a:off x="10140523" y="3314177"/>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119" name="Rectangle 118"/>
          <p:cNvSpPr/>
          <p:nvPr/>
        </p:nvSpPr>
        <p:spPr>
          <a:xfrm>
            <a:off x="7672648" y="328924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20" name="Down Arrow 119"/>
          <p:cNvSpPr/>
          <p:nvPr/>
        </p:nvSpPr>
        <p:spPr>
          <a:xfrm>
            <a:off x="10129476" y="3598945"/>
            <a:ext cx="274320" cy="17959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21" name="Straight Connector 120"/>
          <p:cNvCxnSpPr/>
          <p:nvPr/>
        </p:nvCxnSpPr>
        <p:spPr>
          <a:xfrm flipH="1" flipV="1">
            <a:off x="9978539" y="4893717"/>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22" name="Rectangle 121"/>
          <p:cNvSpPr/>
          <p:nvPr/>
        </p:nvSpPr>
        <p:spPr>
          <a:xfrm>
            <a:off x="10146936" y="4792156"/>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 name="TextBox 123"/>
          <p:cNvSpPr txBox="1"/>
          <p:nvPr/>
        </p:nvSpPr>
        <p:spPr>
          <a:xfrm>
            <a:off x="7324259" y="4814712"/>
            <a:ext cx="2647268" cy="192360"/>
          </a:xfrm>
          <a:prstGeom prst="rect">
            <a:avLst/>
          </a:prstGeom>
          <a:noFill/>
        </p:spPr>
        <p:txBody>
          <a:bodyPr wrap="square" lIns="0" tIns="0" rIns="0" bIns="0" rtlCol="0">
            <a:spAutoFit/>
          </a:bodyPr>
          <a:lstStyle/>
          <a:p>
            <a:pPr algn="r">
              <a:lnSpc>
                <a:spcPts val="1500"/>
              </a:lnSpc>
            </a:pPr>
            <a:r>
              <a:rPr lang="en-US" dirty="0" smtClean="0"/>
              <a:t>Agriculture: Static value</a:t>
            </a:r>
            <a:endParaRPr lang="en-US" dirty="0"/>
          </a:p>
        </p:txBody>
      </p:sp>
      <p:sp>
        <p:nvSpPr>
          <p:cNvPr id="125" name="Rectangle 124"/>
          <p:cNvSpPr/>
          <p:nvPr/>
        </p:nvSpPr>
        <p:spPr>
          <a:xfrm>
            <a:off x="7576961" y="4829766"/>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26" name="TextBox 125"/>
          <p:cNvSpPr txBox="1"/>
          <p:nvPr/>
        </p:nvSpPr>
        <p:spPr>
          <a:xfrm>
            <a:off x="7282225" y="4292462"/>
            <a:ext cx="2696314" cy="384721"/>
          </a:xfrm>
          <a:prstGeom prst="rect">
            <a:avLst/>
          </a:prstGeom>
          <a:noFill/>
        </p:spPr>
        <p:txBody>
          <a:bodyPr wrap="square" lIns="0" tIns="0" rIns="0" bIns="0" rtlCol="0">
            <a:spAutoFit/>
          </a:bodyPr>
          <a:lstStyle/>
          <a:p>
            <a:pPr algn="r">
              <a:lnSpc>
                <a:spcPts val="1500"/>
              </a:lnSpc>
            </a:pPr>
            <a:r>
              <a:rPr lang="en-US" dirty="0" smtClean="0"/>
              <a:t>Agriculture: Model calculates?</a:t>
            </a:r>
            <a:endParaRPr lang="en-US" dirty="0"/>
          </a:p>
        </p:txBody>
      </p:sp>
      <p:cxnSp>
        <p:nvCxnSpPr>
          <p:cNvPr id="127" name="Straight Connector 126"/>
          <p:cNvCxnSpPr/>
          <p:nvPr/>
        </p:nvCxnSpPr>
        <p:spPr>
          <a:xfrm flipH="1">
            <a:off x="9967154" y="4437678"/>
            <a:ext cx="164736" cy="0"/>
          </a:xfrm>
          <a:prstGeom prst="line">
            <a:avLst/>
          </a:prstGeom>
        </p:spPr>
        <p:style>
          <a:lnRef idx="1">
            <a:schemeClr val="dk1"/>
          </a:lnRef>
          <a:fillRef idx="0">
            <a:schemeClr val="dk1"/>
          </a:fillRef>
          <a:effectRef idx="0">
            <a:schemeClr val="dk1"/>
          </a:effectRef>
          <a:fontRef idx="minor">
            <a:schemeClr val="tx1"/>
          </a:fontRef>
        </p:style>
      </p:cxnSp>
      <p:sp>
        <p:nvSpPr>
          <p:cNvPr id="128" name="Rectangle 127"/>
          <p:cNvSpPr/>
          <p:nvPr/>
        </p:nvSpPr>
        <p:spPr>
          <a:xfrm>
            <a:off x="10140523" y="4310400"/>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129" name="Rectangle 128"/>
          <p:cNvSpPr/>
          <p:nvPr/>
        </p:nvSpPr>
        <p:spPr>
          <a:xfrm>
            <a:off x="8013580" y="429204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30" name="Down Arrow 129"/>
          <p:cNvSpPr/>
          <p:nvPr/>
        </p:nvSpPr>
        <p:spPr>
          <a:xfrm>
            <a:off x="10129476" y="4595168"/>
            <a:ext cx="274320" cy="18599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1" name="TextBox 130"/>
          <p:cNvSpPr txBox="1"/>
          <p:nvPr/>
        </p:nvSpPr>
        <p:spPr>
          <a:xfrm>
            <a:off x="6065899" y="860967"/>
            <a:ext cx="3895362" cy="276999"/>
          </a:xfrm>
          <a:prstGeom prst="rect">
            <a:avLst/>
          </a:prstGeom>
          <a:noFill/>
        </p:spPr>
        <p:txBody>
          <a:bodyPr wrap="none" lIns="0" tIns="0" rIns="0" bIns="0" rtlCol="0">
            <a:spAutoFit/>
          </a:bodyPr>
          <a:lstStyle/>
          <a:p>
            <a:pPr algn="r"/>
            <a:r>
              <a:rPr lang="en-US" b="1" u="sng" dirty="0" smtClean="0"/>
              <a:t>Set Wet Deposition Interception Fraction</a:t>
            </a:r>
            <a:endParaRPr lang="en-US" b="1" u="sng" dirty="0"/>
          </a:p>
        </p:txBody>
      </p:sp>
      <p:sp>
        <p:nvSpPr>
          <p:cNvPr id="132" name="Action Button: Forward or Next 131">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 name="Action Button: Back or Previous 132">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34" name="Picture 4" descr="Image result for save button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Image result for exit graphic GU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
        <p:nvSpPr>
          <p:cNvPr id="136" name="TextBox 135"/>
          <p:cNvSpPr txBox="1"/>
          <p:nvPr/>
        </p:nvSpPr>
        <p:spPr>
          <a:xfrm>
            <a:off x="8125606" y="5846216"/>
            <a:ext cx="4042611" cy="95410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dirty="0" smtClean="0">
                <a:latin typeface="Arial Narrow" panose="020B0606020202030204" pitchFamily="34" charset="0"/>
              </a:rPr>
              <a:t>The wet dep parameters could come a little later, after parcels </a:t>
            </a:r>
            <a:r>
              <a:rPr lang="en-US" sz="1400" dirty="0" err="1" smtClean="0">
                <a:latin typeface="Arial Narrow" panose="020B0606020202030204" pitchFamily="34" charset="0"/>
              </a:rPr>
              <a:t>shapefile</a:t>
            </a:r>
            <a:r>
              <a:rPr lang="en-US" sz="1400" dirty="0" smtClean="0">
                <a:latin typeface="Arial Narrow" panose="020B0606020202030204" pitchFamily="34" charset="0"/>
              </a:rPr>
              <a:t> is read in – the parcel file would tell us what plants we were dealing with, and we could have only those plants show up here…</a:t>
            </a:r>
            <a:endParaRPr lang="en-US" sz="1400" dirty="0">
              <a:latin typeface="Arial Narrow" panose="020B0606020202030204" pitchFamily="34" charset="0"/>
            </a:endParaRPr>
          </a:p>
        </p:txBody>
      </p:sp>
    </p:spTree>
    <p:extLst>
      <p:ext uri="{BB962C8B-B14F-4D97-AF65-F5344CB8AC3E}">
        <p14:creationId xmlns:p14="http://schemas.microsoft.com/office/powerpoint/2010/main" val="2711308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88815" y="2332398"/>
            <a:ext cx="1525401" cy="589905"/>
          </a:xfrm>
          <a:prstGeom prst="rect">
            <a:avLst/>
          </a:prstGeom>
          <a:noFill/>
        </p:spPr>
        <p:txBody>
          <a:bodyPr wrap="square" lIns="0" tIns="0" rIns="0" bIns="0" rtlCol="0">
            <a:spAutoFit/>
          </a:bodyPr>
          <a:lstStyle/>
          <a:p>
            <a:pPr>
              <a:lnSpc>
                <a:spcPts val="1500"/>
              </a:lnSpc>
            </a:pPr>
            <a:r>
              <a:rPr lang="en-US" dirty="0" smtClean="0"/>
              <a:t>Dust particle concentration (kg dust/m</a:t>
            </a:r>
            <a:r>
              <a:rPr lang="en-US" baseline="30000" dirty="0" smtClean="0"/>
              <a:t>3</a:t>
            </a:r>
            <a:r>
              <a:rPr lang="en-US" dirty="0" smtClean="0"/>
              <a:t> air)</a:t>
            </a:r>
            <a:endParaRPr lang="en-US" dirty="0"/>
          </a:p>
        </p:txBody>
      </p:sp>
      <p:sp>
        <p:nvSpPr>
          <p:cNvPr id="5" name="TextBox 4"/>
          <p:cNvSpPr txBox="1"/>
          <p:nvPr/>
        </p:nvSpPr>
        <p:spPr>
          <a:xfrm>
            <a:off x="2487309" y="2963333"/>
            <a:ext cx="2042610" cy="276999"/>
          </a:xfrm>
          <a:prstGeom prst="rect">
            <a:avLst/>
          </a:prstGeom>
          <a:noFill/>
        </p:spPr>
        <p:txBody>
          <a:bodyPr wrap="none" lIns="0" tIns="0" rIns="0" bIns="0" rtlCol="0">
            <a:spAutoFit/>
          </a:bodyPr>
          <a:lstStyle/>
          <a:p>
            <a:r>
              <a:rPr lang="en-US" dirty="0" smtClean="0"/>
              <a:t>Density of air (g/cm</a:t>
            </a:r>
            <a:r>
              <a:rPr lang="en-US" baseline="30000" dirty="0" smtClean="0"/>
              <a:t>3</a:t>
            </a:r>
            <a:r>
              <a:rPr lang="en-US" dirty="0" smtClean="0"/>
              <a:t>)</a:t>
            </a:r>
            <a:endParaRPr lang="en-US" dirty="0"/>
          </a:p>
        </p:txBody>
      </p:sp>
      <p:sp>
        <p:nvSpPr>
          <p:cNvPr id="14" name="Rectangle 13"/>
          <p:cNvSpPr/>
          <p:nvPr/>
        </p:nvSpPr>
        <p:spPr>
          <a:xfrm>
            <a:off x="1691640" y="2330612"/>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1" name="Straight Connector 20"/>
          <p:cNvCxnSpPr>
            <a:stCxn id="4" idx="1"/>
            <a:endCxn id="14" idx="3"/>
          </p:cNvCxnSpPr>
          <p:nvPr/>
        </p:nvCxnSpPr>
        <p:spPr>
          <a:xfrm flipH="1" flipV="1">
            <a:off x="2322574" y="2467772"/>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a:stCxn id="5" idx="1"/>
          </p:cNvCxnSpPr>
          <p:nvPr/>
        </p:nvCxnSpPr>
        <p:spPr>
          <a:xfrm flipH="1">
            <a:off x="2322573" y="3101833"/>
            <a:ext cx="164736" cy="0"/>
          </a:xfrm>
          <a:prstGeom prst="line">
            <a:avLst/>
          </a:prstGeom>
        </p:spPr>
        <p:style>
          <a:lnRef idx="1">
            <a:schemeClr val="dk1"/>
          </a:lnRef>
          <a:fillRef idx="0">
            <a:schemeClr val="dk1"/>
          </a:fillRef>
          <a:effectRef idx="0">
            <a:schemeClr val="dk1"/>
          </a:effectRef>
          <a:fontRef idx="minor">
            <a:schemeClr val="tx1"/>
          </a:fontRef>
        </p:style>
      </p:cxnSp>
      <p:sp>
        <p:nvSpPr>
          <p:cNvPr id="45" name="Rectangle 44"/>
          <p:cNvSpPr/>
          <p:nvPr/>
        </p:nvSpPr>
        <p:spPr>
          <a:xfrm>
            <a:off x="0" y="303104"/>
            <a:ext cx="12191999" cy="1746632"/>
          </a:xfrm>
          <a:prstGeom prst="rect">
            <a:avLst/>
          </a:prstGeom>
          <a:noFill/>
        </p:spPr>
        <p:txBody>
          <a:bodyPr wrap="square" lIns="91440" tIns="45720" rIns="91440" bIns="45720">
            <a:spAutoFit/>
          </a:bodyPr>
          <a:lstStyle/>
          <a:p>
            <a:pPr algn="ctr">
              <a:lnSpc>
                <a:spcPts val="4300"/>
              </a:lnSpc>
            </a:pPr>
            <a:r>
              <a:rPr lang="en-US" sz="5400" b="0" cap="none" spc="0" dirty="0" smtClean="0">
                <a:ln w="0"/>
                <a:solidFill>
                  <a:schemeClr val="accent1"/>
                </a:solidFill>
                <a:effectLst>
                  <a:outerShdw blurRad="38100" dist="25400" dir="5400000" algn="ctr" rotWithShape="0">
                    <a:srgbClr val="6E747A">
                      <a:alpha val="43000"/>
                    </a:srgbClr>
                  </a:outerShdw>
                </a:effectLst>
              </a:rPr>
              <a:t>Chemical-independent </a:t>
            </a:r>
          </a:p>
          <a:p>
            <a:pPr algn="ctr">
              <a:lnSpc>
                <a:spcPts val="4300"/>
              </a:lnSpc>
            </a:pPr>
            <a:r>
              <a:rPr lang="en-US" sz="5400" b="0" cap="none" spc="0" dirty="0" smtClean="0">
                <a:ln w="0"/>
                <a:solidFill>
                  <a:schemeClr val="accent1"/>
                </a:solidFill>
                <a:effectLst>
                  <a:outerShdw blurRad="38100" dist="25400" dir="5400000" algn="ctr" rotWithShape="0">
                    <a:srgbClr val="6E747A">
                      <a:alpha val="43000"/>
                    </a:srgbClr>
                  </a:outerShdw>
                </a:effectLst>
              </a:rPr>
              <a:t>Abiotic Properties of Air Compartments and Soil &amp; Groundwater Volume Elements</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smtClean="0"/>
              <a:t>4</a:t>
            </a:r>
            <a:endParaRPr lang="en-US" dirty="0"/>
          </a:p>
        </p:txBody>
      </p:sp>
      <p:sp>
        <p:nvSpPr>
          <p:cNvPr id="51" name="Rectangle 50"/>
          <p:cNvSpPr/>
          <p:nvPr/>
        </p:nvSpPr>
        <p:spPr>
          <a:xfrm>
            <a:off x="3696323" y="233205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52" name="Rectangle 51"/>
          <p:cNvSpPr/>
          <p:nvPr/>
        </p:nvSpPr>
        <p:spPr>
          <a:xfrm>
            <a:off x="4459137" y="302901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66" name="Rectangle 65"/>
          <p:cNvSpPr/>
          <p:nvPr/>
        </p:nvSpPr>
        <p:spPr>
          <a:xfrm>
            <a:off x="1686392" y="2976607"/>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TextBox 66"/>
          <p:cNvSpPr txBox="1"/>
          <p:nvPr/>
        </p:nvSpPr>
        <p:spPr>
          <a:xfrm>
            <a:off x="2500356" y="3364304"/>
            <a:ext cx="2243361" cy="397545"/>
          </a:xfrm>
          <a:prstGeom prst="rect">
            <a:avLst/>
          </a:prstGeom>
          <a:noFill/>
        </p:spPr>
        <p:txBody>
          <a:bodyPr wrap="square" lIns="0" tIns="0" rIns="0" bIns="0" rtlCol="0">
            <a:spAutoFit/>
          </a:bodyPr>
          <a:lstStyle/>
          <a:p>
            <a:pPr>
              <a:lnSpc>
                <a:spcPts val="1500"/>
              </a:lnSpc>
            </a:pPr>
            <a:r>
              <a:rPr lang="en-US" dirty="0" smtClean="0"/>
              <a:t>Density of dust particles (kg/m</a:t>
            </a:r>
            <a:r>
              <a:rPr lang="en-US" baseline="30000" dirty="0" smtClean="0"/>
              <a:t>3</a:t>
            </a:r>
            <a:r>
              <a:rPr lang="en-US" dirty="0" smtClean="0"/>
              <a:t>)</a:t>
            </a:r>
            <a:endParaRPr lang="en-US" dirty="0"/>
          </a:p>
        </p:txBody>
      </p:sp>
      <p:sp>
        <p:nvSpPr>
          <p:cNvPr id="68" name="TextBox 67"/>
          <p:cNvSpPr txBox="1"/>
          <p:nvPr/>
        </p:nvSpPr>
        <p:spPr>
          <a:xfrm>
            <a:off x="2498850" y="3839791"/>
            <a:ext cx="2244868" cy="397545"/>
          </a:xfrm>
          <a:prstGeom prst="rect">
            <a:avLst/>
          </a:prstGeom>
          <a:noFill/>
        </p:spPr>
        <p:txBody>
          <a:bodyPr wrap="square" lIns="0" tIns="0" rIns="0" bIns="0" rtlCol="0">
            <a:spAutoFit/>
          </a:bodyPr>
          <a:lstStyle/>
          <a:p>
            <a:pPr>
              <a:lnSpc>
                <a:spcPts val="1500"/>
              </a:lnSpc>
            </a:pPr>
            <a:r>
              <a:rPr lang="en-US" dirty="0" smtClean="0"/>
              <a:t>Fraction organic matter of dust particles</a:t>
            </a:r>
            <a:endParaRPr lang="en-US" dirty="0"/>
          </a:p>
        </p:txBody>
      </p:sp>
      <p:sp>
        <p:nvSpPr>
          <p:cNvPr id="69" name="Rectangle 68"/>
          <p:cNvSpPr/>
          <p:nvPr/>
        </p:nvSpPr>
        <p:spPr>
          <a:xfrm>
            <a:off x="1686392" y="3362518"/>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p:cNvSpPr/>
          <p:nvPr/>
        </p:nvSpPr>
        <p:spPr>
          <a:xfrm>
            <a:off x="4769397" y="336251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3" name="Rectangle 72"/>
          <p:cNvSpPr/>
          <p:nvPr/>
        </p:nvSpPr>
        <p:spPr>
          <a:xfrm>
            <a:off x="4710234" y="385913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4" name="Rectangle 73"/>
          <p:cNvSpPr/>
          <p:nvPr/>
        </p:nvSpPr>
        <p:spPr>
          <a:xfrm>
            <a:off x="1686392" y="3853065"/>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5" name="Straight Connector 74"/>
          <p:cNvCxnSpPr/>
          <p:nvPr/>
        </p:nvCxnSpPr>
        <p:spPr>
          <a:xfrm flipH="1" flipV="1">
            <a:off x="2320207" y="3962301"/>
            <a:ext cx="166240" cy="3126"/>
          </a:xfrm>
          <a:prstGeom prst="line">
            <a:avLst/>
          </a:prstGeom>
        </p:spPr>
        <p:style>
          <a:lnRef idx="1">
            <a:schemeClr val="dk1"/>
          </a:lnRef>
          <a:fillRef idx="0">
            <a:schemeClr val="dk1"/>
          </a:fillRef>
          <a:effectRef idx="0">
            <a:schemeClr val="dk1"/>
          </a:effectRef>
          <a:fontRef idx="minor">
            <a:schemeClr val="tx1"/>
          </a:fontRef>
        </p:style>
      </p:cxnSp>
      <p:sp>
        <p:nvSpPr>
          <p:cNvPr id="76" name="TextBox 75"/>
          <p:cNvSpPr txBox="1"/>
          <p:nvPr/>
        </p:nvSpPr>
        <p:spPr>
          <a:xfrm>
            <a:off x="2487309" y="1966639"/>
            <a:ext cx="277320" cy="276999"/>
          </a:xfrm>
          <a:prstGeom prst="rect">
            <a:avLst/>
          </a:prstGeom>
          <a:noFill/>
        </p:spPr>
        <p:txBody>
          <a:bodyPr wrap="none" lIns="0" tIns="0" rIns="0" bIns="0" rtlCol="0">
            <a:spAutoFit/>
          </a:bodyPr>
          <a:lstStyle/>
          <a:p>
            <a:r>
              <a:rPr lang="en-US" b="1" u="sng" dirty="0" smtClean="0"/>
              <a:t>Air</a:t>
            </a:r>
            <a:endParaRPr lang="en-US" b="1" u="sng" dirty="0"/>
          </a:p>
        </p:txBody>
      </p:sp>
      <p:cxnSp>
        <p:nvCxnSpPr>
          <p:cNvPr id="77" name="Straight Connector 76"/>
          <p:cNvCxnSpPr/>
          <p:nvPr/>
        </p:nvCxnSpPr>
        <p:spPr>
          <a:xfrm flipH="1">
            <a:off x="2320959" y="3499678"/>
            <a:ext cx="164736" cy="0"/>
          </a:xfrm>
          <a:prstGeom prst="line">
            <a:avLst/>
          </a:prstGeom>
        </p:spPr>
        <p:style>
          <a:lnRef idx="1">
            <a:schemeClr val="dk1"/>
          </a:lnRef>
          <a:fillRef idx="0">
            <a:schemeClr val="dk1"/>
          </a:fillRef>
          <a:effectRef idx="0">
            <a:schemeClr val="dk1"/>
          </a:effectRef>
          <a:fontRef idx="minor">
            <a:schemeClr val="tx1"/>
          </a:fontRef>
        </p:style>
      </p:cxnSp>
      <p:sp>
        <p:nvSpPr>
          <p:cNvPr id="78" name="TextBox 77"/>
          <p:cNvSpPr txBox="1"/>
          <p:nvPr/>
        </p:nvSpPr>
        <p:spPr>
          <a:xfrm>
            <a:off x="8153724" y="2337473"/>
            <a:ext cx="1351738" cy="384721"/>
          </a:xfrm>
          <a:prstGeom prst="rect">
            <a:avLst/>
          </a:prstGeom>
          <a:noFill/>
        </p:spPr>
        <p:txBody>
          <a:bodyPr wrap="square" lIns="0" tIns="0" rIns="0" bIns="0" rtlCol="0">
            <a:spAutoFit/>
          </a:bodyPr>
          <a:lstStyle/>
          <a:p>
            <a:pPr algn="r">
              <a:lnSpc>
                <a:spcPts val="1500"/>
              </a:lnSpc>
            </a:pPr>
            <a:r>
              <a:rPr lang="en-US" dirty="0" smtClean="0"/>
              <a:t>Tilled thickness (m)</a:t>
            </a:r>
            <a:endParaRPr lang="en-US" dirty="0"/>
          </a:p>
        </p:txBody>
      </p:sp>
      <p:sp>
        <p:nvSpPr>
          <p:cNvPr id="80" name="Rectangle 79"/>
          <p:cNvSpPr/>
          <p:nvPr/>
        </p:nvSpPr>
        <p:spPr>
          <a:xfrm>
            <a:off x="9679124" y="2324531"/>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 name="Rectangle 82"/>
          <p:cNvSpPr/>
          <p:nvPr/>
        </p:nvSpPr>
        <p:spPr>
          <a:xfrm>
            <a:off x="8790576" y="2337930"/>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93" name="TextBox 92"/>
          <p:cNvSpPr txBox="1"/>
          <p:nvPr/>
        </p:nvSpPr>
        <p:spPr>
          <a:xfrm>
            <a:off x="8300374" y="1971714"/>
            <a:ext cx="1107163" cy="276999"/>
          </a:xfrm>
          <a:prstGeom prst="rect">
            <a:avLst/>
          </a:prstGeom>
          <a:noFill/>
        </p:spPr>
        <p:txBody>
          <a:bodyPr wrap="none" lIns="0" tIns="0" rIns="0" bIns="0" rtlCol="0">
            <a:spAutoFit/>
          </a:bodyPr>
          <a:lstStyle/>
          <a:p>
            <a:r>
              <a:rPr lang="en-US" b="1" u="sng" dirty="0" smtClean="0"/>
              <a:t>Surface Soil</a:t>
            </a:r>
            <a:endParaRPr lang="en-US" b="1" u="sng" dirty="0"/>
          </a:p>
        </p:txBody>
      </p:sp>
      <p:cxnSp>
        <p:nvCxnSpPr>
          <p:cNvPr id="95" name="Straight Connector 94"/>
          <p:cNvCxnSpPr/>
          <p:nvPr/>
        </p:nvCxnSpPr>
        <p:spPr>
          <a:xfrm flipH="1" flipV="1">
            <a:off x="9514854" y="2441861"/>
            <a:ext cx="166240" cy="3126"/>
          </a:xfrm>
          <a:prstGeom prst="line">
            <a:avLst/>
          </a:prstGeom>
        </p:spPr>
        <p:style>
          <a:lnRef idx="1">
            <a:schemeClr val="dk1"/>
          </a:lnRef>
          <a:fillRef idx="0">
            <a:schemeClr val="dk1"/>
          </a:fillRef>
          <a:effectRef idx="0">
            <a:schemeClr val="dk1"/>
          </a:effectRef>
          <a:fontRef idx="minor">
            <a:schemeClr val="tx1"/>
          </a:fontRef>
        </p:style>
      </p:cxnSp>
      <p:sp>
        <p:nvSpPr>
          <p:cNvPr id="96" name="TextBox 95"/>
          <p:cNvSpPr txBox="1"/>
          <p:nvPr/>
        </p:nvSpPr>
        <p:spPr>
          <a:xfrm>
            <a:off x="8235724" y="2792246"/>
            <a:ext cx="1269737" cy="384721"/>
          </a:xfrm>
          <a:prstGeom prst="rect">
            <a:avLst/>
          </a:prstGeom>
          <a:noFill/>
        </p:spPr>
        <p:txBody>
          <a:bodyPr wrap="square" lIns="0" tIns="0" rIns="0" bIns="0" rtlCol="0">
            <a:spAutoFit/>
          </a:bodyPr>
          <a:lstStyle/>
          <a:p>
            <a:pPr algn="r">
              <a:lnSpc>
                <a:spcPts val="1500"/>
              </a:lnSpc>
            </a:pPr>
            <a:r>
              <a:rPr lang="en-US" dirty="0" smtClean="0"/>
              <a:t>Untilled thickness (m)</a:t>
            </a:r>
            <a:endParaRPr lang="en-US" dirty="0"/>
          </a:p>
        </p:txBody>
      </p:sp>
      <p:sp>
        <p:nvSpPr>
          <p:cNvPr id="97" name="Rectangle 96"/>
          <p:cNvSpPr/>
          <p:nvPr/>
        </p:nvSpPr>
        <p:spPr>
          <a:xfrm>
            <a:off x="9686888" y="2798936"/>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 name="Rectangle 97"/>
          <p:cNvSpPr/>
          <p:nvPr/>
        </p:nvSpPr>
        <p:spPr>
          <a:xfrm>
            <a:off x="8560668" y="278039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cxnSp>
        <p:nvCxnSpPr>
          <p:cNvPr id="99" name="Straight Connector 98"/>
          <p:cNvCxnSpPr/>
          <p:nvPr/>
        </p:nvCxnSpPr>
        <p:spPr>
          <a:xfrm flipH="1" flipV="1">
            <a:off x="9505461" y="2869946"/>
            <a:ext cx="166240" cy="3126"/>
          </a:xfrm>
          <a:prstGeom prst="line">
            <a:avLst/>
          </a:prstGeom>
        </p:spPr>
        <p:style>
          <a:lnRef idx="1">
            <a:schemeClr val="dk1"/>
          </a:lnRef>
          <a:fillRef idx="0">
            <a:schemeClr val="dk1"/>
          </a:fillRef>
          <a:effectRef idx="0">
            <a:schemeClr val="dk1"/>
          </a:effectRef>
          <a:fontRef idx="minor">
            <a:schemeClr val="tx1"/>
          </a:fontRef>
        </p:style>
      </p:cxnSp>
      <p:sp>
        <p:nvSpPr>
          <p:cNvPr id="109" name="TextBox 108"/>
          <p:cNvSpPr txBox="1"/>
          <p:nvPr/>
        </p:nvSpPr>
        <p:spPr>
          <a:xfrm>
            <a:off x="8153725" y="3689587"/>
            <a:ext cx="1340954" cy="384721"/>
          </a:xfrm>
          <a:prstGeom prst="rect">
            <a:avLst/>
          </a:prstGeom>
          <a:noFill/>
        </p:spPr>
        <p:txBody>
          <a:bodyPr wrap="square" lIns="0" tIns="0" rIns="0" bIns="0" rtlCol="0">
            <a:spAutoFit/>
          </a:bodyPr>
          <a:lstStyle/>
          <a:p>
            <a:pPr algn="r">
              <a:lnSpc>
                <a:spcPts val="1500"/>
              </a:lnSpc>
            </a:pPr>
            <a:r>
              <a:rPr lang="en-US" dirty="0" smtClean="0"/>
              <a:t>Tilled thickness (m)</a:t>
            </a:r>
            <a:endParaRPr lang="en-US" dirty="0"/>
          </a:p>
        </p:txBody>
      </p:sp>
      <p:sp>
        <p:nvSpPr>
          <p:cNvPr id="110" name="Rectangle 109"/>
          <p:cNvSpPr/>
          <p:nvPr/>
        </p:nvSpPr>
        <p:spPr>
          <a:xfrm>
            <a:off x="9668341" y="3676645"/>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 name="Rectangle 110"/>
          <p:cNvSpPr/>
          <p:nvPr/>
        </p:nvSpPr>
        <p:spPr>
          <a:xfrm>
            <a:off x="8780853" y="367893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12" name="TextBox 111"/>
          <p:cNvSpPr txBox="1"/>
          <p:nvPr/>
        </p:nvSpPr>
        <p:spPr>
          <a:xfrm>
            <a:off x="8289591" y="3323828"/>
            <a:ext cx="1373196" cy="276999"/>
          </a:xfrm>
          <a:prstGeom prst="rect">
            <a:avLst/>
          </a:prstGeom>
          <a:noFill/>
        </p:spPr>
        <p:txBody>
          <a:bodyPr wrap="none" lIns="0" tIns="0" rIns="0" bIns="0" rtlCol="0">
            <a:spAutoFit/>
          </a:bodyPr>
          <a:lstStyle/>
          <a:p>
            <a:r>
              <a:rPr lang="en-US" b="1" u="sng" dirty="0" smtClean="0"/>
              <a:t>Root Zone Soil</a:t>
            </a:r>
            <a:endParaRPr lang="en-US" b="1" u="sng" dirty="0"/>
          </a:p>
        </p:txBody>
      </p:sp>
      <p:cxnSp>
        <p:nvCxnSpPr>
          <p:cNvPr id="113" name="Straight Connector 112"/>
          <p:cNvCxnSpPr/>
          <p:nvPr/>
        </p:nvCxnSpPr>
        <p:spPr>
          <a:xfrm flipH="1" flipV="1">
            <a:off x="9504071" y="3793975"/>
            <a:ext cx="166240" cy="3126"/>
          </a:xfrm>
          <a:prstGeom prst="line">
            <a:avLst/>
          </a:prstGeom>
        </p:spPr>
        <p:style>
          <a:lnRef idx="1">
            <a:schemeClr val="dk1"/>
          </a:lnRef>
          <a:fillRef idx="0">
            <a:schemeClr val="dk1"/>
          </a:fillRef>
          <a:effectRef idx="0">
            <a:schemeClr val="dk1"/>
          </a:effectRef>
          <a:fontRef idx="minor">
            <a:schemeClr val="tx1"/>
          </a:fontRef>
        </p:style>
      </p:cxnSp>
      <p:sp>
        <p:nvSpPr>
          <p:cNvPr id="114" name="TextBox 113"/>
          <p:cNvSpPr txBox="1"/>
          <p:nvPr/>
        </p:nvSpPr>
        <p:spPr>
          <a:xfrm>
            <a:off x="8151023" y="4144360"/>
            <a:ext cx="1343655" cy="384721"/>
          </a:xfrm>
          <a:prstGeom prst="rect">
            <a:avLst/>
          </a:prstGeom>
          <a:noFill/>
        </p:spPr>
        <p:txBody>
          <a:bodyPr wrap="square" lIns="0" tIns="0" rIns="0" bIns="0" rtlCol="0">
            <a:spAutoFit/>
          </a:bodyPr>
          <a:lstStyle/>
          <a:p>
            <a:pPr algn="r">
              <a:lnSpc>
                <a:spcPts val="1500"/>
              </a:lnSpc>
            </a:pPr>
            <a:r>
              <a:rPr lang="en-US" dirty="0" smtClean="0"/>
              <a:t>Untilled thickness (m)</a:t>
            </a:r>
            <a:endParaRPr lang="en-US" dirty="0"/>
          </a:p>
        </p:txBody>
      </p:sp>
      <p:sp>
        <p:nvSpPr>
          <p:cNvPr id="115" name="Rectangle 114"/>
          <p:cNvSpPr/>
          <p:nvPr/>
        </p:nvSpPr>
        <p:spPr>
          <a:xfrm>
            <a:off x="9676105" y="4151050"/>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 name="Rectangle 115"/>
          <p:cNvSpPr/>
          <p:nvPr/>
        </p:nvSpPr>
        <p:spPr>
          <a:xfrm>
            <a:off x="8549885" y="413250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cxnSp>
        <p:nvCxnSpPr>
          <p:cNvPr id="117" name="Straight Connector 116"/>
          <p:cNvCxnSpPr/>
          <p:nvPr/>
        </p:nvCxnSpPr>
        <p:spPr>
          <a:xfrm flipH="1" flipV="1">
            <a:off x="9494678" y="4222060"/>
            <a:ext cx="166240" cy="3126"/>
          </a:xfrm>
          <a:prstGeom prst="line">
            <a:avLst/>
          </a:prstGeom>
        </p:spPr>
        <p:style>
          <a:lnRef idx="1">
            <a:schemeClr val="dk1"/>
          </a:lnRef>
          <a:fillRef idx="0">
            <a:schemeClr val="dk1"/>
          </a:fillRef>
          <a:effectRef idx="0">
            <a:schemeClr val="dk1"/>
          </a:effectRef>
          <a:fontRef idx="minor">
            <a:schemeClr val="tx1"/>
          </a:fontRef>
        </p:style>
      </p:cxnSp>
      <p:sp>
        <p:nvSpPr>
          <p:cNvPr id="118" name="TextBox 117"/>
          <p:cNvSpPr txBox="1"/>
          <p:nvPr/>
        </p:nvSpPr>
        <p:spPr>
          <a:xfrm>
            <a:off x="8151024" y="5023026"/>
            <a:ext cx="1354438" cy="192360"/>
          </a:xfrm>
          <a:prstGeom prst="rect">
            <a:avLst/>
          </a:prstGeom>
          <a:noFill/>
        </p:spPr>
        <p:txBody>
          <a:bodyPr wrap="square" lIns="0" tIns="0" rIns="0" bIns="0" rtlCol="0">
            <a:spAutoFit/>
          </a:bodyPr>
          <a:lstStyle/>
          <a:p>
            <a:pPr algn="r">
              <a:lnSpc>
                <a:spcPts val="1500"/>
              </a:lnSpc>
            </a:pPr>
            <a:r>
              <a:rPr lang="en-US" dirty="0" smtClean="0"/>
              <a:t>Thickness (m)</a:t>
            </a:r>
            <a:endParaRPr lang="en-US" dirty="0"/>
          </a:p>
        </p:txBody>
      </p:sp>
      <p:sp>
        <p:nvSpPr>
          <p:cNvPr id="119" name="Rectangle 118"/>
          <p:cNvSpPr/>
          <p:nvPr/>
        </p:nvSpPr>
        <p:spPr>
          <a:xfrm>
            <a:off x="9679124" y="5010084"/>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 name="Rectangle 119"/>
          <p:cNvSpPr/>
          <p:nvPr/>
        </p:nvSpPr>
        <p:spPr>
          <a:xfrm>
            <a:off x="8058437" y="500160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21" name="TextBox 120"/>
          <p:cNvSpPr txBox="1"/>
          <p:nvPr/>
        </p:nvSpPr>
        <p:spPr>
          <a:xfrm>
            <a:off x="8300374" y="4657267"/>
            <a:ext cx="1611339" cy="276999"/>
          </a:xfrm>
          <a:prstGeom prst="rect">
            <a:avLst/>
          </a:prstGeom>
          <a:noFill/>
        </p:spPr>
        <p:txBody>
          <a:bodyPr wrap="none" lIns="0" tIns="0" rIns="0" bIns="0" rtlCol="0">
            <a:spAutoFit/>
          </a:bodyPr>
          <a:lstStyle/>
          <a:p>
            <a:r>
              <a:rPr lang="en-US" b="1" u="sng" dirty="0" err="1" smtClean="0"/>
              <a:t>Vadose</a:t>
            </a:r>
            <a:r>
              <a:rPr lang="en-US" b="1" u="sng" dirty="0" smtClean="0"/>
              <a:t> Zone Soil</a:t>
            </a:r>
            <a:endParaRPr lang="en-US" b="1" u="sng" dirty="0"/>
          </a:p>
        </p:txBody>
      </p:sp>
      <p:cxnSp>
        <p:nvCxnSpPr>
          <p:cNvPr id="122" name="Straight Connector 121"/>
          <p:cNvCxnSpPr/>
          <p:nvPr/>
        </p:nvCxnSpPr>
        <p:spPr>
          <a:xfrm flipH="1" flipV="1">
            <a:off x="9514854" y="5127414"/>
            <a:ext cx="166240" cy="3126"/>
          </a:xfrm>
          <a:prstGeom prst="line">
            <a:avLst/>
          </a:prstGeom>
        </p:spPr>
        <p:style>
          <a:lnRef idx="1">
            <a:schemeClr val="dk1"/>
          </a:lnRef>
          <a:fillRef idx="0">
            <a:schemeClr val="dk1"/>
          </a:fillRef>
          <a:effectRef idx="0">
            <a:schemeClr val="dk1"/>
          </a:effectRef>
          <a:fontRef idx="minor">
            <a:schemeClr val="tx1"/>
          </a:fontRef>
        </p:style>
      </p:cxnSp>
      <p:sp>
        <p:nvSpPr>
          <p:cNvPr id="129" name="TextBox 128"/>
          <p:cNvSpPr txBox="1"/>
          <p:nvPr/>
        </p:nvSpPr>
        <p:spPr>
          <a:xfrm>
            <a:off x="8151023" y="5737801"/>
            <a:ext cx="1354439" cy="192360"/>
          </a:xfrm>
          <a:prstGeom prst="rect">
            <a:avLst/>
          </a:prstGeom>
          <a:noFill/>
        </p:spPr>
        <p:txBody>
          <a:bodyPr wrap="square" lIns="0" tIns="0" rIns="0" bIns="0" rtlCol="0">
            <a:spAutoFit/>
          </a:bodyPr>
          <a:lstStyle/>
          <a:p>
            <a:pPr algn="r">
              <a:lnSpc>
                <a:spcPts val="1500"/>
              </a:lnSpc>
            </a:pPr>
            <a:r>
              <a:rPr lang="en-US" dirty="0" smtClean="0"/>
              <a:t>Thickness (m)</a:t>
            </a:r>
            <a:endParaRPr lang="en-US" dirty="0"/>
          </a:p>
        </p:txBody>
      </p:sp>
      <p:sp>
        <p:nvSpPr>
          <p:cNvPr id="130" name="Rectangle 129"/>
          <p:cNvSpPr/>
          <p:nvPr/>
        </p:nvSpPr>
        <p:spPr>
          <a:xfrm>
            <a:off x="9679124" y="5724859"/>
            <a:ext cx="630936"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 name="Rectangle 130"/>
          <p:cNvSpPr/>
          <p:nvPr/>
        </p:nvSpPr>
        <p:spPr>
          <a:xfrm>
            <a:off x="8044406" y="572485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32" name="TextBox 131"/>
          <p:cNvSpPr txBox="1"/>
          <p:nvPr/>
        </p:nvSpPr>
        <p:spPr>
          <a:xfrm>
            <a:off x="8300374" y="5372042"/>
            <a:ext cx="1275349" cy="276999"/>
          </a:xfrm>
          <a:prstGeom prst="rect">
            <a:avLst/>
          </a:prstGeom>
          <a:noFill/>
        </p:spPr>
        <p:txBody>
          <a:bodyPr wrap="none" lIns="0" tIns="0" rIns="0" bIns="0" rtlCol="0">
            <a:spAutoFit/>
          </a:bodyPr>
          <a:lstStyle/>
          <a:p>
            <a:r>
              <a:rPr lang="en-US" b="1" u="sng" dirty="0" smtClean="0"/>
              <a:t>Groundwater</a:t>
            </a:r>
            <a:endParaRPr lang="en-US" b="1" u="sng" dirty="0"/>
          </a:p>
        </p:txBody>
      </p:sp>
      <p:cxnSp>
        <p:nvCxnSpPr>
          <p:cNvPr id="133" name="Straight Connector 132"/>
          <p:cNvCxnSpPr/>
          <p:nvPr/>
        </p:nvCxnSpPr>
        <p:spPr>
          <a:xfrm flipH="1" flipV="1">
            <a:off x="9514854" y="5842189"/>
            <a:ext cx="166240" cy="3126"/>
          </a:xfrm>
          <a:prstGeom prst="line">
            <a:avLst/>
          </a:prstGeom>
        </p:spPr>
        <p:style>
          <a:lnRef idx="1">
            <a:schemeClr val="dk1"/>
          </a:lnRef>
          <a:fillRef idx="0">
            <a:schemeClr val="dk1"/>
          </a:fillRef>
          <a:effectRef idx="0">
            <a:schemeClr val="dk1"/>
          </a:effectRef>
          <a:fontRef idx="minor">
            <a:schemeClr val="tx1"/>
          </a:fontRef>
        </p:style>
      </p:cxnSp>
      <p:sp>
        <p:nvSpPr>
          <p:cNvPr id="138" name="Rounded Rectangle 137"/>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ction Button: Forward or Next 49">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Action Button: Back or Previous 52">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54" name="Picture 4" descr="Image result for save button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Image result for exit graphic GU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
        <p:nvSpPr>
          <p:cNvPr id="56" name="TextBox 55"/>
          <p:cNvSpPr txBox="1"/>
          <p:nvPr/>
        </p:nvSpPr>
        <p:spPr>
          <a:xfrm>
            <a:off x="8124015" y="6074345"/>
            <a:ext cx="4042611" cy="7386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dirty="0" smtClean="0">
                <a:latin typeface="Arial Narrow" panose="020B0606020202030204" pitchFamily="34" charset="0"/>
              </a:rPr>
              <a:t>As noted in the Excel file, some of these could be chucked into a screen of parameters either typically not used or whose settings are typically not changed…</a:t>
            </a:r>
            <a:endParaRPr lang="en-US" sz="1400" dirty="0">
              <a:latin typeface="Arial Narrow" panose="020B0606020202030204" pitchFamily="34" charset="0"/>
            </a:endParaRPr>
          </a:p>
        </p:txBody>
      </p:sp>
    </p:spTree>
    <p:extLst>
      <p:ext uri="{BB962C8B-B14F-4D97-AF65-F5344CB8AC3E}">
        <p14:creationId xmlns:p14="http://schemas.microsoft.com/office/powerpoint/2010/main" val="1375356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2548497" y="-95130"/>
            <a:ext cx="7133684" cy="923330"/>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Seasonal Plant Dynamics</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smtClean="0"/>
              <a:t>5</a:t>
            </a:r>
            <a:endParaRPr lang="en-US" dirty="0"/>
          </a:p>
        </p:txBody>
      </p:sp>
      <p:sp>
        <p:nvSpPr>
          <p:cNvPr id="47" name="Rounded Rectangle 46"/>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TextBox 223"/>
          <p:cNvSpPr txBox="1"/>
          <p:nvPr/>
        </p:nvSpPr>
        <p:spPr>
          <a:xfrm>
            <a:off x="6819900" y="1142183"/>
            <a:ext cx="2992244" cy="384721"/>
          </a:xfrm>
          <a:prstGeom prst="rect">
            <a:avLst/>
          </a:prstGeom>
          <a:noFill/>
        </p:spPr>
        <p:txBody>
          <a:bodyPr wrap="square" lIns="0" tIns="0" rIns="0" bIns="0" rtlCol="0">
            <a:spAutoFit/>
          </a:bodyPr>
          <a:lstStyle/>
          <a:p>
            <a:pPr algn="r">
              <a:lnSpc>
                <a:spcPts val="1500"/>
              </a:lnSpc>
            </a:pPr>
            <a:r>
              <a:rPr lang="en-US" dirty="0" smtClean="0"/>
              <a:t>Use time-varying values for litterfall and “allow exchange”?</a:t>
            </a:r>
            <a:endParaRPr lang="en-US" dirty="0"/>
          </a:p>
        </p:txBody>
      </p:sp>
      <p:sp>
        <p:nvSpPr>
          <p:cNvPr id="225" name="TextBox 224"/>
          <p:cNvSpPr txBox="1"/>
          <p:nvPr/>
        </p:nvSpPr>
        <p:spPr>
          <a:xfrm>
            <a:off x="7132921" y="1645274"/>
            <a:ext cx="2647268" cy="205184"/>
          </a:xfrm>
          <a:prstGeom prst="rect">
            <a:avLst/>
          </a:prstGeom>
          <a:noFill/>
        </p:spPr>
        <p:txBody>
          <a:bodyPr wrap="square" lIns="0" tIns="0" rIns="0" bIns="0" rtlCol="0">
            <a:spAutoFit/>
          </a:bodyPr>
          <a:lstStyle/>
          <a:p>
            <a:pPr algn="r">
              <a:lnSpc>
                <a:spcPts val="1500"/>
              </a:lnSpc>
            </a:pPr>
            <a:r>
              <a:rPr lang="en-US" dirty="0" smtClean="0"/>
              <a:t>File for time-varying values</a:t>
            </a:r>
            <a:endParaRPr lang="en-US" dirty="0"/>
          </a:p>
        </p:txBody>
      </p:sp>
      <p:cxnSp>
        <p:nvCxnSpPr>
          <p:cNvPr id="226" name="Straight Connector 225"/>
          <p:cNvCxnSpPr/>
          <p:nvPr/>
        </p:nvCxnSpPr>
        <p:spPr>
          <a:xfrm flipH="1">
            <a:off x="9800759" y="1287399"/>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227" name="Straight Connector 226"/>
          <p:cNvCxnSpPr/>
          <p:nvPr/>
        </p:nvCxnSpPr>
        <p:spPr>
          <a:xfrm flipH="1" flipV="1">
            <a:off x="9804795" y="1724473"/>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28" name="Rectangle 227"/>
          <p:cNvSpPr/>
          <p:nvPr/>
        </p:nvSpPr>
        <p:spPr>
          <a:xfrm>
            <a:off x="9963081" y="1159149"/>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229" name="Rectangle 228"/>
          <p:cNvSpPr/>
          <p:nvPr/>
        </p:nvSpPr>
        <p:spPr>
          <a:xfrm>
            <a:off x="7090886" y="113602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30" name="Rectangle 229"/>
          <p:cNvSpPr/>
          <p:nvPr/>
        </p:nvSpPr>
        <p:spPr>
          <a:xfrm>
            <a:off x="7090887" y="162209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31" name="Down Arrow 230"/>
          <p:cNvSpPr/>
          <p:nvPr/>
        </p:nvSpPr>
        <p:spPr>
          <a:xfrm>
            <a:off x="9963081" y="1444890"/>
            <a:ext cx="274320" cy="15686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2" name="TextBox 231"/>
          <p:cNvSpPr txBox="1"/>
          <p:nvPr/>
        </p:nvSpPr>
        <p:spPr>
          <a:xfrm>
            <a:off x="8403617" y="813527"/>
            <a:ext cx="1383584" cy="276999"/>
          </a:xfrm>
          <a:prstGeom prst="rect">
            <a:avLst/>
          </a:prstGeom>
          <a:noFill/>
        </p:spPr>
        <p:txBody>
          <a:bodyPr wrap="none" lIns="0" tIns="0" rIns="0" bIns="0" rtlCol="0">
            <a:spAutoFit/>
          </a:bodyPr>
          <a:lstStyle/>
          <a:p>
            <a:pPr algn="r"/>
            <a:r>
              <a:rPr lang="en-US" b="1" u="sng" dirty="0" smtClean="0"/>
              <a:t>Grasses/Herbs</a:t>
            </a:r>
            <a:endParaRPr lang="en-US" b="1" u="sng" dirty="0"/>
          </a:p>
        </p:txBody>
      </p:sp>
      <p:sp>
        <p:nvSpPr>
          <p:cNvPr id="233" name="Rectangle 232"/>
          <p:cNvSpPr/>
          <p:nvPr/>
        </p:nvSpPr>
        <p:spPr>
          <a:xfrm>
            <a:off x="9970648" y="1623437"/>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4" name="TextBox 233"/>
          <p:cNvSpPr txBox="1"/>
          <p:nvPr/>
        </p:nvSpPr>
        <p:spPr>
          <a:xfrm>
            <a:off x="9973091" y="1622098"/>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235" name="TextBox 234"/>
          <p:cNvSpPr txBox="1"/>
          <p:nvPr/>
        </p:nvSpPr>
        <p:spPr>
          <a:xfrm>
            <a:off x="6353175" y="2031911"/>
            <a:ext cx="3427014" cy="192360"/>
          </a:xfrm>
          <a:prstGeom prst="rect">
            <a:avLst/>
          </a:prstGeom>
          <a:noFill/>
        </p:spPr>
        <p:txBody>
          <a:bodyPr wrap="square" lIns="0" tIns="0" rIns="0" bIns="0" rtlCol="0">
            <a:spAutoFit/>
          </a:bodyPr>
          <a:lstStyle/>
          <a:p>
            <a:pPr algn="r">
              <a:lnSpc>
                <a:spcPts val="1500"/>
              </a:lnSpc>
            </a:pPr>
            <a:r>
              <a:rPr lang="en-US" dirty="0" smtClean="0"/>
              <a:t>Field name for values of litterfall</a:t>
            </a:r>
            <a:endParaRPr lang="en-US" dirty="0"/>
          </a:p>
        </p:txBody>
      </p:sp>
      <p:sp>
        <p:nvSpPr>
          <p:cNvPr id="236" name="Rectangle 235"/>
          <p:cNvSpPr/>
          <p:nvPr/>
        </p:nvSpPr>
        <p:spPr>
          <a:xfrm>
            <a:off x="6579966" y="203191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37" name="Rectangle 236"/>
          <p:cNvSpPr/>
          <p:nvPr/>
        </p:nvSpPr>
        <p:spPr>
          <a:xfrm>
            <a:off x="9959890" y="2012092"/>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8" name="Rectangle 237"/>
          <p:cNvSpPr/>
          <p:nvPr/>
        </p:nvSpPr>
        <p:spPr>
          <a:xfrm>
            <a:off x="9957018" y="2014037"/>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9" name="Isosceles Triangle 238"/>
          <p:cNvSpPr/>
          <p:nvPr/>
        </p:nvSpPr>
        <p:spPr>
          <a:xfrm flipV="1">
            <a:off x="9995516" y="2122344"/>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0" name="Straight Connector 239"/>
          <p:cNvCxnSpPr/>
          <p:nvPr/>
        </p:nvCxnSpPr>
        <p:spPr>
          <a:xfrm flipH="1" flipV="1">
            <a:off x="9789356" y="2095569"/>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41" name="Straight Connector 240"/>
          <p:cNvCxnSpPr/>
          <p:nvPr/>
        </p:nvCxnSpPr>
        <p:spPr>
          <a:xfrm flipH="1" flipV="1">
            <a:off x="9787201" y="296639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42" name="Rectangle 241"/>
          <p:cNvSpPr/>
          <p:nvPr/>
        </p:nvSpPr>
        <p:spPr>
          <a:xfrm>
            <a:off x="9955598" y="2864830"/>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3" name="TextBox 242"/>
          <p:cNvSpPr txBox="1"/>
          <p:nvPr/>
        </p:nvSpPr>
        <p:spPr>
          <a:xfrm>
            <a:off x="6579966" y="2887386"/>
            <a:ext cx="3200223" cy="192360"/>
          </a:xfrm>
          <a:prstGeom prst="rect">
            <a:avLst/>
          </a:prstGeom>
          <a:noFill/>
        </p:spPr>
        <p:txBody>
          <a:bodyPr wrap="square" lIns="0" tIns="0" rIns="0" bIns="0" rtlCol="0">
            <a:spAutoFit/>
          </a:bodyPr>
          <a:lstStyle/>
          <a:p>
            <a:pPr algn="r">
              <a:lnSpc>
                <a:spcPts val="1500"/>
              </a:lnSpc>
            </a:pPr>
            <a:r>
              <a:rPr lang="en-US" dirty="0" smtClean="0"/>
              <a:t>Static value for litterfall rate (/day)</a:t>
            </a:r>
            <a:endParaRPr lang="en-US" dirty="0"/>
          </a:p>
        </p:txBody>
      </p:sp>
      <p:sp>
        <p:nvSpPr>
          <p:cNvPr id="244" name="Rectangle 243"/>
          <p:cNvSpPr/>
          <p:nvPr/>
        </p:nvSpPr>
        <p:spPr>
          <a:xfrm>
            <a:off x="6404557" y="2898533"/>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45" name="Down Arrow 244"/>
          <p:cNvSpPr/>
          <p:nvPr/>
        </p:nvSpPr>
        <p:spPr>
          <a:xfrm>
            <a:off x="9946151" y="1904005"/>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6" name="TextBox 245"/>
          <p:cNvSpPr txBox="1"/>
          <p:nvPr/>
        </p:nvSpPr>
        <p:spPr>
          <a:xfrm>
            <a:off x="7090886" y="2406530"/>
            <a:ext cx="2701898" cy="397545"/>
          </a:xfrm>
          <a:prstGeom prst="rect">
            <a:avLst/>
          </a:prstGeom>
          <a:noFill/>
        </p:spPr>
        <p:txBody>
          <a:bodyPr wrap="square" lIns="0" tIns="0" rIns="0" bIns="0" rtlCol="0">
            <a:spAutoFit/>
          </a:bodyPr>
          <a:lstStyle/>
          <a:p>
            <a:pPr algn="r">
              <a:lnSpc>
                <a:spcPts val="1500"/>
              </a:lnSpc>
            </a:pPr>
            <a:r>
              <a:rPr lang="en-US" dirty="0" smtClean="0"/>
              <a:t>Field name for values of “allow exchange”</a:t>
            </a:r>
            <a:endParaRPr lang="en-US" dirty="0"/>
          </a:p>
        </p:txBody>
      </p:sp>
      <p:sp>
        <p:nvSpPr>
          <p:cNvPr id="247" name="Rectangle 246"/>
          <p:cNvSpPr/>
          <p:nvPr/>
        </p:nvSpPr>
        <p:spPr>
          <a:xfrm>
            <a:off x="7383891" y="240880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48" name="Rectangle 247"/>
          <p:cNvSpPr/>
          <p:nvPr/>
        </p:nvSpPr>
        <p:spPr>
          <a:xfrm>
            <a:off x="9972485" y="2386711"/>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9" name="Rectangle 248"/>
          <p:cNvSpPr/>
          <p:nvPr/>
        </p:nvSpPr>
        <p:spPr>
          <a:xfrm>
            <a:off x="9969613" y="2388656"/>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0" name="Isosceles Triangle 249"/>
          <p:cNvSpPr/>
          <p:nvPr/>
        </p:nvSpPr>
        <p:spPr>
          <a:xfrm flipV="1">
            <a:off x="10008111" y="2496963"/>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51" name="Straight Connector 250"/>
          <p:cNvCxnSpPr/>
          <p:nvPr/>
        </p:nvCxnSpPr>
        <p:spPr>
          <a:xfrm flipH="1" flipV="1">
            <a:off x="9801951" y="2470188"/>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252" name="Straight Connector 251"/>
          <p:cNvCxnSpPr/>
          <p:nvPr/>
        </p:nvCxnSpPr>
        <p:spPr>
          <a:xfrm flipH="1" flipV="1">
            <a:off x="9787201" y="3344463"/>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53" name="Rectangle 252"/>
          <p:cNvSpPr/>
          <p:nvPr/>
        </p:nvSpPr>
        <p:spPr>
          <a:xfrm>
            <a:off x="9955598" y="3242902"/>
            <a:ext cx="631569" cy="27432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4" name="TextBox 253"/>
          <p:cNvSpPr txBox="1"/>
          <p:nvPr/>
        </p:nvSpPr>
        <p:spPr>
          <a:xfrm>
            <a:off x="7132921" y="3265458"/>
            <a:ext cx="2647268" cy="397545"/>
          </a:xfrm>
          <a:prstGeom prst="rect">
            <a:avLst/>
          </a:prstGeom>
          <a:noFill/>
        </p:spPr>
        <p:txBody>
          <a:bodyPr wrap="square" lIns="0" tIns="0" rIns="0" bIns="0" rtlCol="0">
            <a:spAutoFit/>
          </a:bodyPr>
          <a:lstStyle/>
          <a:p>
            <a:pPr algn="r">
              <a:lnSpc>
                <a:spcPts val="1500"/>
              </a:lnSpc>
            </a:pPr>
            <a:r>
              <a:rPr lang="en-US" dirty="0" smtClean="0"/>
              <a:t>Static value for “allow exchange” (yes=1, no=0)</a:t>
            </a:r>
            <a:endParaRPr lang="en-US" dirty="0"/>
          </a:p>
        </p:txBody>
      </p:sp>
      <p:sp>
        <p:nvSpPr>
          <p:cNvPr id="255" name="Rectangle 254"/>
          <p:cNvSpPr/>
          <p:nvPr/>
        </p:nvSpPr>
        <p:spPr>
          <a:xfrm>
            <a:off x="7550280" y="324946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04" name="TextBox 103"/>
          <p:cNvSpPr txBox="1"/>
          <p:nvPr/>
        </p:nvSpPr>
        <p:spPr>
          <a:xfrm>
            <a:off x="6826912" y="4071517"/>
            <a:ext cx="2992244" cy="384721"/>
          </a:xfrm>
          <a:prstGeom prst="rect">
            <a:avLst/>
          </a:prstGeom>
          <a:noFill/>
        </p:spPr>
        <p:txBody>
          <a:bodyPr wrap="square" lIns="0" tIns="0" rIns="0" bIns="0" rtlCol="0">
            <a:spAutoFit/>
          </a:bodyPr>
          <a:lstStyle/>
          <a:p>
            <a:pPr algn="r">
              <a:lnSpc>
                <a:spcPts val="1500"/>
              </a:lnSpc>
            </a:pPr>
            <a:r>
              <a:rPr lang="en-US" dirty="0" smtClean="0"/>
              <a:t>Use time-varying values for litterfall and “allow exchange”?</a:t>
            </a:r>
            <a:endParaRPr lang="en-US" dirty="0"/>
          </a:p>
        </p:txBody>
      </p:sp>
      <p:sp>
        <p:nvSpPr>
          <p:cNvPr id="105" name="TextBox 104"/>
          <p:cNvSpPr txBox="1"/>
          <p:nvPr/>
        </p:nvSpPr>
        <p:spPr>
          <a:xfrm>
            <a:off x="7139933" y="4574608"/>
            <a:ext cx="2647268" cy="205184"/>
          </a:xfrm>
          <a:prstGeom prst="rect">
            <a:avLst/>
          </a:prstGeom>
          <a:noFill/>
        </p:spPr>
        <p:txBody>
          <a:bodyPr wrap="square" lIns="0" tIns="0" rIns="0" bIns="0" rtlCol="0">
            <a:spAutoFit/>
          </a:bodyPr>
          <a:lstStyle/>
          <a:p>
            <a:pPr algn="r">
              <a:lnSpc>
                <a:spcPts val="1500"/>
              </a:lnSpc>
            </a:pPr>
            <a:r>
              <a:rPr lang="en-US" dirty="0" smtClean="0"/>
              <a:t>File for time-varying values</a:t>
            </a:r>
            <a:endParaRPr lang="en-US" dirty="0"/>
          </a:p>
        </p:txBody>
      </p:sp>
      <p:cxnSp>
        <p:nvCxnSpPr>
          <p:cNvPr id="106" name="Straight Connector 105"/>
          <p:cNvCxnSpPr/>
          <p:nvPr/>
        </p:nvCxnSpPr>
        <p:spPr>
          <a:xfrm flipH="1">
            <a:off x="9807771" y="4216733"/>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07" name="Straight Connector 106"/>
          <p:cNvCxnSpPr/>
          <p:nvPr/>
        </p:nvCxnSpPr>
        <p:spPr>
          <a:xfrm flipH="1" flipV="1">
            <a:off x="9811807" y="4653807"/>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08" name="Rectangle 107"/>
          <p:cNvSpPr/>
          <p:nvPr/>
        </p:nvSpPr>
        <p:spPr>
          <a:xfrm>
            <a:off x="9970093" y="4088483"/>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109" name="Rectangle 108"/>
          <p:cNvSpPr/>
          <p:nvPr/>
        </p:nvSpPr>
        <p:spPr>
          <a:xfrm>
            <a:off x="7097898" y="406535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10" name="Rectangle 109"/>
          <p:cNvSpPr/>
          <p:nvPr/>
        </p:nvSpPr>
        <p:spPr>
          <a:xfrm>
            <a:off x="7097899" y="455143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11" name="Down Arrow 110"/>
          <p:cNvSpPr/>
          <p:nvPr/>
        </p:nvSpPr>
        <p:spPr>
          <a:xfrm>
            <a:off x="9970093" y="4374224"/>
            <a:ext cx="274320" cy="15686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2" name="TextBox 111"/>
          <p:cNvSpPr txBox="1"/>
          <p:nvPr/>
        </p:nvSpPr>
        <p:spPr>
          <a:xfrm>
            <a:off x="8733986" y="3742861"/>
            <a:ext cx="1060227" cy="276999"/>
          </a:xfrm>
          <a:prstGeom prst="rect">
            <a:avLst/>
          </a:prstGeom>
          <a:noFill/>
        </p:spPr>
        <p:txBody>
          <a:bodyPr wrap="none" lIns="0" tIns="0" rIns="0" bIns="0" rtlCol="0">
            <a:spAutoFit/>
          </a:bodyPr>
          <a:lstStyle/>
          <a:p>
            <a:pPr algn="r"/>
            <a:r>
              <a:rPr lang="en-US" b="1" u="sng" dirty="0" smtClean="0"/>
              <a:t>Agriculture</a:t>
            </a:r>
            <a:endParaRPr lang="en-US" b="1" u="sng" dirty="0"/>
          </a:p>
        </p:txBody>
      </p:sp>
      <p:sp>
        <p:nvSpPr>
          <p:cNvPr id="113" name="Rectangle 112"/>
          <p:cNvSpPr/>
          <p:nvPr/>
        </p:nvSpPr>
        <p:spPr>
          <a:xfrm>
            <a:off x="9977660" y="4552771"/>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 name="TextBox 113"/>
          <p:cNvSpPr txBox="1"/>
          <p:nvPr/>
        </p:nvSpPr>
        <p:spPr>
          <a:xfrm>
            <a:off x="9980103" y="4551432"/>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115" name="TextBox 114"/>
          <p:cNvSpPr txBox="1"/>
          <p:nvPr/>
        </p:nvSpPr>
        <p:spPr>
          <a:xfrm>
            <a:off x="6360187" y="4961245"/>
            <a:ext cx="3427014" cy="192360"/>
          </a:xfrm>
          <a:prstGeom prst="rect">
            <a:avLst/>
          </a:prstGeom>
          <a:noFill/>
        </p:spPr>
        <p:txBody>
          <a:bodyPr wrap="square" lIns="0" tIns="0" rIns="0" bIns="0" rtlCol="0">
            <a:spAutoFit/>
          </a:bodyPr>
          <a:lstStyle/>
          <a:p>
            <a:pPr algn="r">
              <a:lnSpc>
                <a:spcPts val="1500"/>
              </a:lnSpc>
            </a:pPr>
            <a:r>
              <a:rPr lang="en-US" dirty="0" smtClean="0"/>
              <a:t>Field name for values of litterfall</a:t>
            </a:r>
            <a:endParaRPr lang="en-US" dirty="0"/>
          </a:p>
        </p:txBody>
      </p:sp>
      <p:sp>
        <p:nvSpPr>
          <p:cNvPr id="116" name="Rectangle 115"/>
          <p:cNvSpPr/>
          <p:nvPr/>
        </p:nvSpPr>
        <p:spPr>
          <a:xfrm>
            <a:off x="6586978" y="496124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17" name="Rectangle 116"/>
          <p:cNvSpPr/>
          <p:nvPr/>
        </p:nvSpPr>
        <p:spPr>
          <a:xfrm>
            <a:off x="9966902" y="4941426"/>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 name="Rectangle 117"/>
          <p:cNvSpPr/>
          <p:nvPr/>
        </p:nvSpPr>
        <p:spPr>
          <a:xfrm>
            <a:off x="9964030" y="4943371"/>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 name="Isosceles Triangle 118"/>
          <p:cNvSpPr/>
          <p:nvPr/>
        </p:nvSpPr>
        <p:spPr>
          <a:xfrm flipV="1">
            <a:off x="10002528" y="5051678"/>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20" name="Straight Connector 119"/>
          <p:cNvCxnSpPr/>
          <p:nvPr/>
        </p:nvCxnSpPr>
        <p:spPr>
          <a:xfrm flipH="1" flipV="1">
            <a:off x="9796368" y="5024903"/>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121" name="Straight Connector 120"/>
          <p:cNvCxnSpPr/>
          <p:nvPr/>
        </p:nvCxnSpPr>
        <p:spPr>
          <a:xfrm flipH="1" flipV="1">
            <a:off x="9794213" y="589572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22" name="Rectangle 121"/>
          <p:cNvSpPr/>
          <p:nvPr/>
        </p:nvSpPr>
        <p:spPr>
          <a:xfrm>
            <a:off x="9962610" y="5794164"/>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 name="TextBox 122"/>
          <p:cNvSpPr txBox="1"/>
          <p:nvPr/>
        </p:nvSpPr>
        <p:spPr>
          <a:xfrm>
            <a:off x="6586978" y="5816720"/>
            <a:ext cx="3200223" cy="192360"/>
          </a:xfrm>
          <a:prstGeom prst="rect">
            <a:avLst/>
          </a:prstGeom>
          <a:noFill/>
        </p:spPr>
        <p:txBody>
          <a:bodyPr wrap="square" lIns="0" tIns="0" rIns="0" bIns="0" rtlCol="0">
            <a:spAutoFit/>
          </a:bodyPr>
          <a:lstStyle/>
          <a:p>
            <a:pPr algn="r">
              <a:lnSpc>
                <a:spcPts val="1500"/>
              </a:lnSpc>
            </a:pPr>
            <a:r>
              <a:rPr lang="en-US" dirty="0" smtClean="0"/>
              <a:t>Static value for litterfall rate (/day)</a:t>
            </a:r>
            <a:endParaRPr lang="en-US" dirty="0"/>
          </a:p>
        </p:txBody>
      </p:sp>
      <p:sp>
        <p:nvSpPr>
          <p:cNvPr id="124" name="Rectangle 123"/>
          <p:cNvSpPr/>
          <p:nvPr/>
        </p:nvSpPr>
        <p:spPr>
          <a:xfrm>
            <a:off x="6411569" y="5827867"/>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25" name="Down Arrow 124"/>
          <p:cNvSpPr/>
          <p:nvPr/>
        </p:nvSpPr>
        <p:spPr>
          <a:xfrm>
            <a:off x="9953163" y="4833339"/>
            <a:ext cx="274320" cy="1019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6" name="TextBox 125"/>
          <p:cNvSpPr txBox="1"/>
          <p:nvPr/>
        </p:nvSpPr>
        <p:spPr>
          <a:xfrm>
            <a:off x="7097898" y="5335864"/>
            <a:ext cx="2701898" cy="397545"/>
          </a:xfrm>
          <a:prstGeom prst="rect">
            <a:avLst/>
          </a:prstGeom>
          <a:noFill/>
        </p:spPr>
        <p:txBody>
          <a:bodyPr wrap="square" lIns="0" tIns="0" rIns="0" bIns="0" rtlCol="0">
            <a:spAutoFit/>
          </a:bodyPr>
          <a:lstStyle/>
          <a:p>
            <a:pPr algn="r">
              <a:lnSpc>
                <a:spcPts val="1500"/>
              </a:lnSpc>
            </a:pPr>
            <a:r>
              <a:rPr lang="en-US" dirty="0" smtClean="0"/>
              <a:t>Field name for values of “allow exchange”</a:t>
            </a:r>
            <a:endParaRPr lang="en-US" dirty="0"/>
          </a:p>
        </p:txBody>
      </p:sp>
      <p:sp>
        <p:nvSpPr>
          <p:cNvPr id="127" name="Rectangle 126"/>
          <p:cNvSpPr/>
          <p:nvPr/>
        </p:nvSpPr>
        <p:spPr>
          <a:xfrm>
            <a:off x="7390903" y="533813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28" name="Rectangle 127"/>
          <p:cNvSpPr/>
          <p:nvPr/>
        </p:nvSpPr>
        <p:spPr>
          <a:xfrm>
            <a:off x="9979497" y="5316045"/>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 name="Rectangle 128"/>
          <p:cNvSpPr/>
          <p:nvPr/>
        </p:nvSpPr>
        <p:spPr>
          <a:xfrm>
            <a:off x="9976625" y="5317990"/>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 name="Isosceles Triangle 129"/>
          <p:cNvSpPr/>
          <p:nvPr/>
        </p:nvSpPr>
        <p:spPr>
          <a:xfrm flipV="1">
            <a:off x="10015123" y="5426297"/>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31" name="Straight Connector 130"/>
          <p:cNvCxnSpPr/>
          <p:nvPr/>
        </p:nvCxnSpPr>
        <p:spPr>
          <a:xfrm flipH="1" flipV="1">
            <a:off x="9808963" y="5399522"/>
            <a:ext cx="166242" cy="3126"/>
          </a:xfrm>
          <a:prstGeom prst="line">
            <a:avLst/>
          </a:prstGeom>
        </p:spPr>
        <p:style>
          <a:lnRef idx="1">
            <a:schemeClr val="dk1"/>
          </a:lnRef>
          <a:fillRef idx="0">
            <a:schemeClr val="dk1"/>
          </a:fillRef>
          <a:effectRef idx="0">
            <a:schemeClr val="dk1"/>
          </a:effectRef>
          <a:fontRef idx="minor">
            <a:schemeClr val="tx1"/>
          </a:fontRef>
        </p:style>
      </p:cxnSp>
      <p:cxnSp>
        <p:nvCxnSpPr>
          <p:cNvPr id="132" name="Straight Connector 131"/>
          <p:cNvCxnSpPr/>
          <p:nvPr/>
        </p:nvCxnSpPr>
        <p:spPr>
          <a:xfrm flipH="1" flipV="1">
            <a:off x="9794213" y="6273797"/>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33" name="Rectangle 132"/>
          <p:cNvSpPr/>
          <p:nvPr/>
        </p:nvSpPr>
        <p:spPr>
          <a:xfrm>
            <a:off x="9962610" y="6172236"/>
            <a:ext cx="631569" cy="27432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 name="TextBox 133"/>
          <p:cNvSpPr txBox="1"/>
          <p:nvPr/>
        </p:nvSpPr>
        <p:spPr>
          <a:xfrm>
            <a:off x="7139933" y="6194792"/>
            <a:ext cx="2647268" cy="397545"/>
          </a:xfrm>
          <a:prstGeom prst="rect">
            <a:avLst/>
          </a:prstGeom>
          <a:noFill/>
        </p:spPr>
        <p:txBody>
          <a:bodyPr wrap="square" lIns="0" tIns="0" rIns="0" bIns="0" rtlCol="0">
            <a:spAutoFit/>
          </a:bodyPr>
          <a:lstStyle/>
          <a:p>
            <a:pPr algn="r">
              <a:lnSpc>
                <a:spcPts val="1500"/>
              </a:lnSpc>
            </a:pPr>
            <a:r>
              <a:rPr lang="en-US" dirty="0" smtClean="0"/>
              <a:t>Static value for “allow exchange” (yes=1, no=0)</a:t>
            </a:r>
            <a:endParaRPr lang="en-US" dirty="0"/>
          </a:p>
        </p:txBody>
      </p:sp>
      <p:sp>
        <p:nvSpPr>
          <p:cNvPr id="135" name="Rectangle 134"/>
          <p:cNvSpPr/>
          <p:nvPr/>
        </p:nvSpPr>
        <p:spPr>
          <a:xfrm>
            <a:off x="7557292" y="617879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36" name="Rectangle 135"/>
          <p:cNvSpPr/>
          <p:nvPr/>
        </p:nvSpPr>
        <p:spPr>
          <a:xfrm>
            <a:off x="1989255" y="1141287"/>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137" name="Down Arrow 136"/>
          <p:cNvSpPr/>
          <p:nvPr/>
        </p:nvSpPr>
        <p:spPr>
          <a:xfrm>
            <a:off x="1989255" y="1427028"/>
            <a:ext cx="274320" cy="15686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8" name="Rectangle 137"/>
          <p:cNvSpPr/>
          <p:nvPr/>
        </p:nvSpPr>
        <p:spPr>
          <a:xfrm>
            <a:off x="179378" y="1618276"/>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TextBox 138"/>
          <p:cNvSpPr txBox="1"/>
          <p:nvPr/>
        </p:nvSpPr>
        <p:spPr>
          <a:xfrm>
            <a:off x="2108760" y="1618276"/>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140" name="Rectangle 139"/>
          <p:cNvSpPr/>
          <p:nvPr/>
        </p:nvSpPr>
        <p:spPr>
          <a:xfrm>
            <a:off x="168620" y="2006931"/>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 name="Rectangle 140"/>
          <p:cNvSpPr/>
          <p:nvPr/>
        </p:nvSpPr>
        <p:spPr>
          <a:xfrm>
            <a:off x="1983714" y="2007904"/>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 name="Isosceles Triangle 141"/>
          <p:cNvSpPr/>
          <p:nvPr/>
        </p:nvSpPr>
        <p:spPr>
          <a:xfrm flipV="1">
            <a:off x="2022212" y="2116211"/>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3" name="Rectangle 142"/>
          <p:cNvSpPr/>
          <p:nvPr/>
        </p:nvSpPr>
        <p:spPr>
          <a:xfrm>
            <a:off x="1641783" y="2827743"/>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 name="Rectangle 143"/>
          <p:cNvSpPr/>
          <p:nvPr/>
        </p:nvSpPr>
        <p:spPr>
          <a:xfrm>
            <a:off x="181215" y="2381550"/>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 name="Rectangle 144"/>
          <p:cNvSpPr/>
          <p:nvPr/>
        </p:nvSpPr>
        <p:spPr>
          <a:xfrm>
            <a:off x="1988655" y="2374324"/>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 name="Isosceles Triangle 145"/>
          <p:cNvSpPr/>
          <p:nvPr/>
        </p:nvSpPr>
        <p:spPr>
          <a:xfrm flipV="1">
            <a:off x="2027153" y="2482631"/>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7" name="Rectangle 146"/>
          <p:cNvSpPr/>
          <p:nvPr/>
        </p:nvSpPr>
        <p:spPr>
          <a:xfrm>
            <a:off x="1641783" y="3205815"/>
            <a:ext cx="631569" cy="27432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 name="TextBox 147"/>
          <p:cNvSpPr txBox="1"/>
          <p:nvPr/>
        </p:nvSpPr>
        <p:spPr>
          <a:xfrm>
            <a:off x="2445592" y="1121806"/>
            <a:ext cx="2992244" cy="397545"/>
          </a:xfrm>
          <a:prstGeom prst="rect">
            <a:avLst/>
          </a:prstGeom>
          <a:noFill/>
        </p:spPr>
        <p:txBody>
          <a:bodyPr wrap="square" lIns="0" tIns="0" rIns="0" bIns="0" rtlCol="0">
            <a:spAutoFit/>
          </a:bodyPr>
          <a:lstStyle/>
          <a:p>
            <a:pPr>
              <a:lnSpc>
                <a:spcPts val="1500"/>
              </a:lnSpc>
            </a:pPr>
            <a:r>
              <a:rPr lang="en-US" dirty="0" smtClean="0"/>
              <a:t>Use time-varying values for litterfall and “allow exchange”?</a:t>
            </a:r>
            <a:endParaRPr lang="en-US" dirty="0"/>
          </a:p>
        </p:txBody>
      </p:sp>
      <p:sp>
        <p:nvSpPr>
          <p:cNvPr id="149" name="TextBox 148"/>
          <p:cNvSpPr txBox="1"/>
          <p:nvPr/>
        </p:nvSpPr>
        <p:spPr>
          <a:xfrm>
            <a:off x="2436855" y="1690539"/>
            <a:ext cx="2647268" cy="205184"/>
          </a:xfrm>
          <a:prstGeom prst="rect">
            <a:avLst/>
          </a:prstGeom>
          <a:noFill/>
        </p:spPr>
        <p:txBody>
          <a:bodyPr wrap="square" lIns="0" tIns="0" rIns="0" bIns="0" rtlCol="0">
            <a:spAutoFit/>
          </a:bodyPr>
          <a:lstStyle/>
          <a:p>
            <a:pPr>
              <a:lnSpc>
                <a:spcPts val="1500"/>
              </a:lnSpc>
            </a:pPr>
            <a:r>
              <a:rPr lang="en-US" dirty="0" smtClean="0"/>
              <a:t>File for time-varying values</a:t>
            </a:r>
            <a:endParaRPr lang="en-US" dirty="0"/>
          </a:p>
        </p:txBody>
      </p:sp>
      <p:sp>
        <p:nvSpPr>
          <p:cNvPr id="150" name="TextBox 149"/>
          <p:cNvSpPr txBox="1"/>
          <p:nvPr/>
        </p:nvSpPr>
        <p:spPr>
          <a:xfrm>
            <a:off x="2444007" y="2096023"/>
            <a:ext cx="3427014" cy="205184"/>
          </a:xfrm>
          <a:prstGeom prst="rect">
            <a:avLst/>
          </a:prstGeom>
          <a:noFill/>
        </p:spPr>
        <p:txBody>
          <a:bodyPr wrap="square" lIns="0" tIns="0" rIns="0" bIns="0" rtlCol="0">
            <a:spAutoFit/>
          </a:bodyPr>
          <a:lstStyle/>
          <a:p>
            <a:pPr>
              <a:lnSpc>
                <a:spcPts val="1500"/>
              </a:lnSpc>
            </a:pPr>
            <a:r>
              <a:rPr lang="en-US" dirty="0" smtClean="0"/>
              <a:t>Field name for values of litterfall</a:t>
            </a:r>
            <a:endParaRPr lang="en-US" dirty="0"/>
          </a:p>
        </p:txBody>
      </p:sp>
      <p:sp>
        <p:nvSpPr>
          <p:cNvPr id="151" name="TextBox 150"/>
          <p:cNvSpPr txBox="1"/>
          <p:nvPr/>
        </p:nvSpPr>
        <p:spPr>
          <a:xfrm>
            <a:off x="2417732" y="2912469"/>
            <a:ext cx="3200223" cy="192360"/>
          </a:xfrm>
          <a:prstGeom prst="rect">
            <a:avLst/>
          </a:prstGeom>
          <a:noFill/>
        </p:spPr>
        <p:txBody>
          <a:bodyPr wrap="square" lIns="0" tIns="0" rIns="0" bIns="0" rtlCol="0">
            <a:spAutoFit/>
          </a:bodyPr>
          <a:lstStyle/>
          <a:p>
            <a:pPr>
              <a:lnSpc>
                <a:spcPts val="1500"/>
              </a:lnSpc>
            </a:pPr>
            <a:r>
              <a:rPr lang="en-US" dirty="0" smtClean="0"/>
              <a:t>Static value for litterfall rate (/day)</a:t>
            </a:r>
            <a:endParaRPr lang="en-US" dirty="0"/>
          </a:p>
        </p:txBody>
      </p:sp>
      <p:sp>
        <p:nvSpPr>
          <p:cNvPr id="152" name="TextBox 151"/>
          <p:cNvSpPr txBox="1"/>
          <p:nvPr/>
        </p:nvSpPr>
        <p:spPr>
          <a:xfrm>
            <a:off x="2411422" y="2387413"/>
            <a:ext cx="2701898" cy="397545"/>
          </a:xfrm>
          <a:prstGeom prst="rect">
            <a:avLst/>
          </a:prstGeom>
          <a:noFill/>
        </p:spPr>
        <p:txBody>
          <a:bodyPr wrap="square" lIns="0" tIns="0" rIns="0" bIns="0" rtlCol="0">
            <a:spAutoFit/>
          </a:bodyPr>
          <a:lstStyle/>
          <a:p>
            <a:pPr>
              <a:lnSpc>
                <a:spcPts val="1500"/>
              </a:lnSpc>
            </a:pPr>
            <a:r>
              <a:rPr lang="en-US" dirty="0" smtClean="0"/>
              <a:t>Field name for values of “allow exchange”</a:t>
            </a:r>
            <a:endParaRPr lang="en-US" dirty="0"/>
          </a:p>
        </p:txBody>
      </p:sp>
      <p:sp>
        <p:nvSpPr>
          <p:cNvPr id="153" name="TextBox 152"/>
          <p:cNvSpPr txBox="1"/>
          <p:nvPr/>
        </p:nvSpPr>
        <p:spPr>
          <a:xfrm>
            <a:off x="2444007" y="3211644"/>
            <a:ext cx="2647268" cy="397545"/>
          </a:xfrm>
          <a:prstGeom prst="rect">
            <a:avLst/>
          </a:prstGeom>
          <a:noFill/>
        </p:spPr>
        <p:txBody>
          <a:bodyPr wrap="square" lIns="0" tIns="0" rIns="0" bIns="0" rtlCol="0">
            <a:spAutoFit/>
          </a:bodyPr>
          <a:lstStyle/>
          <a:p>
            <a:pPr>
              <a:lnSpc>
                <a:spcPts val="1500"/>
              </a:lnSpc>
            </a:pPr>
            <a:r>
              <a:rPr lang="en-US" dirty="0" smtClean="0"/>
              <a:t>Static value for “allow exchange” (yes=1, no=0)</a:t>
            </a:r>
            <a:endParaRPr lang="en-US" dirty="0"/>
          </a:p>
        </p:txBody>
      </p:sp>
      <p:cxnSp>
        <p:nvCxnSpPr>
          <p:cNvPr id="155" name="Straight Connector 154"/>
          <p:cNvCxnSpPr/>
          <p:nvPr/>
        </p:nvCxnSpPr>
        <p:spPr>
          <a:xfrm flipH="1">
            <a:off x="2272119" y="1287399"/>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56" name="Straight Connector 155"/>
          <p:cNvCxnSpPr/>
          <p:nvPr/>
        </p:nvCxnSpPr>
        <p:spPr>
          <a:xfrm flipH="1">
            <a:off x="2280856" y="1747866"/>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57" name="Straight Connector 156"/>
          <p:cNvCxnSpPr/>
          <p:nvPr/>
        </p:nvCxnSpPr>
        <p:spPr>
          <a:xfrm flipH="1">
            <a:off x="2272119" y="2144091"/>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58" name="Straight Connector 157"/>
          <p:cNvCxnSpPr/>
          <p:nvPr/>
        </p:nvCxnSpPr>
        <p:spPr>
          <a:xfrm flipH="1">
            <a:off x="2280856" y="2511484"/>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59" name="Straight Connector 158"/>
          <p:cNvCxnSpPr/>
          <p:nvPr/>
        </p:nvCxnSpPr>
        <p:spPr>
          <a:xfrm flipH="1">
            <a:off x="2272119" y="2954232"/>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flipH="1">
            <a:off x="2280856" y="3322279"/>
            <a:ext cx="164736" cy="0"/>
          </a:xfrm>
          <a:prstGeom prst="line">
            <a:avLst/>
          </a:prstGeom>
        </p:spPr>
        <p:style>
          <a:lnRef idx="1">
            <a:schemeClr val="dk1"/>
          </a:lnRef>
          <a:fillRef idx="0">
            <a:schemeClr val="dk1"/>
          </a:fillRef>
          <a:effectRef idx="0">
            <a:schemeClr val="dk1"/>
          </a:effectRef>
          <a:fontRef idx="minor">
            <a:schemeClr val="tx1"/>
          </a:fontRef>
        </p:style>
      </p:cxnSp>
      <p:sp>
        <p:nvSpPr>
          <p:cNvPr id="161" name="TextBox 160"/>
          <p:cNvSpPr txBox="1"/>
          <p:nvPr/>
        </p:nvSpPr>
        <p:spPr>
          <a:xfrm>
            <a:off x="2415073" y="804824"/>
            <a:ext cx="1669944" cy="276999"/>
          </a:xfrm>
          <a:prstGeom prst="rect">
            <a:avLst/>
          </a:prstGeom>
          <a:noFill/>
        </p:spPr>
        <p:txBody>
          <a:bodyPr wrap="none" lIns="0" tIns="0" rIns="0" bIns="0" rtlCol="0">
            <a:spAutoFit/>
          </a:bodyPr>
          <a:lstStyle/>
          <a:p>
            <a:pPr algn="r"/>
            <a:r>
              <a:rPr lang="en-US" b="1" u="sng" dirty="0" smtClean="0"/>
              <a:t>Coniferous Forest</a:t>
            </a:r>
            <a:endParaRPr lang="en-US" b="1" u="sng" dirty="0"/>
          </a:p>
        </p:txBody>
      </p:sp>
      <p:sp>
        <p:nvSpPr>
          <p:cNvPr id="162" name="Rectangle 161"/>
          <p:cNvSpPr/>
          <p:nvPr/>
        </p:nvSpPr>
        <p:spPr>
          <a:xfrm>
            <a:off x="1948432" y="4081953"/>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163" name="Down Arrow 162"/>
          <p:cNvSpPr/>
          <p:nvPr/>
        </p:nvSpPr>
        <p:spPr>
          <a:xfrm>
            <a:off x="1948432" y="4367694"/>
            <a:ext cx="274320" cy="15686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4" name="Rectangle 163"/>
          <p:cNvSpPr/>
          <p:nvPr/>
        </p:nvSpPr>
        <p:spPr>
          <a:xfrm>
            <a:off x="138555" y="4558942"/>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 name="TextBox 164"/>
          <p:cNvSpPr txBox="1"/>
          <p:nvPr/>
        </p:nvSpPr>
        <p:spPr>
          <a:xfrm>
            <a:off x="2067937" y="4558942"/>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166" name="Rectangle 165"/>
          <p:cNvSpPr/>
          <p:nvPr/>
        </p:nvSpPr>
        <p:spPr>
          <a:xfrm>
            <a:off x="127797" y="4947597"/>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 name="Rectangle 166"/>
          <p:cNvSpPr/>
          <p:nvPr/>
        </p:nvSpPr>
        <p:spPr>
          <a:xfrm>
            <a:off x="1942891" y="4948570"/>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 name="Isosceles Triangle 167"/>
          <p:cNvSpPr/>
          <p:nvPr/>
        </p:nvSpPr>
        <p:spPr>
          <a:xfrm flipV="1">
            <a:off x="1981389" y="5056877"/>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9" name="Rectangle 168"/>
          <p:cNvSpPr/>
          <p:nvPr/>
        </p:nvSpPr>
        <p:spPr>
          <a:xfrm>
            <a:off x="1600960" y="5768409"/>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 name="Rectangle 169"/>
          <p:cNvSpPr/>
          <p:nvPr/>
        </p:nvSpPr>
        <p:spPr>
          <a:xfrm>
            <a:off x="140392" y="5322216"/>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 name="Rectangle 170"/>
          <p:cNvSpPr/>
          <p:nvPr/>
        </p:nvSpPr>
        <p:spPr>
          <a:xfrm>
            <a:off x="1947832" y="5314990"/>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 name="Isosceles Triangle 171"/>
          <p:cNvSpPr/>
          <p:nvPr/>
        </p:nvSpPr>
        <p:spPr>
          <a:xfrm flipV="1">
            <a:off x="1986330" y="5423297"/>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3" name="Rectangle 172"/>
          <p:cNvSpPr/>
          <p:nvPr/>
        </p:nvSpPr>
        <p:spPr>
          <a:xfrm>
            <a:off x="1600960" y="6146481"/>
            <a:ext cx="631569" cy="27432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 name="TextBox 173"/>
          <p:cNvSpPr txBox="1"/>
          <p:nvPr/>
        </p:nvSpPr>
        <p:spPr>
          <a:xfrm>
            <a:off x="2404769" y="4062472"/>
            <a:ext cx="2992244" cy="397545"/>
          </a:xfrm>
          <a:prstGeom prst="rect">
            <a:avLst/>
          </a:prstGeom>
          <a:noFill/>
        </p:spPr>
        <p:txBody>
          <a:bodyPr wrap="square" lIns="0" tIns="0" rIns="0" bIns="0" rtlCol="0">
            <a:spAutoFit/>
          </a:bodyPr>
          <a:lstStyle/>
          <a:p>
            <a:pPr>
              <a:lnSpc>
                <a:spcPts val="1500"/>
              </a:lnSpc>
            </a:pPr>
            <a:r>
              <a:rPr lang="en-US" dirty="0" smtClean="0"/>
              <a:t>Use time-varying values for litterfall and “allow exchange”?</a:t>
            </a:r>
            <a:endParaRPr lang="en-US" dirty="0"/>
          </a:p>
        </p:txBody>
      </p:sp>
      <p:sp>
        <p:nvSpPr>
          <p:cNvPr id="175" name="TextBox 174"/>
          <p:cNvSpPr txBox="1"/>
          <p:nvPr/>
        </p:nvSpPr>
        <p:spPr>
          <a:xfrm>
            <a:off x="2396032" y="4631205"/>
            <a:ext cx="2647268" cy="205184"/>
          </a:xfrm>
          <a:prstGeom prst="rect">
            <a:avLst/>
          </a:prstGeom>
          <a:noFill/>
        </p:spPr>
        <p:txBody>
          <a:bodyPr wrap="square" lIns="0" tIns="0" rIns="0" bIns="0" rtlCol="0">
            <a:spAutoFit/>
          </a:bodyPr>
          <a:lstStyle/>
          <a:p>
            <a:pPr>
              <a:lnSpc>
                <a:spcPts val="1500"/>
              </a:lnSpc>
            </a:pPr>
            <a:r>
              <a:rPr lang="en-US" dirty="0" smtClean="0"/>
              <a:t>File for time-varying values</a:t>
            </a:r>
            <a:endParaRPr lang="en-US" dirty="0"/>
          </a:p>
        </p:txBody>
      </p:sp>
      <p:sp>
        <p:nvSpPr>
          <p:cNvPr id="176" name="TextBox 175"/>
          <p:cNvSpPr txBox="1"/>
          <p:nvPr/>
        </p:nvSpPr>
        <p:spPr>
          <a:xfrm>
            <a:off x="2376909" y="5853135"/>
            <a:ext cx="3200223" cy="192360"/>
          </a:xfrm>
          <a:prstGeom prst="rect">
            <a:avLst/>
          </a:prstGeom>
          <a:noFill/>
        </p:spPr>
        <p:txBody>
          <a:bodyPr wrap="square" lIns="0" tIns="0" rIns="0" bIns="0" rtlCol="0">
            <a:spAutoFit/>
          </a:bodyPr>
          <a:lstStyle/>
          <a:p>
            <a:pPr>
              <a:lnSpc>
                <a:spcPts val="1500"/>
              </a:lnSpc>
            </a:pPr>
            <a:r>
              <a:rPr lang="en-US" dirty="0" smtClean="0"/>
              <a:t>Static value for litterfall rate (/day)</a:t>
            </a:r>
            <a:endParaRPr lang="en-US" dirty="0"/>
          </a:p>
        </p:txBody>
      </p:sp>
      <p:sp>
        <p:nvSpPr>
          <p:cNvPr id="177" name="TextBox 176"/>
          <p:cNvSpPr txBox="1"/>
          <p:nvPr/>
        </p:nvSpPr>
        <p:spPr>
          <a:xfrm>
            <a:off x="2370599" y="5328079"/>
            <a:ext cx="2701898" cy="397545"/>
          </a:xfrm>
          <a:prstGeom prst="rect">
            <a:avLst/>
          </a:prstGeom>
          <a:noFill/>
        </p:spPr>
        <p:txBody>
          <a:bodyPr wrap="square" lIns="0" tIns="0" rIns="0" bIns="0" rtlCol="0">
            <a:spAutoFit/>
          </a:bodyPr>
          <a:lstStyle/>
          <a:p>
            <a:pPr>
              <a:lnSpc>
                <a:spcPts val="1500"/>
              </a:lnSpc>
            </a:pPr>
            <a:r>
              <a:rPr lang="en-US" dirty="0" smtClean="0"/>
              <a:t>Field name for values of “allow exchange”</a:t>
            </a:r>
            <a:endParaRPr lang="en-US" dirty="0"/>
          </a:p>
        </p:txBody>
      </p:sp>
      <p:sp>
        <p:nvSpPr>
          <p:cNvPr id="178" name="TextBox 177"/>
          <p:cNvSpPr txBox="1"/>
          <p:nvPr/>
        </p:nvSpPr>
        <p:spPr>
          <a:xfrm>
            <a:off x="2403184" y="6152310"/>
            <a:ext cx="2647268" cy="397545"/>
          </a:xfrm>
          <a:prstGeom prst="rect">
            <a:avLst/>
          </a:prstGeom>
          <a:noFill/>
        </p:spPr>
        <p:txBody>
          <a:bodyPr wrap="square" lIns="0" tIns="0" rIns="0" bIns="0" rtlCol="0">
            <a:spAutoFit/>
          </a:bodyPr>
          <a:lstStyle/>
          <a:p>
            <a:pPr>
              <a:lnSpc>
                <a:spcPts val="1500"/>
              </a:lnSpc>
            </a:pPr>
            <a:r>
              <a:rPr lang="en-US" dirty="0" smtClean="0"/>
              <a:t>Static value for “allow exchange” (yes=1, no=0)</a:t>
            </a:r>
            <a:endParaRPr lang="en-US" dirty="0"/>
          </a:p>
        </p:txBody>
      </p:sp>
      <p:cxnSp>
        <p:nvCxnSpPr>
          <p:cNvPr id="179" name="Straight Connector 178"/>
          <p:cNvCxnSpPr/>
          <p:nvPr/>
        </p:nvCxnSpPr>
        <p:spPr>
          <a:xfrm flipH="1">
            <a:off x="2231296" y="4228065"/>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80" name="Straight Connector 179"/>
          <p:cNvCxnSpPr/>
          <p:nvPr/>
        </p:nvCxnSpPr>
        <p:spPr>
          <a:xfrm flipH="1">
            <a:off x="2240033" y="4688532"/>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81" name="Straight Connector 180"/>
          <p:cNvCxnSpPr/>
          <p:nvPr/>
        </p:nvCxnSpPr>
        <p:spPr>
          <a:xfrm flipH="1">
            <a:off x="2231296" y="5084757"/>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82" name="Straight Connector 181"/>
          <p:cNvCxnSpPr/>
          <p:nvPr/>
        </p:nvCxnSpPr>
        <p:spPr>
          <a:xfrm flipH="1">
            <a:off x="2240033" y="5452150"/>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83" name="Straight Connector 182"/>
          <p:cNvCxnSpPr/>
          <p:nvPr/>
        </p:nvCxnSpPr>
        <p:spPr>
          <a:xfrm flipH="1">
            <a:off x="2231296" y="5894898"/>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84" name="Straight Connector 183"/>
          <p:cNvCxnSpPr/>
          <p:nvPr/>
        </p:nvCxnSpPr>
        <p:spPr>
          <a:xfrm flipH="1">
            <a:off x="2240033" y="6262945"/>
            <a:ext cx="164736" cy="0"/>
          </a:xfrm>
          <a:prstGeom prst="line">
            <a:avLst/>
          </a:prstGeom>
        </p:spPr>
        <p:style>
          <a:lnRef idx="1">
            <a:schemeClr val="dk1"/>
          </a:lnRef>
          <a:fillRef idx="0">
            <a:schemeClr val="dk1"/>
          </a:fillRef>
          <a:effectRef idx="0">
            <a:schemeClr val="dk1"/>
          </a:effectRef>
          <a:fontRef idx="minor">
            <a:schemeClr val="tx1"/>
          </a:fontRef>
        </p:style>
      </p:cxnSp>
      <p:sp>
        <p:nvSpPr>
          <p:cNvPr id="185" name="TextBox 184"/>
          <p:cNvSpPr txBox="1"/>
          <p:nvPr/>
        </p:nvSpPr>
        <p:spPr>
          <a:xfrm>
            <a:off x="2402654" y="3745490"/>
            <a:ext cx="1641540" cy="276999"/>
          </a:xfrm>
          <a:prstGeom prst="rect">
            <a:avLst/>
          </a:prstGeom>
          <a:noFill/>
        </p:spPr>
        <p:txBody>
          <a:bodyPr wrap="none" lIns="0" tIns="0" rIns="0" bIns="0" rtlCol="0">
            <a:spAutoFit/>
          </a:bodyPr>
          <a:lstStyle/>
          <a:p>
            <a:pPr algn="r"/>
            <a:r>
              <a:rPr lang="en-US" b="1" u="sng" dirty="0" smtClean="0"/>
              <a:t>Deciduous Forest</a:t>
            </a:r>
            <a:endParaRPr lang="en-US" b="1" u="sng" dirty="0"/>
          </a:p>
        </p:txBody>
      </p:sp>
      <p:sp>
        <p:nvSpPr>
          <p:cNvPr id="186" name="TextBox 185"/>
          <p:cNvSpPr txBox="1"/>
          <p:nvPr/>
        </p:nvSpPr>
        <p:spPr>
          <a:xfrm>
            <a:off x="2387147" y="5019868"/>
            <a:ext cx="3427014" cy="205184"/>
          </a:xfrm>
          <a:prstGeom prst="rect">
            <a:avLst/>
          </a:prstGeom>
          <a:noFill/>
        </p:spPr>
        <p:txBody>
          <a:bodyPr wrap="square" lIns="0" tIns="0" rIns="0" bIns="0" rtlCol="0">
            <a:spAutoFit/>
          </a:bodyPr>
          <a:lstStyle/>
          <a:p>
            <a:pPr>
              <a:lnSpc>
                <a:spcPts val="1500"/>
              </a:lnSpc>
            </a:pPr>
            <a:r>
              <a:rPr lang="en-US" dirty="0" smtClean="0"/>
              <a:t>Field name for values of litterfall</a:t>
            </a:r>
            <a:endParaRPr lang="en-US" dirty="0"/>
          </a:p>
        </p:txBody>
      </p:sp>
      <p:sp>
        <p:nvSpPr>
          <p:cNvPr id="154" name="Rectangle 153"/>
          <p:cNvSpPr/>
          <p:nvPr/>
        </p:nvSpPr>
        <p:spPr>
          <a:xfrm>
            <a:off x="4975289" y="1111947"/>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87" name="Rectangle 186"/>
          <p:cNvSpPr/>
          <p:nvPr/>
        </p:nvSpPr>
        <p:spPr>
          <a:xfrm>
            <a:off x="4963923" y="1694916"/>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88" name="Rectangle 187"/>
          <p:cNvSpPr/>
          <p:nvPr/>
        </p:nvSpPr>
        <p:spPr>
          <a:xfrm>
            <a:off x="5471478" y="209556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89" name="Rectangle 188"/>
          <p:cNvSpPr/>
          <p:nvPr/>
        </p:nvSpPr>
        <p:spPr>
          <a:xfrm>
            <a:off x="4660522" y="2388656"/>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0" name="Rectangle 189"/>
          <p:cNvSpPr/>
          <p:nvPr/>
        </p:nvSpPr>
        <p:spPr>
          <a:xfrm>
            <a:off x="5624967" y="292917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1" name="Rectangle 190"/>
          <p:cNvSpPr/>
          <p:nvPr/>
        </p:nvSpPr>
        <p:spPr>
          <a:xfrm>
            <a:off x="4470504" y="320410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2" name="Rectangle 191"/>
          <p:cNvSpPr/>
          <p:nvPr/>
        </p:nvSpPr>
        <p:spPr>
          <a:xfrm>
            <a:off x="4957115" y="405278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3" name="Rectangle 192"/>
          <p:cNvSpPr/>
          <p:nvPr/>
        </p:nvSpPr>
        <p:spPr>
          <a:xfrm>
            <a:off x="4924886" y="4619637"/>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4" name="Rectangle 193"/>
          <p:cNvSpPr/>
          <p:nvPr/>
        </p:nvSpPr>
        <p:spPr>
          <a:xfrm>
            <a:off x="5397013" y="501291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5" name="Rectangle 194"/>
          <p:cNvSpPr/>
          <p:nvPr/>
        </p:nvSpPr>
        <p:spPr>
          <a:xfrm>
            <a:off x="4624649" y="533401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6" name="Rectangle 195"/>
          <p:cNvSpPr/>
          <p:nvPr/>
        </p:nvSpPr>
        <p:spPr>
          <a:xfrm>
            <a:off x="5577132" y="586344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7" name="Rectangle 196"/>
          <p:cNvSpPr/>
          <p:nvPr/>
        </p:nvSpPr>
        <p:spPr>
          <a:xfrm>
            <a:off x="4460061" y="6152310"/>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98" name="Action Button: Forward or Next 197">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9" name="Action Button: Back or Previous 198">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00" name="Picture 4" descr="Image result for save button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201" name="Picture 2" descr="Image result for exit graphic GU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
        <p:nvSpPr>
          <p:cNvPr id="202" name="TextBox 201"/>
          <p:cNvSpPr txBox="1"/>
          <p:nvPr/>
        </p:nvSpPr>
        <p:spPr>
          <a:xfrm>
            <a:off x="13145" y="12471"/>
            <a:ext cx="1880485" cy="163121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000" dirty="0" smtClean="0">
                <a:latin typeface="Arial Narrow" panose="020B0606020202030204" pitchFamily="34" charset="0"/>
              </a:rPr>
              <a:t>For plants using time-varying values, could ask if all will use the same </a:t>
            </a:r>
            <a:r>
              <a:rPr lang="en-US" sz="1000" dirty="0" err="1" smtClean="0">
                <a:latin typeface="Arial Narrow" panose="020B0606020202030204" pitchFamily="34" charset="0"/>
              </a:rPr>
              <a:t>allowExchange</a:t>
            </a:r>
            <a:r>
              <a:rPr lang="en-US" sz="1000" dirty="0" smtClean="0">
                <a:latin typeface="Arial Narrow" panose="020B0606020202030204" pitchFamily="34" charset="0"/>
              </a:rPr>
              <a:t> and litterfall files, to avoid asking for the file multiple times. This screen </a:t>
            </a:r>
            <a:r>
              <a:rPr lang="en-US" sz="1000" dirty="0">
                <a:latin typeface="Arial Narrow" panose="020B0606020202030204" pitchFamily="34" charset="0"/>
              </a:rPr>
              <a:t>could come a little later, after parcels </a:t>
            </a:r>
            <a:r>
              <a:rPr lang="en-US" sz="1000" dirty="0" err="1">
                <a:latin typeface="Arial Narrow" panose="020B0606020202030204" pitchFamily="34" charset="0"/>
              </a:rPr>
              <a:t>shapefile</a:t>
            </a:r>
            <a:r>
              <a:rPr lang="en-US" sz="1000" dirty="0">
                <a:latin typeface="Arial Narrow" panose="020B0606020202030204" pitchFamily="34" charset="0"/>
              </a:rPr>
              <a:t> is read in – the parcel file would tell us what plants we were dealing with, and we could have only those plants show up here</a:t>
            </a:r>
            <a:r>
              <a:rPr lang="en-US" sz="1000" dirty="0" smtClean="0">
                <a:latin typeface="Arial Narrow" panose="020B0606020202030204" pitchFamily="34" charset="0"/>
              </a:rPr>
              <a:t>…</a:t>
            </a:r>
            <a:endParaRPr lang="en-US" sz="1000" dirty="0">
              <a:latin typeface="Arial Narrow" panose="020B0606020202030204" pitchFamily="34" charset="0"/>
            </a:endParaRPr>
          </a:p>
        </p:txBody>
      </p:sp>
    </p:spTree>
    <p:extLst>
      <p:ext uri="{BB962C8B-B14F-4D97-AF65-F5344CB8AC3E}">
        <p14:creationId xmlns:p14="http://schemas.microsoft.com/office/powerpoint/2010/main" val="3246113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4153651" y="-95130"/>
            <a:ext cx="3923382" cy="923330"/>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Parcel Layout</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smtClean="0"/>
              <a:t>6</a:t>
            </a:r>
            <a:endParaRPr lang="en-US" dirty="0"/>
          </a:p>
        </p:txBody>
      </p:sp>
      <p:sp>
        <p:nvSpPr>
          <p:cNvPr id="138" name="Rectangle 137"/>
          <p:cNvSpPr/>
          <p:nvPr/>
        </p:nvSpPr>
        <p:spPr>
          <a:xfrm>
            <a:off x="179378" y="996484"/>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TextBox 138"/>
          <p:cNvSpPr txBox="1"/>
          <p:nvPr/>
        </p:nvSpPr>
        <p:spPr>
          <a:xfrm>
            <a:off x="2108760" y="996484"/>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140" name="Rectangle 139"/>
          <p:cNvSpPr/>
          <p:nvPr/>
        </p:nvSpPr>
        <p:spPr>
          <a:xfrm>
            <a:off x="168620" y="1809528"/>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 name="Rectangle 140"/>
          <p:cNvSpPr/>
          <p:nvPr/>
        </p:nvSpPr>
        <p:spPr>
          <a:xfrm>
            <a:off x="1983714" y="1801357"/>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2" name="Isosceles Triangle 141"/>
          <p:cNvSpPr/>
          <p:nvPr/>
        </p:nvSpPr>
        <p:spPr>
          <a:xfrm flipV="1">
            <a:off x="2022212" y="1918808"/>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4" name="Rectangle 143"/>
          <p:cNvSpPr/>
          <p:nvPr/>
        </p:nvSpPr>
        <p:spPr>
          <a:xfrm>
            <a:off x="168620" y="2237937"/>
            <a:ext cx="2106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 name="Rectangle 144"/>
          <p:cNvSpPr/>
          <p:nvPr/>
        </p:nvSpPr>
        <p:spPr>
          <a:xfrm>
            <a:off x="1997799" y="2230711"/>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 name="Isosceles Triangle 145"/>
          <p:cNvSpPr/>
          <p:nvPr/>
        </p:nvSpPr>
        <p:spPr>
          <a:xfrm flipV="1">
            <a:off x="2027153" y="2339018"/>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9" name="TextBox 148"/>
          <p:cNvSpPr txBox="1"/>
          <p:nvPr/>
        </p:nvSpPr>
        <p:spPr>
          <a:xfrm>
            <a:off x="2436855" y="1068747"/>
            <a:ext cx="2647268" cy="205184"/>
          </a:xfrm>
          <a:prstGeom prst="rect">
            <a:avLst/>
          </a:prstGeom>
          <a:noFill/>
        </p:spPr>
        <p:txBody>
          <a:bodyPr wrap="square" lIns="0" tIns="0" rIns="0" bIns="0" rtlCol="0">
            <a:spAutoFit/>
          </a:bodyPr>
          <a:lstStyle/>
          <a:p>
            <a:pPr>
              <a:lnSpc>
                <a:spcPts val="1500"/>
              </a:lnSpc>
            </a:pPr>
            <a:r>
              <a:rPr lang="en-US" dirty="0" smtClean="0"/>
              <a:t>File for parcel layout</a:t>
            </a:r>
            <a:endParaRPr lang="en-US" dirty="0"/>
          </a:p>
        </p:txBody>
      </p:sp>
      <p:sp>
        <p:nvSpPr>
          <p:cNvPr id="150" name="TextBox 149"/>
          <p:cNvSpPr txBox="1"/>
          <p:nvPr/>
        </p:nvSpPr>
        <p:spPr>
          <a:xfrm>
            <a:off x="2444007" y="1880332"/>
            <a:ext cx="3427014" cy="192360"/>
          </a:xfrm>
          <a:prstGeom prst="rect">
            <a:avLst/>
          </a:prstGeom>
          <a:noFill/>
        </p:spPr>
        <p:txBody>
          <a:bodyPr wrap="square" lIns="0" tIns="0" rIns="0" bIns="0" rtlCol="0">
            <a:spAutoFit/>
          </a:bodyPr>
          <a:lstStyle/>
          <a:p>
            <a:pPr>
              <a:lnSpc>
                <a:spcPts val="1500"/>
              </a:lnSpc>
            </a:pPr>
            <a:r>
              <a:rPr lang="en-US" dirty="0" smtClean="0"/>
              <a:t>Field name for parcel names</a:t>
            </a:r>
            <a:endParaRPr lang="en-US" dirty="0"/>
          </a:p>
        </p:txBody>
      </p:sp>
      <p:sp>
        <p:nvSpPr>
          <p:cNvPr id="152" name="TextBox 151"/>
          <p:cNvSpPr txBox="1"/>
          <p:nvPr/>
        </p:nvSpPr>
        <p:spPr>
          <a:xfrm>
            <a:off x="2438674" y="2279845"/>
            <a:ext cx="2793280" cy="192360"/>
          </a:xfrm>
          <a:prstGeom prst="rect">
            <a:avLst/>
          </a:prstGeom>
          <a:noFill/>
        </p:spPr>
        <p:txBody>
          <a:bodyPr wrap="square" lIns="0" tIns="0" rIns="0" bIns="0" rtlCol="0">
            <a:spAutoFit/>
          </a:bodyPr>
          <a:lstStyle/>
          <a:p>
            <a:pPr>
              <a:lnSpc>
                <a:spcPts val="1500"/>
              </a:lnSpc>
            </a:pPr>
            <a:r>
              <a:rPr lang="en-US" dirty="0" smtClean="0"/>
              <a:t>Field name for air designation</a:t>
            </a:r>
            <a:endParaRPr lang="en-US" dirty="0"/>
          </a:p>
        </p:txBody>
      </p:sp>
      <p:cxnSp>
        <p:nvCxnSpPr>
          <p:cNvPr id="156" name="Straight Connector 155"/>
          <p:cNvCxnSpPr/>
          <p:nvPr/>
        </p:nvCxnSpPr>
        <p:spPr>
          <a:xfrm flipH="1">
            <a:off x="2280856" y="1126074"/>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57" name="Straight Connector 156"/>
          <p:cNvCxnSpPr/>
          <p:nvPr/>
        </p:nvCxnSpPr>
        <p:spPr>
          <a:xfrm flipH="1">
            <a:off x="2272119" y="1946688"/>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58" name="Straight Connector 157"/>
          <p:cNvCxnSpPr/>
          <p:nvPr/>
        </p:nvCxnSpPr>
        <p:spPr>
          <a:xfrm flipH="1">
            <a:off x="2280856" y="2367871"/>
            <a:ext cx="164736" cy="0"/>
          </a:xfrm>
          <a:prstGeom prst="line">
            <a:avLst/>
          </a:prstGeom>
        </p:spPr>
        <p:style>
          <a:lnRef idx="1">
            <a:schemeClr val="dk1"/>
          </a:lnRef>
          <a:fillRef idx="0">
            <a:schemeClr val="dk1"/>
          </a:fillRef>
          <a:effectRef idx="0">
            <a:schemeClr val="dk1"/>
          </a:effectRef>
          <a:fontRef idx="minor">
            <a:schemeClr val="tx1"/>
          </a:fontRef>
        </p:style>
      </p:cxnSp>
      <p:sp>
        <p:nvSpPr>
          <p:cNvPr id="154" name="Rectangle 153"/>
          <p:cNvSpPr/>
          <p:nvPr/>
        </p:nvSpPr>
        <p:spPr>
          <a:xfrm>
            <a:off x="4358999" y="1068747"/>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187" name="Rectangle 186"/>
          <p:cNvSpPr/>
          <p:nvPr/>
        </p:nvSpPr>
        <p:spPr>
          <a:xfrm>
            <a:off x="173953" y="2644652"/>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8" name="Rectangle 187"/>
          <p:cNvSpPr/>
          <p:nvPr/>
        </p:nvSpPr>
        <p:spPr>
          <a:xfrm>
            <a:off x="1989047" y="2645625"/>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89" name="Isosceles Triangle 188"/>
          <p:cNvSpPr/>
          <p:nvPr/>
        </p:nvSpPr>
        <p:spPr>
          <a:xfrm flipV="1">
            <a:off x="2027545" y="2753932"/>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0" name="Rectangle 189"/>
          <p:cNvSpPr/>
          <p:nvPr/>
        </p:nvSpPr>
        <p:spPr>
          <a:xfrm>
            <a:off x="173953" y="3073061"/>
            <a:ext cx="2106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1" name="Rectangle 190"/>
          <p:cNvSpPr/>
          <p:nvPr/>
        </p:nvSpPr>
        <p:spPr>
          <a:xfrm>
            <a:off x="2003132" y="3074979"/>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2" name="Isosceles Triangle 191"/>
          <p:cNvSpPr/>
          <p:nvPr/>
        </p:nvSpPr>
        <p:spPr>
          <a:xfrm flipV="1">
            <a:off x="2032486" y="3174142"/>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3" name="TextBox 192"/>
          <p:cNvSpPr txBox="1"/>
          <p:nvPr/>
        </p:nvSpPr>
        <p:spPr>
          <a:xfrm>
            <a:off x="2449340" y="2715456"/>
            <a:ext cx="3427014" cy="205184"/>
          </a:xfrm>
          <a:prstGeom prst="rect">
            <a:avLst/>
          </a:prstGeom>
          <a:noFill/>
        </p:spPr>
        <p:txBody>
          <a:bodyPr wrap="square" lIns="0" tIns="0" rIns="0" bIns="0" rtlCol="0">
            <a:spAutoFit/>
          </a:bodyPr>
          <a:lstStyle/>
          <a:p>
            <a:pPr>
              <a:lnSpc>
                <a:spcPts val="1500"/>
              </a:lnSpc>
            </a:pPr>
            <a:r>
              <a:rPr lang="en-US" dirty="0" smtClean="0"/>
              <a:t>Field name for land-use designation</a:t>
            </a:r>
            <a:endParaRPr lang="en-US" dirty="0"/>
          </a:p>
        </p:txBody>
      </p:sp>
      <p:sp>
        <p:nvSpPr>
          <p:cNvPr id="194" name="TextBox 193"/>
          <p:cNvSpPr txBox="1"/>
          <p:nvPr/>
        </p:nvSpPr>
        <p:spPr>
          <a:xfrm>
            <a:off x="2444007" y="3078393"/>
            <a:ext cx="2793280" cy="384721"/>
          </a:xfrm>
          <a:prstGeom prst="rect">
            <a:avLst/>
          </a:prstGeom>
          <a:noFill/>
        </p:spPr>
        <p:txBody>
          <a:bodyPr wrap="square" lIns="0" tIns="0" rIns="0" bIns="0" rtlCol="0">
            <a:spAutoFit/>
          </a:bodyPr>
          <a:lstStyle/>
          <a:p>
            <a:pPr>
              <a:lnSpc>
                <a:spcPts val="1500"/>
              </a:lnSpc>
            </a:pPr>
            <a:r>
              <a:rPr lang="en-US" dirty="0" smtClean="0"/>
              <a:t>Field name for farm-food-chain designation</a:t>
            </a:r>
            <a:endParaRPr lang="en-US" dirty="0"/>
          </a:p>
        </p:txBody>
      </p:sp>
      <p:cxnSp>
        <p:nvCxnSpPr>
          <p:cNvPr id="195" name="Straight Connector 194"/>
          <p:cNvCxnSpPr/>
          <p:nvPr/>
        </p:nvCxnSpPr>
        <p:spPr>
          <a:xfrm flipH="1">
            <a:off x="2277452" y="2781812"/>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196" name="Straight Connector 195"/>
          <p:cNvCxnSpPr/>
          <p:nvPr/>
        </p:nvCxnSpPr>
        <p:spPr>
          <a:xfrm flipH="1">
            <a:off x="2286189" y="3202995"/>
            <a:ext cx="164736" cy="0"/>
          </a:xfrm>
          <a:prstGeom prst="line">
            <a:avLst/>
          </a:prstGeom>
        </p:spPr>
        <p:style>
          <a:lnRef idx="1">
            <a:schemeClr val="dk1"/>
          </a:lnRef>
          <a:fillRef idx="0">
            <a:schemeClr val="dk1"/>
          </a:fillRef>
          <a:effectRef idx="0">
            <a:schemeClr val="dk1"/>
          </a:effectRef>
          <a:fontRef idx="minor">
            <a:schemeClr val="tx1"/>
          </a:fontRef>
        </p:style>
      </p:cxnSp>
      <p:sp>
        <p:nvSpPr>
          <p:cNvPr id="197" name="Rectangle 196"/>
          <p:cNvSpPr/>
          <p:nvPr/>
        </p:nvSpPr>
        <p:spPr>
          <a:xfrm>
            <a:off x="189313" y="3535855"/>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8" name="Rectangle 197"/>
          <p:cNvSpPr/>
          <p:nvPr/>
        </p:nvSpPr>
        <p:spPr>
          <a:xfrm>
            <a:off x="2004407" y="3536828"/>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Isosceles Triangle 198"/>
          <p:cNvSpPr/>
          <p:nvPr/>
        </p:nvSpPr>
        <p:spPr>
          <a:xfrm flipV="1">
            <a:off x="2042905" y="3645135"/>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0" name="Rectangle 199"/>
          <p:cNvSpPr/>
          <p:nvPr/>
        </p:nvSpPr>
        <p:spPr>
          <a:xfrm>
            <a:off x="189313" y="4037416"/>
            <a:ext cx="2106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1" name="Rectangle 200"/>
          <p:cNvSpPr/>
          <p:nvPr/>
        </p:nvSpPr>
        <p:spPr>
          <a:xfrm>
            <a:off x="2018492" y="4039334"/>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2" name="Isosceles Triangle 201"/>
          <p:cNvSpPr/>
          <p:nvPr/>
        </p:nvSpPr>
        <p:spPr>
          <a:xfrm flipV="1">
            <a:off x="2047846" y="4138497"/>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3" name="TextBox 202"/>
          <p:cNvSpPr txBox="1"/>
          <p:nvPr/>
        </p:nvSpPr>
        <p:spPr>
          <a:xfrm>
            <a:off x="2464700" y="3551795"/>
            <a:ext cx="3427014" cy="397545"/>
          </a:xfrm>
          <a:prstGeom prst="rect">
            <a:avLst/>
          </a:prstGeom>
          <a:noFill/>
        </p:spPr>
        <p:txBody>
          <a:bodyPr wrap="square" lIns="0" tIns="0" rIns="0" bIns="0" rtlCol="0">
            <a:spAutoFit/>
          </a:bodyPr>
          <a:lstStyle/>
          <a:p>
            <a:pPr>
              <a:lnSpc>
                <a:spcPts val="1500"/>
              </a:lnSpc>
            </a:pPr>
            <a:r>
              <a:rPr lang="en-US" dirty="0" smtClean="0"/>
              <a:t>Field name for fish-food-web designation</a:t>
            </a:r>
            <a:endParaRPr lang="en-US" dirty="0"/>
          </a:p>
        </p:txBody>
      </p:sp>
      <p:sp>
        <p:nvSpPr>
          <p:cNvPr id="204" name="TextBox 203"/>
          <p:cNvSpPr txBox="1"/>
          <p:nvPr/>
        </p:nvSpPr>
        <p:spPr>
          <a:xfrm>
            <a:off x="2459367" y="4042748"/>
            <a:ext cx="2793280" cy="384721"/>
          </a:xfrm>
          <a:prstGeom prst="rect">
            <a:avLst/>
          </a:prstGeom>
          <a:noFill/>
        </p:spPr>
        <p:txBody>
          <a:bodyPr wrap="square" lIns="0" tIns="0" rIns="0" bIns="0" rtlCol="0">
            <a:spAutoFit/>
          </a:bodyPr>
          <a:lstStyle/>
          <a:p>
            <a:pPr>
              <a:lnSpc>
                <a:spcPts val="1500"/>
              </a:lnSpc>
            </a:pPr>
            <a:r>
              <a:rPr lang="en-US" dirty="0" smtClean="0"/>
              <a:t>Field name for wetland designation</a:t>
            </a:r>
            <a:endParaRPr lang="en-US" dirty="0"/>
          </a:p>
        </p:txBody>
      </p:sp>
      <p:cxnSp>
        <p:nvCxnSpPr>
          <p:cNvPr id="205" name="Straight Connector 204"/>
          <p:cNvCxnSpPr/>
          <p:nvPr/>
        </p:nvCxnSpPr>
        <p:spPr>
          <a:xfrm flipH="1">
            <a:off x="2292812" y="3673015"/>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206" name="Straight Connector 205"/>
          <p:cNvCxnSpPr/>
          <p:nvPr/>
        </p:nvCxnSpPr>
        <p:spPr>
          <a:xfrm flipH="1">
            <a:off x="2301549" y="4167350"/>
            <a:ext cx="164736" cy="0"/>
          </a:xfrm>
          <a:prstGeom prst="line">
            <a:avLst/>
          </a:prstGeom>
        </p:spPr>
        <p:style>
          <a:lnRef idx="1">
            <a:schemeClr val="dk1"/>
          </a:lnRef>
          <a:fillRef idx="0">
            <a:schemeClr val="dk1"/>
          </a:fillRef>
          <a:effectRef idx="0">
            <a:schemeClr val="dk1"/>
          </a:effectRef>
          <a:fontRef idx="minor">
            <a:schemeClr val="tx1"/>
          </a:fontRef>
        </p:style>
      </p:cxnSp>
      <p:sp>
        <p:nvSpPr>
          <p:cNvPr id="207" name="Rectangle 206"/>
          <p:cNvSpPr/>
          <p:nvPr/>
        </p:nvSpPr>
        <p:spPr>
          <a:xfrm>
            <a:off x="5096914" y="188467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08" name="Rectangle 207"/>
          <p:cNvSpPr/>
          <p:nvPr/>
        </p:nvSpPr>
        <p:spPr>
          <a:xfrm>
            <a:off x="5222976" y="229215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10" name="Rectangle 209"/>
          <p:cNvSpPr/>
          <p:nvPr/>
        </p:nvSpPr>
        <p:spPr>
          <a:xfrm>
            <a:off x="4885460" y="3079219"/>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11" name="Rectangle 210"/>
          <p:cNvSpPr/>
          <p:nvPr/>
        </p:nvSpPr>
        <p:spPr>
          <a:xfrm>
            <a:off x="5181835" y="352463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12" name="Rectangle 211"/>
          <p:cNvSpPr/>
          <p:nvPr/>
        </p:nvSpPr>
        <p:spPr>
          <a:xfrm>
            <a:off x="4630698" y="4050335"/>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19" name="Rectangle 218"/>
          <p:cNvSpPr/>
          <p:nvPr/>
        </p:nvSpPr>
        <p:spPr>
          <a:xfrm>
            <a:off x="196940" y="4517075"/>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0" name="Rectangle 219"/>
          <p:cNvSpPr/>
          <p:nvPr/>
        </p:nvSpPr>
        <p:spPr>
          <a:xfrm>
            <a:off x="2012034" y="4518048"/>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1" name="Isosceles Triangle 220"/>
          <p:cNvSpPr/>
          <p:nvPr/>
        </p:nvSpPr>
        <p:spPr>
          <a:xfrm flipV="1">
            <a:off x="2050532" y="4626355"/>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22" name="Rectangle 221"/>
          <p:cNvSpPr/>
          <p:nvPr/>
        </p:nvSpPr>
        <p:spPr>
          <a:xfrm>
            <a:off x="196940" y="4891694"/>
            <a:ext cx="2106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3" name="Rectangle 222"/>
          <p:cNvSpPr/>
          <p:nvPr/>
        </p:nvSpPr>
        <p:spPr>
          <a:xfrm>
            <a:off x="2026119" y="4893612"/>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6" name="Isosceles Triangle 255"/>
          <p:cNvSpPr/>
          <p:nvPr/>
        </p:nvSpPr>
        <p:spPr>
          <a:xfrm flipV="1">
            <a:off x="2055473" y="4992775"/>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7" name="TextBox 256"/>
          <p:cNvSpPr txBox="1"/>
          <p:nvPr/>
        </p:nvSpPr>
        <p:spPr>
          <a:xfrm>
            <a:off x="2472327" y="4587879"/>
            <a:ext cx="3427014" cy="192360"/>
          </a:xfrm>
          <a:prstGeom prst="rect">
            <a:avLst/>
          </a:prstGeom>
          <a:noFill/>
        </p:spPr>
        <p:txBody>
          <a:bodyPr wrap="square" lIns="0" tIns="0" rIns="0" bIns="0" rtlCol="0">
            <a:spAutoFit/>
          </a:bodyPr>
          <a:lstStyle/>
          <a:p>
            <a:pPr>
              <a:lnSpc>
                <a:spcPts val="1500"/>
              </a:lnSpc>
            </a:pPr>
            <a:r>
              <a:rPr lang="en-US" dirty="0" smtClean="0"/>
              <a:t>Field name for X coordinates</a:t>
            </a:r>
            <a:endParaRPr lang="en-US" dirty="0"/>
          </a:p>
        </p:txBody>
      </p:sp>
      <p:sp>
        <p:nvSpPr>
          <p:cNvPr id="258" name="TextBox 257"/>
          <p:cNvSpPr txBox="1"/>
          <p:nvPr/>
        </p:nvSpPr>
        <p:spPr>
          <a:xfrm>
            <a:off x="2466994" y="4933602"/>
            <a:ext cx="2793280" cy="192360"/>
          </a:xfrm>
          <a:prstGeom prst="rect">
            <a:avLst/>
          </a:prstGeom>
          <a:noFill/>
        </p:spPr>
        <p:txBody>
          <a:bodyPr wrap="square" lIns="0" tIns="0" rIns="0" bIns="0" rtlCol="0">
            <a:spAutoFit/>
          </a:bodyPr>
          <a:lstStyle/>
          <a:p>
            <a:pPr>
              <a:lnSpc>
                <a:spcPts val="1500"/>
              </a:lnSpc>
            </a:pPr>
            <a:r>
              <a:rPr lang="en-US" dirty="0" smtClean="0"/>
              <a:t>Field name for Y coordinates</a:t>
            </a:r>
            <a:endParaRPr lang="en-US" dirty="0"/>
          </a:p>
        </p:txBody>
      </p:sp>
      <p:cxnSp>
        <p:nvCxnSpPr>
          <p:cNvPr id="259" name="Straight Connector 258"/>
          <p:cNvCxnSpPr/>
          <p:nvPr/>
        </p:nvCxnSpPr>
        <p:spPr>
          <a:xfrm flipH="1">
            <a:off x="2300439" y="4654235"/>
            <a:ext cx="164736" cy="0"/>
          </a:xfrm>
          <a:prstGeom prst="line">
            <a:avLst/>
          </a:prstGeom>
        </p:spPr>
        <p:style>
          <a:lnRef idx="1">
            <a:schemeClr val="dk1"/>
          </a:lnRef>
          <a:fillRef idx="0">
            <a:schemeClr val="dk1"/>
          </a:fillRef>
          <a:effectRef idx="0">
            <a:schemeClr val="dk1"/>
          </a:effectRef>
          <a:fontRef idx="minor">
            <a:schemeClr val="tx1"/>
          </a:fontRef>
        </p:style>
      </p:cxnSp>
      <p:cxnSp>
        <p:nvCxnSpPr>
          <p:cNvPr id="260" name="Straight Connector 259"/>
          <p:cNvCxnSpPr/>
          <p:nvPr/>
        </p:nvCxnSpPr>
        <p:spPr>
          <a:xfrm flipH="1">
            <a:off x="2309176" y="5021628"/>
            <a:ext cx="164736" cy="0"/>
          </a:xfrm>
          <a:prstGeom prst="line">
            <a:avLst/>
          </a:prstGeom>
        </p:spPr>
        <p:style>
          <a:lnRef idx="1">
            <a:schemeClr val="dk1"/>
          </a:lnRef>
          <a:fillRef idx="0">
            <a:schemeClr val="dk1"/>
          </a:fillRef>
          <a:effectRef idx="0">
            <a:schemeClr val="dk1"/>
          </a:effectRef>
          <a:fontRef idx="minor">
            <a:schemeClr val="tx1"/>
          </a:fontRef>
        </p:style>
      </p:cxnSp>
      <p:sp>
        <p:nvSpPr>
          <p:cNvPr id="261" name="Rectangle 260"/>
          <p:cNvSpPr/>
          <p:nvPr/>
        </p:nvSpPr>
        <p:spPr>
          <a:xfrm>
            <a:off x="5157508" y="459222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62" name="Rectangle 261"/>
          <p:cNvSpPr/>
          <p:nvPr/>
        </p:nvSpPr>
        <p:spPr>
          <a:xfrm>
            <a:off x="5151164" y="4956036"/>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63" name="TextBox 262"/>
          <p:cNvSpPr txBox="1"/>
          <p:nvPr/>
        </p:nvSpPr>
        <p:spPr>
          <a:xfrm>
            <a:off x="2450925" y="1381080"/>
            <a:ext cx="3084562" cy="276999"/>
          </a:xfrm>
          <a:prstGeom prst="rect">
            <a:avLst/>
          </a:prstGeom>
          <a:noFill/>
        </p:spPr>
        <p:txBody>
          <a:bodyPr wrap="none" lIns="0" tIns="0" rIns="0" bIns="0" rtlCol="0">
            <a:spAutoFit/>
          </a:bodyPr>
          <a:lstStyle/>
          <a:p>
            <a:r>
              <a:rPr lang="en-US" dirty="0" smtClean="0"/>
              <a:t>Description of coordinate system</a:t>
            </a:r>
            <a:endParaRPr lang="en-US" dirty="0"/>
          </a:p>
        </p:txBody>
      </p:sp>
      <p:sp>
        <p:nvSpPr>
          <p:cNvPr id="264" name="Rectangle 263"/>
          <p:cNvSpPr/>
          <p:nvPr/>
        </p:nvSpPr>
        <p:spPr>
          <a:xfrm>
            <a:off x="190709" y="1379294"/>
            <a:ext cx="2093974" cy="2743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65" name="Straight Connector 264"/>
          <p:cNvCxnSpPr>
            <a:stCxn id="263" idx="1"/>
            <a:endCxn id="264" idx="3"/>
          </p:cNvCxnSpPr>
          <p:nvPr/>
        </p:nvCxnSpPr>
        <p:spPr>
          <a:xfrm flipH="1" flipV="1">
            <a:off x="2284683" y="151645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66" name="Rectangle 265"/>
          <p:cNvSpPr/>
          <p:nvPr/>
        </p:nvSpPr>
        <p:spPr>
          <a:xfrm>
            <a:off x="5507949" y="144265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67" name="Rectangle 266"/>
          <p:cNvSpPr/>
          <p:nvPr/>
        </p:nvSpPr>
        <p:spPr>
          <a:xfrm>
            <a:off x="5787826" y="2708994"/>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68" name="Rounded Rectangle 267"/>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Action Button: Forward or Next 61">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 name="Action Button: Back or Previous 62">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4" name="Picture 4" descr="Image result for save button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Image result for exit graphic GU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304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3610750" y="-95130"/>
            <a:ext cx="5009192" cy="923330"/>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Emission Sources</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smtClean="0"/>
              <a:t>7a</a:t>
            </a:r>
            <a:endParaRPr lang="en-US" dirty="0"/>
          </a:p>
        </p:txBody>
      </p:sp>
      <p:sp>
        <p:nvSpPr>
          <p:cNvPr id="138" name="Rectangle 137"/>
          <p:cNvSpPr/>
          <p:nvPr/>
        </p:nvSpPr>
        <p:spPr>
          <a:xfrm>
            <a:off x="179378" y="1188508"/>
            <a:ext cx="2093974"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TextBox 138"/>
          <p:cNvSpPr txBox="1"/>
          <p:nvPr/>
        </p:nvSpPr>
        <p:spPr>
          <a:xfrm>
            <a:off x="2108760" y="1188508"/>
            <a:ext cx="164592" cy="276999"/>
          </a:xfrm>
          <a:prstGeom prst="rect">
            <a:avLst/>
          </a:prstGeom>
          <a:solidFill>
            <a:schemeClr val="bg1">
              <a:lumMod val="85000"/>
            </a:schemeClr>
          </a:solidFill>
          <a:ln>
            <a:solidFill>
              <a:schemeClr val="tx1"/>
            </a:solidFill>
          </a:ln>
        </p:spPr>
        <p:txBody>
          <a:bodyPr wrap="square" lIns="0" tIns="0" rIns="0" bIns="0" rtlCol="0" anchor="ctr" anchorCtr="0">
            <a:spAutoFit/>
          </a:bodyPr>
          <a:lstStyle/>
          <a:p>
            <a:r>
              <a:rPr lang="en-US" dirty="0" smtClean="0"/>
              <a:t>…</a:t>
            </a:r>
            <a:endParaRPr lang="en-US" dirty="0"/>
          </a:p>
        </p:txBody>
      </p:sp>
      <p:sp>
        <p:nvSpPr>
          <p:cNvPr id="149" name="TextBox 148"/>
          <p:cNvSpPr txBox="1"/>
          <p:nvPr/>
        </p:nvSpPr>
        <p:spPr>
          <a:xfrm>
            <a:off x="2436855" y="1260771"/>
            <a:ext cx="2647268" cy="192360"/>
          </a:xfrm>
          <a:prstGeom prst="rect">
            <a:avLst/>
          </a:prstGeom>
          <a:noFill/>
        </p:spPr>
        <p:txBody>
          <a:bodyPr wrap="square" lIns="0" tIns="0" rIns="0" bIns="0" rtlCol="0">
            <a:spAutoFit/>
          </a:bodyPr>
          <a:lstStyle/>
          <a:p>
            <a:pPr>
              <a:lnSpc>
                <a:spcPts val="1500"/>
              </a:lnSpc>
            </a:pPr>
            <a:r>
              <a:rPr lang="en-US" dirty="0" smtClean="0"/>
              <a:t>File for emissions data</a:t>
            </a:r>
            <a:endParaRPr lang="en-US" dirty="0"/>
          </a:p>
        </p:txBody>
      </p:sp>
      <p:cxnSp>
        <p:nvCxnSpPr>
          <p:cNvPr id="156" name="Straight Connector 155"/>
          <p:cNvCxnSpPr/>
          <p:nvPr/>
        </p:nvCxnSpPr>
        <p:spPr>
          <a:xfrm flipH="1">
            <a:off x="2280856" y="1318098"/>
            <a:ext cx="164736" cy="0"/>
          </a:xfrm>
          <a:prstGeom prst="line">
            <a:avLst/>
          </a:prstGeom>
        </p:spPr>
        <p:style>
          <a:lnRef idx="1">
            <a:schemeClr val="dk1"/>
          </a:lnRef>
          <a:fillRef idx="0">
            <a:schemeClr val="dk1"/>
          </a:fillRef>
          <a:effectRef idx="0">
            <a:schemeClr val="dk1"/>
          </a:effectRef>
          <a:fontRef idx="minor">
            <a:schemeClr val="tx1"/>
          </a:fontRef>
        </p:style>
      </p:cxnSp>
      <p:sp>
        <p:nvSpPr>
          <p:cNvPr id="154" name="Rectangle 153"/>
          <p:cNvSpPr/>
          <p:nvPr/>
        </p:nvSpPr>
        <p:spPr>
          <a:xfrm>
            <a:off x="4536506" y="1268748"/>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61" name="TextBox 60"/>
          <p:cNvSpPr txBox="1"/>
          <p:nvPr/>
        </p:nvSpPr>
        <p:spPr>
          <a:xfrm>
            <a:off x="2500154" y="689700"/>
            <a:ext cx="2207207" cy="276999"/>
          </a:xfrm>
          <a:prstGeom prst="rect">
            <a:avLst/>
          </a:prstGeom>
          <a:noFill/>
        </p:spPr>
        <p:txBody>
          <a:bodyPr wrap="none" lIns="0" tIns="0" rIns="0" bIns="0" rtlCol="0">
            <a:spAutoFit/>
          </a:bodyPr>
          <a:lstStyle/>
          <a:p>
            <a:r>
              <a:rPr lang="en-US" dirty="0" smtClean="0"/>
              <a:t>Import emissions data?</a:t>
            </a:r>
            <a:endParaRPr lang="en-US" dirty="0"/>
          </a:p>
        </p:txBody>
      </p:sp>
      <p:cxnSp>
        <p:nvCxnSpPr>
          <p:cNvPr id="62" name="Straight Connector 61"/>
          <p:cNvCxnSpPr>
            <a:stCxn id="61" idx="1"/>
          </p:cNvCxnSpPr>
          <p:nvPr/>
        </p:nvCxnSpPr>
        <p:spPr>
          <a:xfrm flipH="1">
            <a:off x="2335418" y="828200"/>
            <a:ext cx="164736" cy="0"/>
          </a:xfrm>
          <a:prstGeom prst="line">
            <a:avLst/>
          </a:prstGeom>
        </p:spPr>
        <p:style>
          <a:lnRef idx="1">
            <a:schemeClr val="dk1"/>
          </a:lnRef>
          <a:fillRef idx="0">
            <a:schemeClr val="dk1"/>
          </a:fillRef>
          <a:effectRef idx="0">
            <a:schemeClr val="dk1"/>
          </a:effectRef>
          <a:fontRef idx="minor">
            <a:schemeClr val="tx1"/>
          </a:fontRef>
        </p:style>
      </p:cxnSp>
      <p:sp>
        <p:nvSpPr>
          <p:cNvPr id="63" name="Rectangle 62"/>
          <p:cNvSpPr/>
          <p:nvPr/>
        </p:nvSpPr>
        <p:spPr>
          <a:xfrm>
            <a:off x="2049034" y="704416"/>
            <a:ext cx="284097"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sym typeface="Wingdings" panose="05000000000000000000" pitchFamily="2" charset="2"/>
              </a:rPr>
              <a:t></a:t>
            </a:r>
            <a:endParaRPr lang="en-US" dirty="0"/>
          </a:p>
        </p:txBody>
      </p:sp>
      <p:sp>
        <p:nvSpPr>
          <p:cNvPr id="64" name="Rectangle 63"/>
          <p:cNvSpPr/>
          <p:nvPr/>
        </p:nvSpPr>
        <p:spPr>
          <a:xfrm>
            <a:off x="4702895" y="742683"/>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65" name="Down Arrow 64"/>
          <p:cNvSpPr/>
          <p:nvPr/>
        </p:nvSpPr>
        <p:spPr>
          <a:xfrm>
            <a:off x="2077903" y="975086"/>
            <a:ext cx="274320" cy="20303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7" name="TextBox 66"/>
          <p:cNvSpPr txBox="1"/>
          <p:nvPr/>
        </p:nvSpPr>
        <p:spPr>
          <a:xfrm>
            <a:off x="2447098" y="1581145"/>
            <a:ext cx="2665602" cy="276999"/>
          </a:xfrm>
          <a:prstGeom prst="rect">
            <a:avLst/>
          </a:prstGeom>
          <a:noFill/>
        </p:spPr>
        <p:txBody>
          <a:bodyPr wrap="none" lIns="0" tIns="0" rIns="0" bIns="0" rtlCol="0">
            <a:spAutoFit/>
          </a:bodyPr>
          <a:lstStyle/>
          <a:p>
            <a:r>
              <a:rPr lang="en-US" dirty="0" smtClean="0"/>
              <a:t>Number of emission sources</a:t>
            </a:r>
            <a:endParaRPr lang="en-US" dirty="0"/>
          </a:p>
        </p:txBody>
      </p:sp>
      <p:sp>
        <p:nvSpPr>
          <p:cNvPr id="68" name="Rectangle 67"/>
          <p:cNvSpPr/>
          <p:nvPr/>
        </p:nvSpPr>
        <p:spPr>
          <a:xfrm>
            <a:off x="186882" y="1579359"/>
            <a:ext cx="2093974" cy="27432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9" name="Straight Connector 68"/>
          <p:cNvCxnSpPr>
            <a:stCxn id="67" idx="1"/>
            <a:endCxn id="68" idx="3"/>
          </p:cNvCxnSpPr>
          <p:nvPr/>
        </p:nvCxnSpPr>
        <p:spPr>
          <a:xfrm flipH="1" flipV="1">
            <a:off x="2280856" y="1716519"/>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70" name="Rectangle 69"/>
          <p:cNvSpPr/>
          <p:nvPr/>
        </p:nvSpPr>
        <p:spPr>
          <a:xfrm>
            <a:off x="5112700" y="164370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71" name="Rounded Rectangle 70"/>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ction Button: Forward or Next 18">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Action Button: Back or Previous 19">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1" name="Picture 4" descr="Image result for save button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Image result for exit graphic GU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40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3319808" y="-95130"/>
            <a:ext cx="5591082" cy="923330"/>
          </a:xfrm>
          <a:prstGeom prst="rect">
            <a:avLst/>
          </a:prstGeom>
          <a:noFill/>
        </p:spPr>
        <p:txBody>
          <a:bodyPr wrap="none" lIns="91440" tIns="45720" rIns="91440" bIns="45720">
            <a:spAutoFit/>
          </a:bodyPr>
          <a:lstStyle/>
          <a:p>
            <a:pPr algn="ctr"/>
            <a:r>
              <a:rPr lang="en-US" sz="5400" dirty="0" smtClean="0">
                <a:ln w="0"/>
                <a:solidFill>
                  <a:schemeClr val="accent1"/>
                </a:solidFill>
                <a:effectLst>
                  <a:outerShdw blurRad="38100" dist="25400" dir="5400000" algn="ctr" rotWithShape="0">
                    <a:srgbClr val="6E747A">
                      <a:alpha val="43000"/>
                    </a:srgbClr>
                  </a:outerShdw>
                </a:effectLst>
              </a:rPr>
              <a:t>Emission Source #1</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smtClean="0"/>
              <a:t>7b</a:t>
            </a:r>
            <a:endParaRPr lang="en-US" dirty="0"/>
          </a:p>
        </p:txBody>
      </p:sp>
      <p:sp>
        <p:nvSpPr>
          <p:cNvPr id="67" name="TextBox 66"/>
          <p:cNvSpPr txBox="1"/>
          <p:nvPr/>
        </p:nvSpPr>
        <p:spPr>
          <a:xfrm>
            <a:off x="1797874" y="941065"/>
            <a:ext cx="559449" cy="276999"/>
          </a:xfrm>
          <a:prstGeom prst="rect">
            <a:avLst/>
          </a:prstGeom>
          <a:noFill/>
        </p:spPr>
        <p:txBody>
          <a:bodyPr wrap="none" lIns="0" tIns="0" rIns="0" bIns="0" rtlCol="0">
            <a:spAutoFit/>
          </a:bodyPr>
          <a:lstStyle/>
          <a:p>
            <a:r>
              <a:rPr lang="en-US" dirty="0" smtClean="0"/>
              <a:t>Name</a:t>
            </a:r>
            <a:endParaRPr lang="en-US" dirty="0"/>
          </a:p>
        </p:txBody>
      </p:sp>
      <p:sp>
        <p:nvSpPr>
          <p:cNvPr id="68" name="Rectangle 67"/>
          <p:cNvSpPr/>
          <p:nvPr/>
        </p:nvSpPr>
        <p:spPr>
          <a:xfrm>
            <a:off x="186882" y="939279"/>
            <a:ext cx="1453715" cy="27432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9" name="Straight Connector 68"/>
          <p:cNvCxnSpPr>
            <a:stCxn id="67" idx="1"/>
          </p:cNvCxnSpPr>
          <p:nvPr/>
        </p:nvCxnSpPr>
        <p:spPr>
          <a:xfrm flipH="1" flipV="1">
            <a:off x="1631632" y="1076439"/>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70" name="Rectangle 69"/>
          <p:cNvSpPr/>
          <p:nvPr/>
        </p:nvSpPr>
        <p:spPr>
          <a:xfrm>
            <a:off x="2357323" y="100362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sp>
        <p:nvSpPr>
          <p:cNvPr id="2" name="TextBox 1"/>
          <p:cNvSpPr txBox="1"/>
          <p:nvPr/>
        </p:nvSpPr>
        <p:spPr>
          <a:xfrm>
            <a:off x="8509233" y="493455"/>
            <a:ext cx="1897318" cy="553998"/>
          </a:xfrm>
          <a:prstGeom prst="rect">
            <a:avLst/>
          </a:prstGeom>
          <a:noFill/>
        </p:spPr>
        <p:txBody>
          <a:bodyPr wrap="square" rtlCol="0">
            <a:spAutoFit/>
          </a:bodyPr>
          <a:lstStyle/>
          <a:p>
            <a:r>
              <a:rPr lang="en-US" sz="1500" dirty="0" smtClean="0">
                <a:solidFill>
                  <a:schemeClr val="bg1">
                    <a:lumMod val="50000"/>
                  </a:schemeClr>
                </a:solidFill>
              </a:rPr>
              <a:t>(continue additional slides for N sources)</a:t>
            </a:r>
            <a:endParaRPr lang="en-US" sz="1500" dirty="0">
              <a:solidFill>
                <a:schemeClr val="bg1">
                  <a:lumMod val="50000"/>
                </a:schemeClr>
              </a:solidFill>
            </a:endParaRPr>
          </a:p>
        </p:txBody>
      </p:sp>
      <p:sp>
        <p:nvSpPr>
          <p:cNvPr id="20" name="TextBox 19"/>
          <p:cNvSpPr txBox="1"/>
          <p:nvPr/>
        </p:nvSpPr>
        <p:spPr>
          <a:xfrm>
            <a:off x="1795859" y="1809133"/>
            <a:ext cx="2647268" cy="205184"/>
          </a:xfrm>
          <a:prstGeom prst="rect">
            <a:avLst/>
          </a:prstGeom>
          <a:noFill/>
        </p:spPr>
        <p:txBody>
          <a:bodyPr wrap="square" lIns="0" tIns="0" rIns="0" bIns="0" rtlCol="0">
            <a:spAutoFit/>
          </a:bodyPr>
          <a:lstStyle/>
          <a:p>
            <a:pPr>
              <a:lnSpc>
                <a:spcPts val="1500"/>
              </a:lnSpc>
            </a:pPr>
            <a:r>
              <a:rPr lang="en-US" dirty="0" smtClean="0"/>
              <a:t>Height (m)</a:t>
            </a:r>
            <a:endParaRPr lang="en-US" dirty="0"/>
          </a:p>
        </p:txBody>
      </p:sp>
      <p:cxnSp>
        <p:nvCxnSpPr>
          <p:cNvPr id="21" name="Straight Connector 20"/>
          <p:cNvCxnSpPr/>
          <p:nvPr/>
        </p:nvCxnSpPr>
        <p:spPr>
          <a:xfrm flipH="1" flipV="1">
            <a:off x="1641157" y="188205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22" name="Rectangle 21"/>
          <p:cNvSpPr/>
          <p:nvPr/>
        </p:nvSpPr>
        <p:spPr>
          <a:xfrm>
            <a:off x="1005885" y="1680548"/>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p:cNvSpPr/>
          <p:nvPr/>
        </p:nvSpPr>
        <p:spPr>
          <a:xfrm>
            <a:off x="2792631" y="1809232"/>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smtClean="0"/>
              <a:t>?</a:t>
            </a:r>
            <a:endParaRPr lang="en-US" sz="1500" b="1" dirty="0"/>
          </a:p>
        </p:txBody>
      </p:sp>
      <p:sp>
        <p:nvSpPr>
          <p:cNvPr id="27" name="Rectangle 26"/>
          <p:cNvSpPr/>
          <p:nvPr/>
        </p:nvSpPr>
        <p:spPr>
          <a:xfrm>
            <a:off x="186882" y="1324999"/>
            <a:ext cx="1453715"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Rectangle 27"/>
          <p:cNvSpPr/>
          <p:nvPr/>
        </p:nvSpPr>
        <p:spPr>
          <a:xfrm>
            <a:off x="1364144" y="1324999"/>
            <a:ext cx="283464" cy="274320"/>
          </a:xfrm>
          <a:prstGeom prst="rect">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9" name="Isosceles Triangle 28"/>
          <p:cNvSpPr/>
          <p:nvPr/>
        </p:nvSpPr>
        <p:spPr>
          <a:xfrm flipV="1">
            <a:off x="1402642" y="1442450"/>
            <a:ext cx="206468" cy="11494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TextBox 29"/>
          <p:cNvSpPr txBox="1"/>
          <p:nvPr/>
        </p:nvSpPr>
        <p:spPr>
          <a:xfrm>
            <a:off x="1813045" y="1395803"/>
            <a:ext cx="3427014" cy="205184"/>
          </a:xfrm>
          <a:prstGeom prst="rect">
            <a:avLst/>
          </a:prstGeom>
          <a:noFill/>
        </p:spPr>
        <p:txBody>
          <a:bodyPr wrap="square" lIns="0" tIns="0" rIns="0" bIns="0" rtlCol="0">
            <a:spAutoFit/>
          </a:bodyPr>
          <a:lstStyle/>
          <a:p>
            <a:pPr>
              <a:lnSpc>
                <a:spcPts val="1500"/>
              </a:lnSpc>
            </a:pPr>
            <a:r>
              <a:rPr lang="en-US" dirty="0" smtClean="0"/>
              <a:t>Parcel location</a:t>
            </a:r>
            <a:endParaRPr lang="en-US" dirty="0"/>
          </a:p>
        </p:txBody>
      </p:sp>
      <p:cxnSp>
        <p:nvCxnSpPr>
          <p:cNvPr id="31" name="Straight Connector 30"/>
          <p:cNvCxnSpPr/>
          <p:nvPr/>
        </p:nvCxnSpPr>
        <p:spPr>
          <a:xfrm flipH="1">
            <a:off x="1641157" y="1462159"/>
            <a:ext cx="164736" cy="0"/>
          </a:xfrm>
          <a:prstGeom prst="line">
            <a:avLst/>
          </a:prstGeom>
        </p:spPr>
        <p:style>
          <a:lnRef idx="1">
            <a:schemeClr val="dk1"/>
          </a:lnRef>
          <a:fillRef idx="0">
            <a:schemeClr val="dk1"/>
          </a:fillRef>
          <a:effectRef idx="0">
            <a:schemeClr val="dk1"/>
          </a:effectRef>
          <a:fontRef idx="minor">
            <a:schemeClr val="tx1"/>
          </a:fontRef>
        </p:style>
      </p:cxnSp>
      <p:sp>
        <p:nvSpPr>
          <p:cNvPr id="32" name="Rectangle 31"/>
          <p:cNvSpPr/>
          <p:nvPr/>
        </p:nvSpPr>
        <p:spPr>
          <a:xfrm>
            <a:off x="3179847" y="1395803"/>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smtClean="0"/>
              <a:t>?</a:t>
            </a:r>
            <a:endParaRPr lang="en-US" sz="1500" b="1" dirty="0"/>
          </a:p>
        </p:txBody>
      </p:sp>
      <p:sp>
        <p:nvSpPr>
          <p:cNvPr id="34" name="TextBox 33"/>
          <p:cNvSpPr txBox="1"/>
          <p:nvPr/>
        </p:nvSpPr>
        <p:spPr>
          <a:xfrm>
            <a:off x="3216628" y="732908"/>
            <a:ext cx="8822801" cy="276999"/>
          </a:xfrm>
          <a:prstGeom prst="rect">
            <a:avLst/>
          </a:prstGeom>
          <a:noFill/>
        </p:spPr>
        <p:txBody>
          <a:bodyPr wrap="none" lIns="0" tIns="0" rIns="0" bIns="0" rtlCol="0">
            <a:spAutoFit/>
          </a:bodyPr>
          <a:lstStyle/>
          <a:p>
            <a:pPr algn="ctr"/>
            <a:r>
              <a:rPr lang="en-US" b="1" u="sng" dirty="0" smtClean="0"/>
              <a:t>                                                                       Emissions (g/d)                                                                    </a:t>
            </a:r>
            <a:endParaRPr lang="en-US" b="1" u="sng" dirty="0"/>
          </a:p>
        </p:txBody>
      </p:sp>
      <p:cxnSp>
        <p:nvCxnSpPr>
          <p:cNvPr id="35" name="Straight Connector 34"/>
          <p:cNvCxnSpPr/>
          <p:nvPr/>
        </p:nvCxnSpPr>
        <p:spPr>
          <a:xfrm flipH="1" flipV="1">
            <a:off x="11271306" y="443262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36" name="Rectangle 35"/>
          <p:cNvSpPr/>
          <p:nvPr/>
        </p:nvSpPr>
        <p:spPr>
          <a:xfrm>
            <a:off x="11439703" y="4331060"/>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37" name="TextBox 36"/>
          <p:cNvSpPr txBox="1"/>
          <p:nvPr/>
        </p:nvSpPr>
        <p:spPr>
          <a:xfrm>
            <a:off x="9072309" y="4353616"/>
            <a:ext cx="2191985" cy="192360"/>
          </a:xfrm>
          <a:prstGeom prst="rect">
            <a:avLst/>
          </a:prstGeom>
          <a:noFill/>
        </p:spPr>
        <p:txBody>
          <a:bodyPr wrap="square" lIns="0" tIns="0" rIns="0" bIns="0" rtlCol="0">
            <a:spAutoFit/>
          </a:bodyPr>
          <a:lstStyle/>
          <a:p>
            <a:pPr algn="r">
              <a:lnSpc>
                <a:spcPts val="1500"/>
              </a:lnSpc>
            </a:pPr>
            <a:r>
              <a:rPr lang="en-US" sz="1500" dirty="0" err="1"/>
              <a:t>Dibenz</a:t>
            </a:r>
            <a:r>
              <a:rPr lang="en-US" sz="1500" dirty="0"/>
              <a:t>(</a:t>
            </a:r>
            <a:r>
              <a:rPr lang="en-US" sz="1500" dirty="0" err="1"/>
              <a:t>a,h</a:t>
            </a:r>
            <a:r>
              <a:rPr lang="en-US" sz="1500" dirty="0"/>
              <a:t>)anthracene</a:t>
            </a:r>
          </a:p>
        </p:txBody>
      </p:sp>
      <p:sp>
        <p:nvSpPr>
          <p:cNvPr id="38" name="Rectangle 37"/>
          <p:cNvSpPr/>
          <p:nvPr/>
        </p:nvSpPr>
        <p:spPr>
          <a:xfrm>
            <a:off x="6788861" y="816201"/>
            <a:ext cx="166389" cy="145636"/>
          </a:xfrm>
          <a:prstGeom prst="rect">
            <a:avLst/>
          </a:prstGeom>
          <a:solidFill>
            <a:srgbClr val="D3B5E9"/>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smtClean="0"/>
              <a:t>?</a:t>
            </a:r>
            <a:endParaRPr lang="en-US" sz="1200" b="1" dirty="0"/>
          </a:p>
        </p:txBody>
      </p:sp>
      <p:cxnSp>
        <p:nvCxnSpPr>
          <p:cNvPr id="39" name="Straight Connector 38"/>
          <p:cNvCxnSpPr/>
          <p:nvPr/>
        </p:nvCxnSpPr>
        <p:spPr>
          <a:xfrm flipH="1" flipV="1">
            <a:off x="11278318" y="4741212"/>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40" name="Rectangle 39"/>
          <p:cNvSpPr/>
          <p:nvPr/>
        </p:nvSpPr>
        <p:spPr>
          <a:xfrm>
            <a:off x="11446715" y="4639651"/>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41" name="TextBox 40"/>
          <p:cNvSpPr txBox="1"/>
          <p:nvPr/>
        </p:nvSpPr>
        <p:spPr>
          <a:xfrm>
            <a:off x="9978413" y="4662207"/>
            <a:ext cx="1292893" cy="192360"/>
          </a:xfrm>
          <a:prstGeom prst="rect">
            <a:avLst/>
          </a:prstGeom>
          <a:noFill/>
        </p:spPr>
        <p:txBody>
          <a:bodyPr wrap="square" lIns="0" tIns="0" rIns="0" bIns="0" rtlCol="0">
            <a:spAutoFit/>
          </a:bodyPr>
          <a:lstStyle/>
          <a:p>
            <a:pPr algn="r">
              <a:lnSpc>
                <a:spcPts val="1500"/>
              </a:lnSpc>
            </a:pPr>
            <a:r>
              <a:rPr lang="en-US" sz="1500" dirty="0" err="1"/>
              <a:t>Fluoranthene</a:t>
            </a:r>
            <a:endParaRPr lang="en-US" sz="1500" dirty="0"/>
          </a:p>
        </p:txBody>
      </p:sp>
      <p:cxnSp>
        <p:nvCxnSpPr>
          <p:cNvPr id="42" name="Straight Connector 41"/>
          <p:cNvCxnSpPr/>
          <p:nvPr/>
        </p:nvCxnSpPr>
        <p:spPr>
          <a:xfrm flipH="1" flipV="1">
            <a:off x="11278318" y="5062627"/>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43" name="Rectangle 42"/>
          <p:cNvSpPr/>
          <p:nvPr/>
        </p:nvSpPr>
        <p:spPr>
          <a:xfrm>
            <a:off x="11446715" y="4961066"/>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44" name="TextBox 43"/>
          <p:cNvSpPr txBox="1"/>
          <p:nvPr/>
        </p:nvSpPr>
        <p:spPr>
          <a:xfrm>
            <a:off x="10350821" y="4983622"/>
            <a:ext cx="920486" cy="192360"/>
          </a:xfrm>
          <a:prstGeom prst="rect">
            <a:avLst/>
          </a:prstGeom>
          <a:noFill/>
        </p:spPr>
        <p:txBody>
          <a:bodyPr wrap="square" lIns="0" tIns="0" rIns="0" bIns="0" rtlCol="0">
            <a:spAutoFit/>
          </a:bodyPr>
          <a:lstStyle/>
          <a:p>
            <a:pPr algn="r">
              <a:lnSpc>
                <a:spcPts val="1500"/>
              </a:lnSpc>
            </a:pPr>
            <a:r>
              <a:rPr lang="en-US" sz="1500" dirty="0" err="1"/>
              <a:t>Fluorene</a:t>
            </a:r>
            <a:endParaRPr lang="en-US" sz="1500" dirty="0"/>
          </a:p>
        </p:txBody>
      </p:sp>
      <p:cxnSp>
        <p:nvCxnSpPr>
          <p:cNvPr id="48" name="Straight Connector 47"/>
          <p:cNvCxnSpPr/>
          <p:nvPr/>
        </p:nvCxnSpPr>
        <p:spPr>
          <a:xfrm flipH="1" flipV="1">
            <a:off x="11285330" y="5371218"/>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49" name="Rectangle 48"/>
          <p:cNvSpPr/>
          <p:nvPr/>
        </p:nvSpPr>
        <p:spPr>
          <a:xfrm>
            <a:off x="11453727" y="5269657"/>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50" name="TextBox 49"/>
          <p:cNvSpPr txBox="1"/>
          <p:nvPr/>
        </p:nvSpPr>
        <p:spPr>
          <a:xfrm>
            <a:off x="8859577" y="5292213"/>
            <a:ext cx="2418742" cy="192360"/>
          </a:xfrm>
          <a:prstGeom prst="rect">
            <a:avLst/>
          </a:prstGeom>
          <a:noFill/>
        </p:spPr>
        <p:txBody>
          <a:bodyPr wrap="square" lIns="0" tIns="0" rIns="0" bIns="0" rtlCol="0">
            <a:spAutoFit/>
          </a:bodyPr>
          <a:lstStyle/>
          <a:p>
            <a:pPr algn="r">
              <a:lnSpc>
                <a:spcPts val="1500"/>
              </a:lnSpc>
            </a:pPr>
            <a:r>
              <a:rPr lang="en-US" sz="1500" dirty="0" err="1"/>
              <a:t>Indeno</a:t>
            </a:r>
            <a:r>
              <a:rPr lang="en-US" sz="1500" dirty="0"/>
              <a:t>(1,2,3-cd)</a:t>
            </a:r>
            <a:r>
              <a:rPr lang="en-US" sz="1500" dirty="0" err="1"/>
              <a:t>pyrene</a:t>
            </a:r>
            <a:endParaRPr lang="en-US" sz="1500" dirty="0"/>
          </a:p>
        </p:txBody>
      </p:sp>
      <p:cxnSp>
        <p:nvCxnSpPr>
          <p:cNvPr id="51" name="Straight Connector 50"/>
          <p:cNvCxnSpPr/>
          <p:nvPr/>
        </p:nvCxnSpPr>
        <p:spPr>
          <a:xfrm flipH="1" flipV="1">
            <a:off x="7621015" y="127045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52" name="Rectangle 51"/>
          <p:cNvSpPr/>
          <p:nvPr/>
        </p:nvSpPr>
        <p:spPr>
          <a:xfrm>
            <a:off x="7789412" y="1168893"/>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53" name="TextBox 52"/>
          <p:cNvSpPr txBox="1"/>
          <p:nvPr/>
        </p:nvSpPr>
        <p:spPr>
          <a:xfrm>
            <a:off x="6315858" y="1191449"/>
            <a:ext cx="1298146" cy="192360"/>
          </a:xfrm>
          <a:prstGeom prst="rect">
            <a:avLst/>
          </a:prstGeom>
          <a:noFill/>
        </p:spPr>
        <p:txBody>
          <a:bodyPr wrap="square" lIns="0" tIns="0" rIns="0" bIns="0" rtlCol="0">
            <a:spAutoFit/>
          </a:bodyPr>
          <a:lstStyle/>
          <a:p>
            <a:pPr algn="r">
              <a:lnSpc>
                <a:spcPts val="1500"/>
              </a:lnSpc>
            </a:pPr>
            <a:r>
              <a:rPr lang="en-US" sz="1500" dirty="0" smtClean="0"/>
              <a:t>2,3,7,8-TCDF</a:t>
            </a:r>
            <a:endParaRPr lang="en-US" sz="1500" dirty="0"/>
          </a:p>
        </p:txBody>
      </p:sp>
      <p:cxnSp>
        <p:nvCxnSpPr>
          <p:cNvPr id="54" name="Straight Connector 53"/>
          <p:cNvCxnSpPr/>
          <p:nvPr/>
        </p:nvCxnSpPr>
        <p:spPr>
          <a:xfrm flipH="1" flipV="1">
            <a:off x="7628027" y="157904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55" name="Rectangle 54"/>
          <p:cNvSpPr/>
          <p:nvPr/>
        </p:nvSpPr>
        <p:spPr>
          <a:xfrm>
            <a:off x="7796424" y="1477484"/>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56" name="TextBox 55"/>
          <p:cNvSpPr txBox="1"/>
          <p:nvPr/>
        </p:nvSpPr>
        <p:spPr>
          <a:xfrm>
            <a:off x="6171990" y="1500040"/>
            <a:ext cx="1449025" cy="192360"/>
          </a:xfrm>
          <a:prstGeom prst="rect">
            <a:avLst/>
          </a:prstGeom>
          <a:noFill/>
        </p:spPr>
        <p:txBody>
          <a:bodyPr wrap="square" lIns="0" tIns="0" rIns="0" bIns="0" rtlCol="0">
            <a:spAutoFit/>
          </a:bodyPr>
          <a:lstStyle/>
          <a:p>
            <a:pPr algn="r">
              <a:lnSpc>
                <a:spcPts val="1500"/>
              </a:lnSpc>
            </a:pPr>
            <a:r>
              <a:rPr lang="en-US" sz="1500" dirty="0"/>
              <a:t>2,3,7,8-TCDD</a:t>
            </a:r>
          </a:p>
        </p:txBody>
      </p:sp>
      <p:cxnSp>
        <p:nvCxnSpPr>
          <p:cNvPr id="57" name="Straight Connector 56"/>
          <p:cNvCxnSpPr/>
          <p:nvPr/>
        </p:nvCxnSpPr>
        <p:spPr>
          <a:xfrm flipH="1" flipV="1">
            <a:off x="7628027" y="190046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58" name="Rectangle 57"/>
          <p:cNvSpPr/>
          <p:nvPr/>
        </p:nvSpPr>
        <p:spPr>
          <a:xfrm>
            <a:off x="7796424" y="1798899"/>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59" name="TextBox 58"/>
          <p:cNvSpPr txBox="1"/>
          <p:nvPr/>
        </p:nvSpPr>
        <p:spPr>
          <a:xfrm>
            <a:off x="6006974" y="1821455"/>
            <a:ext cx="1614041" cy="192360"/>
          </a:xfrm>
          <a:prstGeom prst="rect">
            <a:avLst/>
          </a:prstGeom>
          <a:noFill/>
        </p:spPr>
        <p:txBody>
          <a:bodyPr wrap="square" lIns="0" tIns="0" rIns="0" bIns="0" rtlCol="0">
            <a:spAutoFit/>
          </a:bodyPr>
          <a:lstStyle/>
          <a:p>
            <a:pPr algn="r">
              <a:lnSpc>
                <a:spcPts val="1500"/>
              </a:lnSpc>
            </a:pPr>
            <a:r>
              <a:rPr lang="en-US" sz="1500" dirty="0"/>
              <a:t>2,3,4,7,8-PeCDF</a:t>
            </a:r>
          </a:p>
        </p:txBody>
      </p:sp>
      <p:cxnSp>
        <p:nvCxnSpPr>
          <p:cNvPr id="60" name="Straight Connector 59"/>
          <p:cNvCxnSpPr/>
          <p:nvPr/>
        </p:nvCxnSpPr>
        <p:spPr>
          <a:xfrm flipH="1" flipV="1">
            <a:off x="7635039" y="220905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66" name="Rectangle 65"/>
          <p:cNvSpPr/>
          <p:nvPr/>
        </p:nvSpPr>
        <p:spPr>
          <a:xfrm>
            <a:off x="7803436" y="2107490"/>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71" name="TextBox 70"/>
          <p:cNvSpPr txBox="1"/>
          <p:nvPr/>
        </p:nvSpPr>
        <p:spPr>
          <a:xfrm>
            <a:off x="5732654" y="2130046"/>
            <a:ext cx="1895373" cy="192360"/>
          </a:xfrm>
          <a:prstGeom prst="rect">
            <a:avLst/>
          </a:prstGeom>
          <a:noFill/>
        </p:spPr>
        <p:txBody>
          <a:bodyPr wrap="square" lIns="0" tIns="0" rIns="0" bIns="0" rtlCol="0">
            <a:spAutoFit/>
          </a:bodyPr>
          <a:lstStyle/>
          <a:p>
            <a:pPr algn="r">
              <a:lnSpc>
                <a:spcPts val="1500"/>
              </a:lnSpc>
            </a:pPr>
            <a:r>
              <a:rPr lang="en-US" sz="1500" dirty="0" smtClean="0"/>
              <a:t>2,3,4,6,7,8-HxCDF</a:t>
            </a:r>
            <a:endParaRPr lang="en-US" sz="1500" dirty="0"/>
          </a:p>
        </p:txBody>
      </p:sp>
      <p:cxnSp>
        <p:nvCxnSpPr>
          <p:cNvPr id="72" name="Straight Connector 71"/>
          <p:cNvCxnSpPr/>
          <p:nvPr/>
        </p:nvCxnSpPr>
        <p:spPr>
          <a:xfrm flipH="1" flipV="1">
            <a:off x="7629603" y="253913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73" name="Rectangle 72"/>
          <p:cNvSpPr/>
          <p:nvPr/>
        </p:nvSpPr>
        <p:spPr>
          <a:xfrm>
            <a:off x="7798000" y="2437573"/>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74" name="TextBox 73"/>
          <p:cNvSpPr txBox="1"/>
          <p:nvPr/>
        </p:nvSpPr>
        <p:spPr>
          <a:xfrm>
            <a:off x="6006974" y="2460129"/>
            <a:ext cx="1615617" cy="192360"/>
          </a:xfrm>
          <a:prstGeom prst="rect">
            <a:avLst/>
          </a:prstGeom>
          <a:noFill/>
        </p:spPr>
        <p:txBody>
          <a:bodyPr wrap="square" lIns="0" tIns="0" rIns="0" bIns="0" rtlCol="0">
            <a:spAutoFit/>
          </a:bodyPr>
          <a:lstStyle/>
          <a:p>
            <a:pPr algn="r">
              <a:lnSpc>
                <a:spcPts val="1500"/>
              </a:lnSpc>
            </a:pPr>
            <a:r>
              <a:rPr lang="en-US" sz="1500" dirty="0"/>
              <a:t>1,2,3,7,8-PeCDF</a:t>
            </a:r>
          </a:p>
        </p:txBody>
      </p:sp>
      <p:cxnSp>
        <p:nvCxnSpPr>
          <p:cNvPr id="75" name="Straight Connector 74"/>
          <p:cNvCxnSpPr/>
          <p:nvPr/>
        </p:nvCxnSpPr>
        <p:spPr>
          <a:xfrm flipH="1" flipV="1">
            <a:off x="7636615" y="284772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76" name="Rectangle 75"/>
          <p:cNvSpPr/>
          <p:nvPr/>
        </p:nvSpPr>
        <p:spPr>
          <a:xfrm>
            <a:off x="7805012" y="2746164"/>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77" name="TextBox 76"/>
          <p:cNvSpPr txBox="1"/>
          <p:nvPr/>
        </p:nvSpPr>
        <p:spPr>
          <a:xfrm>
            <a:off x="6006974" y="2768720"/>
            <a:ext cx="1622629" cy="192360"/>
          </a:xfrm>
          <a:prstGeom prst="rect">
            <a:avLst/>
          </a:prstGeom>
          <a:noFill/>
        </p:spPr>
        <p:txBody>
          <a:bodyPr wrap="square" lIns="0" tIns="0" rIns="0" bIns="0" rtlCol="0">
            <a:spAutoFit/>
          </a:bodyPr>
          <a:lstStyle/>
          <a:p>
            <a:pPr algn="r">
              <a:lnSpc>
                <a:spcPts val="1500"/>
              </a:lnSpc>
            </a:pPr>
            <a:r>
              <a:rPr lang="en-US" sz="1500" dirty="0"/>
              <a:t>1,2,3,7,8-PeCDD</a:t>
            </a:r>
          </a:p>
        </p:txBody>
      </p:sp>
      <p:cxnSp>
        <p:nvCxnSpPr>
          <p:cNvPr id="78" name="Straight Connector 77"/>
          <p:cNvCxnSpPr/>
          <p:nvPr/>
        </p:nvCxnSpPr>
        <p:spPr>
          <a:xfrm flipH="1" flipV="1">
            <a:off x="7636615" y="316914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79" name="Rectangle 78"/>
          <p:cNvSpPr/>
          <p:nvPr/>
        </p:nvSpPr>
        <p:spPr>
          <a:xfrm>
            <a:off x="7805012" y="3067579"/>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80" name="TextBox 79"/>
          <p:cNvSpPr txBox="1"/>
          <p:nvPr/>
        </p:nvSpPr>
        <p:spPr>
          <a:xfrm>
            <a:off x="5833238" y="3090135"/>
            <a:ext cx="1796365" cy="192360"/>
          </a:xfrm>
          <a:prstGeom prst="rect">
            <a:avLst/>
          </a:prstGeom>
          <a:noFill/>
        </p:spPr>
        <p:txBody>
          <a:bodyPr wrap="square" lIns="0" tIns="0" rIns="0" bIns="0" rtlCol="0">
            <a:spAutoFit/>
          </a:bodyPr>
          <a:lstStyle/>
          <a:p>
            <a:pPr algn="r">
              <a:lnSpc>
                <a:spcPts val="1500"/>
              </a:lnSpc>
            </a:pPr>
            <a:r>
              <a:rPr lang="en-US" sz="1500" dirty="0" smtClean="0"/>
              <a:t>1,2,3,7,8,9-HxCDF</a:t>
            </a:r>
            <a:endParaRPr lang="en-US" sz="1500" dirty="0"/>
          </a:p>
        </p:txBody>
      </p:sp>
      <p:cxnSp>
        <p:nvCxnSpPr>
          <p:cNvPr id="81" name="Straight Connector 80"/>
          <p:cNvCxnSpPr/>
          <p:nvPr/>
        </p:nvCxnSpPr>
        <p:spPr>
          <a:xfrm flipH="1" flipV="1">
            <a:off x="7643627" y="347773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82" name="Rectangle 81"/>
          <p:cNvSpPr/>
          <p:nvPr/>
        </p:nvSpPr>
        <p:spPr>
          <a:xfrm>
            <a:off x="7812024" y="3376170"/>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83" name="TextBox 82"/>
          <p:cNvSpPr txBox="1"/>
          <p:nvPr/>
        </p:nvSpPr>
        <p:spPr>
          <a:xfrm>
            <a:off x="5604638" y="3398726"/>
            <a:ext cx="2031977" cy="192360"/>
          </a:xfrm>
          <a:prstGeom prst="rect">
            <a:avLst/>
          </a:prstGeom>
          <a:noFill/>
        </p:spPr>
        <p:txBody>
          <a:bodyPr wrap="square" lIns="0" tIns="0" rIns="0" bIns="0" rtlCol="0">
            <a:spAutoFit/>
          </a:bodyPr>
          <a:lstStyle/>
          <a:p>
            <a:pPr algn="r">
              <a:lnSpc>
                <a:spcPts val="1500"/>
              </a:lnSpc>
            </a:pPr>
            <a:r>
              <a:rPr lang="en-US" sz="1500" dirty="0" smtClean="0"/>
              <a:t>1,2,3,7,8,9-HxCDD</a:t>
            </a:r>
            <a:endParaRPr lang="en-US" sz="1500" dirty="0"/>
          </a:p>
        </p:txBody>
      </p:sp>
      <p:cxnSp>
        <p:nvCxnSpPr>
          <p:cNvPr id="84" name="Straight Connector 83"/>
          <p:cNvCxnSpPr/>
          <p:nvPr/>
        </p:nvCxnSpPr>
        <p:spPr>
          <a:xfrm flipH="1" flipV="1">
            <a:off x="7641868" y="379410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85" name="Rectangle 84"/>
          <p:cNvSpPr/>
          <p:nvPr/>
        </p:nvSpPr>
        <p:spPr>
          <a:xfrm>
            <a:off x="7810265" y="3692540"/>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86" name="TextBox 85"/>
          <p:cNvSpPr txBox="1"/>
          <p:nvPr/>
        </p:nvSpPr>
        <p:spPr>
          <a:xfrm>
            <a:off x="5732655" y="3715096"/>
            <a:ext cx="1902202" cy="192360"/>
          </a:xfrm>
          <a:prstGeom prst="rect">
            <a:avLst/>
          </a:prstGeom>
          <a:noFill/>
        </p:spPr>
        <p:txBody>
          <a:bodyPr wrap="square" lIns="0" tIns="0" rIns="0" bIns="0" rtlCol="0">
            <a:spAutoFit/>
          </a:bodyPr>
          <a:lstStyle/>
          <a:p>
            <a:pPr algn="r">
              <a:lnSpc>
                <a:spcPts val="1500"/>
              </a:lnSpc>
            </a:pPr>
            <a:r>
              <a:rPr lang="en-US" sz="1500" dirty="0"/>
              <a:t>1,2,3,6,7,8-HxCDF</a:t>
            </a:r>
          </a:p>
        </p:txBody>
      </p:sp>
      <p:cxnSp>
        <p:nvCxnSpPr>
          <p:cNvPr id="87" name="Straight Connector 86"/>
          <p:cNvCxnSpPr/>
          <p:nvPr/>
        </p:nvCxnSpPr>
        <p:spPr>
          <a:xfrm flipH="1" flipV="1">
            <a:off x="7648880" y="4102692"/>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88" name="Rectangle 87"/>
          <p:cNvSpPr/>
          <p:nvPr/>
        </p:nvSpPr>
        <p:spPr>
          <a:xfrm>
            <a:off x="7817277" y="4001131"/>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89" name="TextBox 88"/>
          <p:cNvSpPr txBox="1"/>
          <p:nvPr/>
        </p:nvSpPr>
        <p:spPr>
          <a:xfrm>
            <a:off x="5732655" y="4023687"/>
            <a:ext cx="1909214" cy="192360"/>
          </a:xfrm>
          <a:prstGeom prst="rect">
            <a:avLst/>
          </a:prstGeom>
          <a:noFill/>
        </p:spPr>
        <p:txBody>
          <a:bodyPr wrap="square" lIns="0" tIns="0" rIns="0" bIns="0" rtlCol="0">
            <a:spAutoFit/>
          </a:bodyPr>
          <a:lstStyle/>
          <a:p>
            <a:pPr algn="r">
              <a:lnSpc>
                <a:spcPts val="1500"/>
              </a:lnSpc>
            </a:pPr>
            <a:r>
              <a:rPr lang="en-US" sz="1500" dirty="0" smtClean="0"/>
              <a:t>1,2,3,6,7,8-HxCDD</a:t>
            </a:r>
            <a:endParaRPr lang="en-US" sz="1500" dirty="0"/>
          </a:p>
        </p:txBody>
      </p:sp>
      <p:cxnSp>
        <p:nvCxnSpPr>
          <p:cNvPr id="90" name="Straight Connector 89"/>
          <p:cNvCxnSpPr/>
          <p:nvPr/>
        </p:nvCxnSpPr>
        <p:spPr>
          <a:xfrm flipH="1" flipV="1">
            <a:off x="7648880" y="4424107"/>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91" name="Rectangle 90"/>
          <p:cNvSpPr/>
          <p:nvPr/>
        </p:nvSpPr>
        <p:spPr>
          <a:xfrm>
            <a:off x="7817277" y="4322546"/>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92" name="TextBox 91"/>
          <p:cNvSpPr txBox="1"/>
          <p:nvPr/>
        </p:nvSpPr>
        <p:spPr>
          <a:xfrm>
            <a:off x="5604639" y="4345102"/>
            <a:ext cx="2037230" cy="192360"/>
          </a:xfrm>
          <a:prstGeom prst="rect">
            <a:avLst/>
          </a:prstGeom>
          <a:noFill/>
        </p:spPr>
        <p:txBody>
          <a:bodyPr wrap="square" lIns="0" tIns="0" rIns="0" bIns="0" rtlCol="0">
            <a:spAutoFit/>
          </a:bodyPr>
          <a:lstStyle/>
          <a:p>
            <a:pPr algn="r">
              <a:lnSpc>
                <a:spcPts val="1500"/>
              </a:lnSpc>
            </a:pPr>
            <a:r>
              <a:rPr lang="en-US" sz="1500" dirty="0" smtClean="0"/>
              <a:t>1,2,3,4,7,8-HxCDF</a:t>
            </a:r>
            <a:endParaRPr lang="en-US" sz="1500" dirty="0"/>
          </a:p>
        </p:txBody>
      </p:sp>
      <p:cxnSp>
        <p:nvCxnSpPr>
          <p:cNvPr id="93" name="Straight Connector 92"/>
          <p:cNvCxnSpPr/>
          <p:nvPr/>
        </p:nvCxnSpPr>
        <p:spPr>
          <a:xfrm flipH="1" flipV="1">
            <a:off x="7655892" y="4732698"/>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94" name="Rectangle 93"/>
          <p:cNvSpPr/>
          <p:nvPr/>
        </p:nvSpPr>
        <p:spPr>
          <a:xfrm>
            <a:off x="7824289" y="4631137"/>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95" name="TextBox 94"/>
          <p:cNvSpPr txBox="1"/>
          <p:nvPr/>
        </p:nvSpPr>
        <p:spPr>
          <a:xfrm>
            <a:off x="5833239" y="4653693"/>
            <a:ext cx="1815642" cy="192360"/>
          </a:xfrm>
          <a:prstGeom prst="rect">
            <a:avLst/>
          </a:prstGeom>
          <a:noFill/>
        </p:spPr>
        <p:txBody>
          <a:bodyPr wrap="square" lIns="0" tIns="0" rIns="0" bIns="0" rtlCol="0">
            <a:spAutoFit/>
          </a:bodyPr>
          <a:lstStyle/>
          <a:p>
            <a:pPr algn="r">
              <a:lnSpc>
                <a:spcPts val="1500"/>
              </a:lnSpc>
            </a:pPr>
            <a:r>
              <a:rPr lang="en-US" sz="1500" dirty="0"/>
              <a:t>1,2,3,4,7,8-HxCDD</a:t>
            </a:r>
          </a:p>
        </p:txBody>
      </p:sp>
      <p:cxnSp>
        <p:nvCxnSpPr>
          <p:cNvPr id="105" name="Straight Connector 104"/>
          <p:cNvCxnSpPr/>
          <p:nvPr/>
        </p:nvCxnSpPr>
        <p:spPr>
          <a:xfrm flipH="1" flipV="1">
            <a:off x="5015177" y="122304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06" name="Rectangle 105"/>
          <p:cNvSpPr/>
          <p:nvPr/>
        </p:nvSpPr>
        <p:spPr>
          <a:xfrm>
            <a:off x="5183574" y="1121483"/>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07" name="TextBox 106"/>
          <p:cNvSpPr txBox="1"/>
          <p:nvPr/>
        </p:nvSpPr>
        <p:spPr>
          <a:xfrm>
            <a:off x="4291494" y="1144039"/>
            <a:ext cx="716671" cy="192360"/>
          </a:xfrm>
          <a:prstGeom prst="rect">
            <a:avLst/>
          </a:prstGeom>
          <a:noFill/>
        </p:spPr>
        <p:txBody>
          <a:bodyPr wrap="square" lIns="0" tIns="0" rIns="0" bIns="0" rtlCol="0">
            <a:spAutoFit/>
          </a:bodyPr>
          <a:lstStyle/>
          <a:p>
            <a:pPr algn="r">
              <a:lnSpc>
                <a:spcPts val="1500"/>
              </a:lnSpc>
            </a:pPr>
            <a:r>
              <a:rPr lang="en-US" sz="1500" dirty="0" smtClean="0"/>
              <a:t>Arsenic</a:t>
            </a:r>
            <a:endParaRPr lang="en-US" sz="1500" dirty="0"/>
          </a:p>
        </p:txBody>
      </p:sp>
      <p:cxnSp>
        <p:nvCxnSpPr>
          <p:cNvPr id="108" name="Straight Connector 107"/>
          <p:cNvCxnSpPr/>
          <p:nvPr/>
        </p:nvCxnSpPr>
        <p:spPr>
          <a:xfrm flipH="1" flipV="1">
            <a:off x="5022189" y="153163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09" name="Rectangle 108"/>
          <p:cNvSpPr/>
          <p:nvPr/>
        </p:nvSpPr>
        <p:spPr>
          <a:xfrm>
            <a:off x="5190586" y="1430074"/>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10" name="TextBox 109"/>
          <p:cNvSpPr txBox="1"/>
          <p:nvPr/>
        </p:nvSpPr>
        <p:spPr>
          <a:xfrm>
            <a:off x="4093695" y="1452630"/>
            <a:ext cx="921483" cy="192360"/>
          </a:xfrm>
          <a:prstGeom prst="rect">
            <a:avLst/>
          </a:prstGeom>
          <a:noFill/>
        </p:spPr>
        <p:txBody>
          <a:bodyPr wrap="square" lIns="0" tIns="0" rIns="0" bIns="0" rtlCol="0">
            <a:spAutoFit/>
          </a:bodyPr>
          <a:lstStyle/>
          <a:p>
            <a:pPr algn="r">
              <a:lnSpc>
                <a:spcPts val="1500"/>
              </a:lnSpc>
            </a:pPr>
            <a:r>
              <a:rPr lang="en-US" sz="1500" dirty="0" smtClean="0"/>
              <a:t>Cadmium</a:t>
            </a:r>
            <a:endParaRPr lang="en-US" sz="1500" dirty="0"/>
          </a:p>
        </p:txBody>
      </p:sp>
      <p:cxnSp>
        <p:nvCxnSpPr>
          <p:cNvPr id="111" name="Straight Connector 110"/>
          <p:cNvCxnSpPr/>
          <p:nvPr/>
        </p:nvCxnSpPr>
        <p:spPr>
          <a:xfrm flipH="1" flipV="1">
            <a:off x="5022189" y="185305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12" name="Rectangle 111"/>
          <p:cNvSpPr/>
          <p:nvPr/>
        </p:nvSpPr>
        <p:spPr>
          <a:xfrm>
            <a:off x="5190586" y="1751489"/>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13" name="TextBox 112"/>
          <p:cNvSpPr txBox="1"/>
          <p:nvPr/>
        </p:nvSpPr>
        <p:spPr>
          <a:xfrm>
            <a:off x="4298506" y="1774045"/>
            <a:ext cx="716671" cy="192360"/>
          </a:xfrm>
          <a:prstGeom prst="rect">
            <a:avLst/>
          </a:prstGeom>
          <a:noFill/>
        </p:spPr>
        <p:txBody>
          <a:bodyPr wrap="square" lIns="0" tIns="0" rIns="0" bIns="0" rtlCol="0">
            <a:spAutoFit/>
          </a:bodyPr>
          <a:lstStyle/>
          <a:p>
            <a:pPr algn="r">
              <a:lnSpc>
                <a:spcPts val="1500"/>
              </a:lnSpc>
            </a:pPr>
            <a:r>
              <a:rPr lang="en-US" sz="1500" dirty="0" smtClean="0"/>
              <a:t>Lead</a:t>
            </a:r>
            <a:endParaRPr lang="en-US" sz="1500" dirty="0"/>
          </a:p>
        </p:txBody>
      </p:sp>
      <p:cxnSp>
        <p:nvCxnSpPr>
          <p:cNvPr id="114" name="Straight Connector 113"/>
          <p:cNvCxnSpPr/>
          <p:nvPr/>
        </p:nvCxnSpPr>
        <p:spPr>
          <a:xfrm flipH="1" flipV="1">
            <a:off x="5029201" y="216164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15" name="Rectangle 114"/>
          <p:cNvSpPr/>
          <p:nvPr/>
        </p:nvSpPr>
        <p:spPr>
          <a:xfrm>
            <a:off x="5197598" y="2060080"/>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16" name="TextBox 115"/>
          <p:cNvSpPr txBox="1"/>
          <p:nvPr/>
        </p:nvSpPr>
        <p:spPr>
          <a:xfrm>
            <a:off x="3128367" y="2082636"/>
            <a:ext cx="1893823" cy="192360"/>
          </a:xfrm>
          <a:prstGeom prst="rect">
            <a:avLst/>
          </a:prstGeom>
          <a:noFill/>
        </p:spPr>
        <p:txBody>
          <a:bodyPr wrap="square" lIns="0" tIns="0" rIns="0" bIns="0" rtlCol="0">
            <a:spAutoFit/>
          </a:bodyPr>
          <a:lstStyle/>
          <a:p>
            <a:pPr algn="r">
              <a:lnSpc>
                <a:spcPts val="1500"/>
              </a:lnSpc>
            </a:pPr>
            <a:r>
              <a:rPr lang="en-US" sz="1500" dirty="0" smtClean="0"/>
              <a:t>Elemental Mercury</a:t>
            </a:r>
            <a:endParaRPr lang="en-US" sz="1500" dirty="0"/>
          </a:p>
        </p:txBody>
      </p:sp>
      <p:cxnSp>
        <p:nvCxnSpPr>
          <p:cNvPr id="117" name="Straight Connector 116"/>
          <p:cNvCxnSpPr/>
          <p:nvPr/>
        </p:nvCxnSpPr>
        <p:spPr>
          <a:xfrm flipH="1" flipV="1">
            <a:off x="5027442" y="2478011"/>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18" name="Rectangle 117"/>
          <p:cNvSpPr/>
          <p:nvPr/>
        </p:nvSpPr>
        <p:spPr>
          <a:xfrm>
            <a:off x="5195839" y="2376450"/>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19" name="TextBox 118"/>
          <p:cNvSpPr txBox="1"/>
          <p:nvPr/>
        </p:nvSpPr>
        <p:spPr>
          <a:xfrm>
            <a:off x="3192375" y="2399006"/>
            <a:ext cx="1828055" cy="192360"/>
          </a:xfrm>
          <a:prstGeom prst="rect">
            <a:avLst/>
          </a:prstGeom>
          <a:noFill/>
        </p:spPr>
        <p:txBody>
          <a:bodyPr wrap="square" lIns="0" tIns="0" rIns="0" bIns="0" rtlCol="0">
            <a:spAutoFit/>
          </a:bodyPr>
          <a:lstStyle/>
          <a:p>
            <a:pPr algn="r">
              <a:lnSpc>
                <a:spcPts val="1500"/>
              </a:lnSpc>
            </a:pPr>
            <a:r>
              <a:rPr lang="en-US" sz="1500" dirty="0" smtClean="0"/>
              <a:t>Divalent Mercury</a:t>
            </a:r>
            <a:endParaRPr lang="en-US" sz="1500" dirty="0"/>
          </a:p>
        </p:txBody>
      </p:sp>
      <p:cxnSp>
        <p:nvCxnSpPr>
          <p:cNvPr id="120" name="Straight Connector 119"/>
          <p:cNvCxnSpPr/>
          <p:nvPr/>
        </p:nvCxnSpPr>
        <p:spPr>
          <a:xfrm flipH="1" flipV="1">
            <a:off x="5034454" y="2786602"/>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21" name="Rectangle 120"/>
          <p:cNvSpPr/>
          <p:nvPr/>
        </p:nvSpPr>
        <p:spPr>
          <a:xfrm>
            <a:off x="5202851" y="2685041"/>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22" name="TextBox 121"/>
          <p:cNvSpPr txBox="1"/>
          <p:nvPr/>
        </p:nvSpPr>
        <p:spPr>
          <a:xfrm>
            <a:off x="3366111" y="2707597"/>
            <a:ext cx="1661331" cy="192360"/>
          </a:xfrm>
          <a:prstGeom prst="rect">
            <a:avLst/>
          </a:prstGeom>
          <a:noFill/>
        </p:spPr>
        <p:txBody>
          <a:bodyPr wrap="square" lIns="0" tIns="0" rIns="0" bIns="0" rtlCol="0">
            <a:spAutoFit/>
          </a:bodyPr>
          <a:lstStyle/>
          <a:p>
            <a:pPr algn="r">
              <a:lnSpc>
                <a:spcPts val="1500"/>
              </a:lnSpc>
            </a:pPr>
            <a:r>
              <a:rPr lang="en-US" sz="1500" dirty="0" err="1" smtClean="0"/>
              <a:t>MethylMercury</a:t>
            </a:r>
            <a:endParaRPr lang="en-US" sz="1500" dirty="0"/>
          </a:p>
        </p:txBody>
      </p:sp>
      <p:cxnSp>
        <p:nvCxnSpPr>
          <p:cNvPr id="123" name="Straight Connector 122"/>
          <p:cNvCxnSpPr/>
          <p:nvPr/>
        </p:nvCxnSpPr>
        <p:spPr>
          <a:xfrm flipH="1" flipV="1">
            <a:off x="11243441" y="128984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24" name="Rectangle 123"/>
          <p:cNvSpPr/>
          <p:nvPr/>
        </p:nvSpPr>
        <p:spPr>
          <a:xfrm>
            <a:off x="11411838" y="1188284"/>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25" name="TextBox 124"/>
          <p:cNvSpPr txBox="1"/>
          <p:nvPr/>
        </p:nvSpPr>
        <p:spPr>
          <a:xfrm>
            <a:off x="9033736" y="1210840"/>
            <a:ext cx="2202693" cy="192360"/>
          </a:xfrm>
          <a:prstGeom prst="rect">
            <a:avLst/>
          </a:prstGeom>
          <a:noFill/>
        </p:spPr>
        <p:txBody>
          <a:bodyPr wrap="square" lIns="0" tIns="0" rIns="0" bIns="0" rtlCol="0">
            <a:spAutoFit/>
          </a:bodyPr>
          <a:lstStyle/>
          <a:p>
            <a:pPr algn="r">
              <a:lnSpc>
                <a:spcPts val="1500"/>
              </a:lnSpc>
            </a:pPr>
            <a:r>
              <a:rPr lang="en-US" sz="1500" dirty="0"/>
              <a:t>2-Methylnaphthalene</a:t>
            </a:r>
          </a:p>
        </p:txBody>
      </p:sp>
      <p:cxnSp>
        <p:nvCxnSpPr>
          <p:cNvPr id="126" name="Straight Connector 125"/>
          <p:cNvCxnSpPr/>
          <p:nvPr/>
        </p:nvCxnSpPr>
        <p:spPr>
          <a:xfrm flipH="1" flipV="1">
            <a:off x="11250453" y="1598436"/>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27" name="Rectangle 126"/>
          <p:cNvSpPr/>
          <p:nvPr/>
        </p:nvSpPr>
        <p:spPr>
          <a:xfrm>
            <a:off x="11418850" y="1496875"/>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28" name="TextBox 127"/>
          <p:cNvSpPr txBox="1"/>
          <p:nvPr/>
        </p:nvSpPr>
        <p:spPr>
          <a:xfrm>
            <a:off x="8156602" y="1519431"/>
            <a:ext cx="3086839" cy="192360"/>
          </a:xfrm>
          <a:prstGeom prst="rect">
            <a:avLst/>
          </a:prstGeom>
          <a:noFill/>
        </p:spPr>
        <p:txBody>
          <a:bodyPr wrap="square" lIns="0" tIns="0" rIns="0" bIns="0" rtlCol="0">
            <a:spAutoFit/>
          </a:bodyPr>
          <a:lstStyle/>
          <a:p>
            <a:pPr algn="r">
              <a:lnSpc>
                <a:spcPts val="1500"/>
              </a:lnSpc>
            </a:pPr>
            <a:r>
              <a:rPr lang="en-US" sz="1500" dirty="0"/>
              <a:t>7,12-Dimethylbenz(a)anthracene</a:t>
            </a:r>
          </a:p>
        </p:txBody>
      </p:sp>
      <p:cxnSp>
        <p:nvCxnSpPr>
          <p:cNvPr id="129" name="Straight Connector 128"/>
          <p:cNvCxnSpPr/>
          <p:nvPr/>
        </p:nvCxnSpPr>
        <p:spPr>
          <a:xfrm flipH="1" flipV="1">
            <a:off x="11245017" y="1928519"/>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30" name="Rectangle 129"/>
          <p:cNvSpPr/>
          <p:nvPr/>
        </p:nvSpPr>
        <p:spPr>
          <a:xfrm>
            <a:off x="11413414" y="1826958"/>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31" name="TextBox 130"/>
          <p:cNvSpPr txBox="1"/>
          <p:nvPr/>
        </p:nvSpPr>
        <p:spPr>
          <a:xfrm>
            <a:off x="9575098" y="1849514"/>
            <a:ext cx="1662907" cy="192360"/>
          </a:xfrm>
          <a:prstGeom prst="rect">
            <a:avLst/>
          </a:prstGeom>
          <a:noFill/>
        </p:spPr>
        <p:txBody>
          <a:bodyPr wrap="square" lIns="0" tIns="0" rIns="0" bIns="0" rtlCol="0">
            <a:spAutoFit/>
          </a:bodyPr>
          <a:lstStyle/>
          <a:p>
            <a:pPr algn="r">
              <a:lnSpc>
                <a:spcPts val="1500"/>
              </a:lnSpc>
            </a:pPr>
            <a:r>
              <a:rPr lang="en-US" sz="1500" dirty="0" err="1"/>
              <a:t>Acenaphthene</a:t>
            </a:r>
            <a:endParaRPr lang="en-US" sz="1500" dirty="0"/>
          </a:p>
        </p:txBody>
      </p:sp>
      <p:cxnSp>
        <p:nvCxnSpPr>
          <p:cNvPr id="132" name="Straight Connector 131"/>
          <p:cNvCxnSpPr/>
          <p:nvPr/>
        </p:nvCxnSpPr>
        <p:spPr>
          <a:xfrm flipH="1" flipV="1">
            <a:off x="11252029" y="223711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33" name="Rectangle 132"/>
          <p:cNvSpPr/>
          <p:nvPr/>
        </p:nvSpPr>
        <p:spPr>
          <a:xfrm>
            <a:off x="11420426" y="2135549"/>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34" name="TextBox 133"/>
          <p:cNvSpPr txBox="1"/>
          <p:nvPr/>
        </p:nvSpPr>
        <p:spPr>
          <a:xfrm>
            <a:off x="9337354" y="2158105"/>
            <a:ext cx="1907663" cy="192360"/>
          </a:xfrm>
          <a:prstGeom prst="rect">
            <a:avLst/>
          </a:prstGeom>
          <a:noFill/>
        </p:spPr>
        <p:txBody>
          <a:bodyPr wrap="square" lIns="0" tIns="0" rIns="0" bIns="0" rtlCol="0">
            <a:spAutoFit/>
          </a:bodyPr>
          <a:lstStyle/>
          <a:p>
            <a:pPr algn="r">
              <a:lnSpc>
                <a:spcPts val="1500"/>
              </a:lnSpc>
            </a:pPr>
            <a:r>
              <a:rPr lang="en-US" sz="1500" dirty="0" err="1"/>
              <a:t>Acenaphthylene</a:t>
            </a:r>
            <a:endParaRPr lang="en-US" sz="1500" dirty="0"/>
          </a:p>
        </p:txBody>
      </p:sp>
      <p:cxnSp>
        <p:nvCxnSpPr>
          <p:cNvPr id="135" name="Straight Connector 134"/>
          <p:cNvCxnSpPr/>
          <p:nvPr/>
        </p:nvCxnSpPr>
        <p:spPr>
          <a:xfrm flipH="1" flipV="1">
            <a:off x="11252029" y="2558525"/>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36" name="Rectangle 135"/>
          <p:cNvSpPr/>
          <p:nvPr/>
        </p:nvSpPr>
        <p:spPr>
          <a:xfrm>
            <a:off x="11420426" y="2456964"/>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37" name="TextBox 136"/>
          <p:cNvSpPr txBox="1"/>
          <p:nvPr/>
        </p:nvSpPr>
        <p:spPr>
          <a:xfrm>
            <a:off x="9337354" y="2479520"/>
            <a:ext cx="1907663" cy="192360"/>
          </a:xfrm>
          <a:prstGeom prst="rect">
            <a:avLst/>
          </a:prstGeom>
          <a:noFill/>
        </p:spPr>
        <p:txBody>
          <a:bodyPr wrap="square" lIns="0" tIns="0" rIns="0" bIns="0" rtlCol="0">
            <a:spAutoFit/>
          </a:bodyPr>
          <a:lstStyle/>
          <a:p>
            <a:pPr algn="r">
              <a:lnSpc>
                <a:spcPts val="1500"/>
              </a:lnSpc>
            </a:pPr>
            <a:r>
              <a:rPr lang="en-US" sz="1500" dirty="0"/>
              <a:t>Benz(a)anthracene</a:t>
            </a:r>
          </a:p>
        </p:txBody>
      </p:sp>
      <p:cxnSp>
        <p:nvCxnSpPr>
          <p:cNvPr id="140" name="Straight Connector 139"/>
          <p:cNvCxnSpPr/>
          <p:nvPr/>
        </p:nvCxnSpPr>
        <p:spPr>
          <a:xfrm flipH="1" flipV="1">
            <a:off x="11259041" y="2867116"/>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41" name="Rectangle 140"/>
          <p:cNvSpPr/>
          <p:nvPr/>
        </p:nvSpPr>
        <p:spPr>
          <a:xfrm>
            <a:off x="11427438" y="2765555"/>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42" name="TextBox 141"/>
          <p:cNvSpPr txBox="1"/>
          <p:nvPr/>
        </p:nvSpPr>
        <p:spPr>
          <a:xfrm>
            <a:off x="9492802" y="2788111"/>
            <a:ext cx="1759227" cy="192360"/>
          </a:xfrm>
          <a:prstGeom prst="rect">
            <a:avLst/>
          </a:prstGeom>
          <a:noFill/>
        </p:spPr>
        <p:txBody>
          <a:bodyPr wrap="square" lIns="0" tIns="0" rIns="0" bIns="0" rtlCol="0">
            <a:spAutoFit/>
          </a:bodyPr>
          <a:lstStyle/>
          <a:p>
            <a:pPr algn="r">
              <a:lnSpc>
                <a:spcPts val="1500"/>
              </a:lnSpc>
            </a:pPr>
            <a:r>
              <a:rPr lang="en-US" sz="1500" dirty="0"/>
              <a:t>Benzo(A)</a:t>
            </a:r>
            <a:r>
              <a:rPr lang="en-US" sz="1500" dirty="0" err="1"/>
              <a:t>pyrene</a:t>
            </a:r>
            <a:endParaRPr lang="en-US" sz="1500" dirty="0"/>
          </a:p>
        </p:txBody>
      </p:sp>
      <p:cxnSp>
        <p:nvCxnSpPr>
          <p:cNvPr id="143" name="Straight Connector 142"/>
          <p:cNvCxnSpPr/>
          <p:nvPr/>
        </p:nvCxnSpPr>
        <p:spPr>
          <a:xfrm flipH="1" flipV="1">
            <a:off x="11257282" y="3183486"/>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44" name="Rectangle 143"/>
          <p:cNvSpPr/>
          <p:nvPr/>
        </p:nvSpPr>
        <p:spPr>
          <a:xfrm>
            <a:off x="11425679" y="3081925"/>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45" name="TextBox 144"/>
          <p:cNvSpPr txBox="1"/>
          <p:nvPr/>
        </p:nvSpPr>
        <p:spPr>
          <a:xfrm>
            <a:off x="9075443" y="3104481"/>
            <a:ext cx="2174828" cy="192360"/>
          </a:xfrm>
          <a:prstGeom prst="rect">
            <a:avLst/>
          </a:prstGeom>
          <a:noFill/>
        </p:spPr>
        <p:txBody>
          <a:bodyPr wrap="square" lIns="0" tIns="0" rIns="0" bIns="0" rtlCol="0">
            <a:spAutoFit/>
          </a:bodyPr>
          <a:lstStyle/>
          <a:p>
            <a:pPr algn="r">
              <a:lnSpc>
                <a:spcPts val="1500"/>
              </a:lnSpc>
            </a:pPr>
            <a:r>
              <a:rPr lang="en-US" sz="1500" dirty="0"/>
              <a:t>Benzo(b)</a:t>
            </a:r>
            <a:r>
              <a:rPr lang="en-US" sz="1500" dirty="0" err="1"/>
              <a:t>fluoranthene</a:t>
            </a:r>
            <a:endParaRPr lang="en-US" sz="1500" dirty="0"/>
          </a:p>
        </p:txBody>
      </p:sp>
      <p:cxnSp>
        <p:nvCxnSpPr>
          <p:cNvPr id="146" name="Straight Connector 145"/>
          <p:cNvCxnSpPr/>
          <p:nvPr/>
        </p:nvCxnSpPr>
        <p:spPr>
          <a:xfrm flipH="1" flipV="1">
            <a:off x="11264294" y="3492077"/>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47" name="Rectangle 146"/>
          <p:cNvSpPr/>
          <p:nvPr/>
        </p:nvSpPr>
        <p:spPr>
          <a:xfrm>
            <a:off x="11432691" y="3390516"/>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48" name="TextBox 147"/>
          <p:cNvSpPr txBox="1"/>
          <p:nvPr/>
        </p:nvSpPr>
        <p:spPr>
          <a:xfrm>
            <a:off x="9075443" y="3413072"/>
            <a:ext cx="2181839" cy="192360"/>
          </a:xfrm>
          <a:prstGeom prst="rect">
            <a:avLst/>
          </a:prstGeom>
          <a:noFill/>
        </p:spPr>
        <p:txBody>
          <a:bodyPr wrap="square" lIns="0" tIns="0" rIns="0" bIns="0" rtlCol="0">
            <a:spAutoFit/>
          </a:bodyPr>
          <a:lstStyle/>
          <a:p>
            <a:pPr algn="r">
              <a:lnSpc>
                <a:spcPts val="1500"/>
              </a:lnSpc>
            </a:pPr>
            <a:r>
              <a:rPr lang="en-US" sz="1500" dirty="0"/>
              <a:t>Benzo(</a:t>
            </a:r>
            <a:r>
              <a:rPr lang="en-US" sz="1500" dirty="0" err="1"/>
              <a:t>g,h,i</a:t>
            </a:r>
            <a:r>
              <a:rPr lang="en-US" sz="1500" dirty="0"/>
              <a:t>)</a:t>
            </a:r>
            <a:r>
              <a:rPr lang="en-US" sz="1500" dirty="0" err="1"/>
              <a:t>perylene</a:t>
            </a:r>
            <a:endParaRPr lang="en-US" sz="1500" dirty="0"/>
          </a:p>
        </p:txBody>
      </p:sp>
      <p:cxnSp>
        <p:nvCxnSpPr>
          <p:cNvPr id="150" name="Straight Connector 149"/>
          <p:cNvCxnSpPr/>
          <p:nvPr/>
        </p:nvCxnSpPr>
        <p:spPr>
          <a:xfrm flipH="1" flipV="1">
            <a:off x="11264294" y="3813492"/>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51" name="Rectangle 150"/>
          <p:cNvSpPr/>
          <p:nvPr/>
        </p:nvSpPr>
        <p:spPr>
          <a:xfrm>
            <a:off x="11432691" y="3711931"/>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52" name="TextBox 151"/>
          <p:cNvSpPr txBox="1"/>
          <p:nvPr/>
        </p:nvSpPr>
        <p:spPr>
          <a:xfrm>
            <a:off x="9082455" y="3734487"/>
            <a:ext cx="2174828" cy="192360"/>
          </a:xfrm>
          <a:prstGeom prst="rect">
            <a:avLst/>
          </a:prstGeom>
          <a:noFill/>
        </p:spPr>
        <p:txBody>
          <a:bodyPr wrap="square" lIns="0" tIns="0" rIns="0" bIns="0" rtlCol="0">
            <a:spAutoFit/>
          </a:bodyPr>
          <a:lstStyle/>
          <a:p>
            <a:pPr algn="r">
              <a:lnSpc>
                <a:spcPts val="1500"/>
              </a:lnSpc>
            </a:pPr>
            <a:r>
              <a:rPr lang="en-US" sz="1500" dirty="0"/>
              <a:t>Benzo(k)</a:t>
            </a:r>
            <a:r>
              <a:rPr lang="en-US" sz="1500" dirty="0" err="1"/>
              <a:t>fluoranthene</a:t>
            </a:r>
            <a:endParaRPr lang="en-US" sz="1500" dirty="0"/>
          </a:p>
        </p:txBody>
      </p:sp>
      <p:cxnSp>
        <p:nvCxnSpPr>
          <p:cNvPr id="153" name="Straight Connector 152"/>
          <p:cNvCxnSpPr/>
          <p:nvPr/>
        </p:nvCxnSpPr>
        <p:spPr>
          <a:xfrm flipH="1" flipV="1">
            <a:off x="11271306" y="4122083"/>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55" name="Rectangle 154"/>
          <p:cNvSpPr/>
          <p:nvPr/>
        </p:nvSpPr>
        <p:spPr>
          <a:xfrm>
            <a:off x="11439703" y="4020522"/>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57" name="TextBox 156"/>
          <p:cNvSpPr txBox="1"/>
          <p:nvPr/>
        </p:nvSpPr>
        <p:spPr>
          <a:xfrm>
            <a:off x="9981547" y="4043078"/>
            <a:ext cx="1282748" cy="192360"/>
          </a:xfrm>
          <a:prstGeom prst="rect">
            <a:avLst/>
          </a:prstGeom>
          <a:noFill/>
        </p:spPr>
        <p:txBody>
          <a:bodyPr wrap="square" lIns="0" tIns="0" rIns="0" bIns="0" rtlCol="0">
            <a:spAutoFit/>
          </a:bodyPr>
          <a:lstStyle/>
          <a:p>
            <a:pPr algn="r">
              <a:lnSpc>
                <a:spcPts val="1500"/>
              </a:lnSpc>
            </a:pPr>
            <a:r>
              <a:rPr lang="en-US" sz="1500" dirty="0"/>
              <a:t>Chrysene</a:t>
            </a:r>
          </a:p>
        </p:txBody>
      </p:sp>
      <p:cxnSp>
        <p:nvCxnSpPr>
          <p:cNvPr id="158" name="Straight Connector 157"/>
          <p:cNvCxnSpPr/>
          <p:nvPr/>
        </p:nvCxnSpPr>
        <p:spPr>
          <a:xfrm flipH="1" flipV="1">
            <a:off x="7648879" y="5058093"/>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59" name="Rectangle 158"/>
          <p:cNvSpPr/>
          <p:nvPr/>
        </p:nvSpPr>
        <p:spPr>
          <a:xfrm>
            <a:off x="7817276" y="4956532"/>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60" name="TextBox 159"/>
          <p:cNvSpPr txBox="1"/>
          <p:nvPr/>
        </p:nvSpPr>
        <p:spPr>
          <a:xfrm>
            <a:off x="5734552" y="4979088"/>
            <a:ext cx="1907316" cy="192360"/>
          </a:xfrm>
          <a:prstGeom prst="rect">
            <a:avLst/>
          </a:prstGeom>
          <a:noFill/>
        </p:spPr>
        <p:txBody>
          <a:bodyPr wrap="square" lIns="0" tIns="0" rIns="0" bIns="0" rtlCol="0">
            <a:spAutoFit/>
          </a:bodyPr>
          <a:lstStyle/>
          <a:p>
            <a:pPr algn="r">
              <a:lnSpc>
                <a:spcPts val="1500"/>
              </a:lnSpc>
            </a:pPr>
            <a:r>
              <a:rPr lang="en-US" sz="1500" dirty="0"/>
              <a:t>1,2,3,4,7,8,9-HpCDF</a:t>
            </a:r>
          </a:p>
        </p:txBody>
      </p:sp>
      <p:cxnSp>
        <p:nvCxnSpPr>
          <p:cNvPr id="161" name="Straight Connector 160"/>
          <p:cNvCxnSpPr/>
          <p:nvPr/>
        </p:nvCxnSpPr>
        <p:spPr>
          <a:xfrm flipH="1" flipV="1">
            <a:off x="7655891" y="5366684"/>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62" name="Rectangle 161"/>
          <p:cNvSpPr/>
          <p:nvPr/>
        </p:nvSpPr>
        <p:spPr>
          <a:xfrm>
            <a:off x="7824288" y="5265123"/>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63" name="TextBox 162"/>
          <p:cNvSpPr txBox="1"/>
          <p:nvPr/>
        </p:nvSpPr>
        <p:spPr>
          <a:xfrm>
            <a:off x="5610998" y="5287679"/>
            <a:ext cx="2037882" cy="192360"/>
          </a:xfrm>
          <a:prstGeom prst="rect">
            <a:avLst/>
          </a:prstGeom>
          <a:noFill/>
        </p:spPr>
        <p:txBody>
          <a:bodyPr wrap="square" lIns="0" tIns="0" rIns="0" bIns="0" rtlCol="0">
            <a:spAutoFit/>
          </a:bodyPr>
          <a:lstStyle/>
          <a:p>
            <a:pPr algn="r">
              <a:lnSpc>
                <a:spcPts val="1500"/>
              </a:lnSpc>
            </a:pPr>
            <a:r>
              <a:rPr lang="en-US" sz="1500" dirty="0" smtClean="0"/>
              <a:t>1,2,3,4,6,7,8-HpCDF</a:t>
            </a:r>
            <a:endParaRPr lang="en-US" sz="1500" dirty="0"/>
          </a:p>
        </p:txBody>
      </p:sp>
      <p:cxnSp>
        <p:nvCxnSpPr>
          <p:cNvPr id="164" name="Straight Connector 163"/>
          <p:cNvCxnSpPr/>
          <p:nvPr/>
        </p:nvCxnSpPr>
        <p:spPr>
          <a:xfrm flipH="1" flipV="1">
            <a:off x="7655891" y="5688099"/>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65" name="Rectangle 164"/>
          <p:cNvSpPr/>
          <p:nvPr/>
        </p:nvSpPr>
        <p:spPr>
          <a:xfrm>
            <a:off x="7824288" y="5586538"/>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66" name="TextBox 165"/>
          <p:cNvSpPr txBox="1"/>
          <p:nvPr/>
        </p:nvSpPr>
        <p:spPr>
          <a:xfrm>
            <a:off x="5492550" y="5609094"/>
            <a:ext cx="2156330" cy="192360"/>
          </a:xfrm>
          <a:prstGeom prst="rect">
            <a:avLst/>
          </a:prstGeom>
          <a:noFill/>
        </p:spPr>
        <p:txBody>
          <a:bodyPr wrap="square" lIns="0" tIns="0" rIns="0" bIns="0" rtlCol="0">
            <a:spAutoFit/>
          </a:bodyPr>
          <a:lstStyle/>
          <a:p>
            <a:pPr algn="r">
              <a:lnSpc>
                <a:spcPts val="1500"/>
              </a:lnSpc>
            </a:pPr>
            <a:r>
              <a:rPr lang="en-US" sz="1500" dirty="0" smtClean="0"/>
              <a:t>1,2,3,4,6,7,8-HpCDD</a:t>
            </a:r>
            <a:endParaRPr lang="en-US" sz="1500" dirty="0"/>
          </a:p>
        </p:txBody>
      </p:sp>
      <p:cxnSp>
        <p:nvCxnSpPr>
          <p:cNvPr id="167" name="Straight Connector 166"/>
          <p:cNvCxnSpPr/>
          <p:nvPr/>
        </p:nvCxnSpPr>
        <p:spPr>
          <a:xfrm flipH="1" flipV="1">
            <a:off x="7662903" y="599669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68" name="Rectangle 167"/>
          <p:cNvSpPr/>
          <p:nvPr/>
        </p:nvSpPr>
        <p:spPr>
          <a:xfrm>
            <a:off x="7831300" y="5895129"/>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69" name="TextBox 168"/>
          <p:cNvSpPr txBox="1"/>
          <p:nvPr/>
        </p:nvSpPr>
        <p:spPr>
          <a:xfrm>
            <a:off x="5734552" y="5917685"/>
            <a:ext cx="1921339" cy="192360"/>
          </a:xfrm>
          <a:prstGeom prst="rect">
            <a:avLst/>
          </a:prstGeom>
          <a:noFill/>
        </p:spPr>
        <p:txBody>
          <a:bodyPr wrap="square" lIns="0" tIns="0" rIns="0" bIns="0" rtlCol="0">
            <a:spAutoFit/>
          </a:bodyPr>
          <a:lstStyle/>
          <a:p>
            <a:pPr algn="r">
              <a:lnSpc>
                <a:spcPts val="1500"/>
              </a:lnSpc>
            </a:pPr>
            <a:r>
              <a:rPr lang="en-US" sz="1500" dirty="0" smtClean="0"/>
              <a:t>1,2,3,4,6,7,8,9-OCDF</a:t>
            </a:r>
            <a:endParaRPr lang="en-US" sz="1500" dirty="0"/>
          </a:p>
        </p:txBody>
      </p:sp>
      <p:cxnSp>
        <p:nvCxnSpPr>
          <p:cNvPr id="170" name="Straight Connector 169"/>
          <p:cNvCxnSpPr/>
          <p:nvPr/>
        </p:nvCxnSpPr>
        <p:spPr>
          <a:xfrm flipH="1" flipV="1">
            <a:off x="7661144" y="6313060"/>
            <a:ext cx="166242" cy="3126"/>
          </a:xfrm>
          <a:prstGeom prst="line">
            <a:avLst/>
          </a:prstGeom>
        </p:spPr>
        <p:style>
          <a:lnRef idx="1">
            <a:schemeClr val="dk1"/>
          </a:lnRef>
          <a:fillRef idx="0">
            <a:schemeClr val="dk1"/>
          </a:fillRef>
          <a:effectRef idx="0">
            <a:schemeClr val="dk1"/>
          </a:effectRef>
          <a:fontRef idx="minor">
            <a:schemeClr val="tx1"/>
          </a:fontRef>
        </p:style>
      </p:cxnSp>
      <p:sp>
        <p:nvSpPr>
          <p:cNvPr id="171" name="Rectangle 170"/>
          <p:cNvSpPr/>
          <p:nvPr/>
        </p:nvSpPr>
        <p:spPr>
          <a:xfrm>
            <a:off x="7829541" y="6211499"/>
            <a:ext cx="631569" cy="274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500"/>
          </a:p>
        </p:txBody>
      </p:sp>
      <p:sp>
        <p:nvSpPr>
          <p:cNvPr id="172" name="TextBox 171"/>
          <p:cNvSpPr txBox="1"/>
          <p:nvPr/>
        </p:nvSpPr>
        <p:spPr>
          <a:xfrm>
            <a:off x="5382821" y="6234055"/>
            <a:ext cx="2271311" cy="192360"/>
          </a:xfrm>
          <a:prstGeom prst="rect">
            <a:avLst/>
          </a:prstGeom>
          <a:noFill/>
        </p:spPr>
        <p:txBody>
          <a:bodyPr wrap="square" lIns="0" tIns="0" rIns="0" bIns="0" rtlCol="0">
            <a:spAutoFit/>
          </a:bodyPr>
          <a:lstStyle/>
          <a:p>
            <a:pPr algn="r">
              <a:lnSpc>
                <a:spcPts val="1500"/>
              </a:lnSpc>
            </a:pPr>
            <a:r>
              <a:rPr lang="en-US" sz="1500" dirty="0"/>
              <a:t>1,2,3,4,6,7,8,9-OCDD</a:t>
            </a:r>
          </a:p>
        </p:txBody>
      </p:sp>
      <p:sp>
        <p:nvSpPr>
          <p:cNvPr id="174" name="Rounded Rectangle 173"/>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Action Button: Forward or Next 137">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Action Button: Back or Previous 138">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49" name="Picture 4" descr="Image result for save button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2" descr="Image result for exit graphic GU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308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3765572" y="-95130"/>
            <a:ext cx="4699556" cy="923330"/>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More to come…</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46" name="Slide Number Placeholder 45"/>
          <p:cNvSpPr>
            <a:spLocks noGrp="1"/>
          </p:cNvSpPr>
          <p:nvPr>
            <p:ph type="sldNum" sz="quarter" idx="12"/>
          </p:nvPr>
        </p:nvSpPr>
        <p:spPr>
          <a:xfrm>
            <a:off x="4743717" y="6492875"/>
            <a:ext cx="2743200" cy="365125"/>
          </a:xfrm>
        </p:spPr>
        <p:txBody>
          <a:bodyPr/>
          <a:lstStyle/>
          <a:p>
            <a:pPr algn="ctr"/>
            <a:r>
              <a:rPr lang="en-US" dirty="0"/>
              <a:t>8</a:t>
            </a:r>
            <a:endParaRPr lang="en-US" dirty="0"/>
          </a:p>
        </p:txBody>
      </p:sp>
      <p:sp>
        <p:nvSpPr>
          <p:cNvPr id="71" name="Rounded Rectangle 70"/>
          <p:cNvSpPr/>
          <p:nvPr/>
        </p:nvSpPr>
        <p:spPr>
          <a:xfrm>
            <a:off x="64008" y="73152"/>
            <a:ext cx="12042648" cy="6702552"/>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ction Button: Forward or Next 18">
            <a:hlinkClick r:id="" action="ppaction://hlinkshowjump?jump=nextslide" highlightClick="1"/>
          </p:cNvPr>
          <p:cNvSpPr/>
          <p:nvPr/>
        </p:nvSpPr>
        <p:spPr>
          <a:xfrm>
            <a:off x="10234143" y="197042"/>
            <a:ext cx="404715" cy="375562"/>
          </a:xfrm>
          <a:prstGeom prst="actionButtonForwardNex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Action Button: Back or Previous 19">
            <a:hlinkClick r:id="" action="ppaction://hlinkshowjump?jump=previousslide" highlightClick="1"/>
          </p:cNvPr>
          <p:cNvSpPr/>
          <p:nvPr/>
        </p:nvSpPr>
        <p:spPr>
          <a:xfrm>
            <a:off x="9751890" y="201948"/>
            <a:ext cx="404715" cy="375562"/>
          </a:xfrm>
          <a:prstGeom prst="actionButtonBackPreviou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1" name="Picture 4" descr="Image result for save button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6290" y="167560"/>
            <a:ext cx="434526" cy="43452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Image result for exit graphic GU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28248" y="197371"/>
            <a:ext cx="404715" cy="404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5837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12068</TotalTime>
  <Words>1425</Words>
  <Application>Microsoft Office PowerPoint</Application>
  <PresentationFormat>Widescreen</PresentationFormat>
  <Paragraphs>373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Narrow</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ICFI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Holder, Chris</dc:creator>
  <cp:lastModifiedBy>Holder, Chris</cp:lastModifiedBy>
  <cp:revision>80</cp:revision>
  <dcterms:created xsi:type="dcterms:W3CDTF">2019-11-14T14:41:38Z</dcterms:created>
  <dcterms:modified xsi:type="dcterms:W3CDTF">2020-01-13T19:31:17Z</dcterms:modified>
</cp:coreProperties>
</file>